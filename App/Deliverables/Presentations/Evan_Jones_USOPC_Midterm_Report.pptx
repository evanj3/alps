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0" r:id="rId1"/>
    <p:sldMasterId id="2147483683" r:id="rId2"/>
  </p:sldMasterIdLst>
  <p:handoutMasterIdLst>
    <p:handoutMasterId r:id="rId35"/>
  </p:handoutMasterIdLst>
  <p:sldIdLst>
    <p:sldId id="256" r:id="rId3"/>
    <p:sldId id="258" r:id="rId4"/>
    <p:sldId id="263" r:id="rId5"/>
    <p:sldId id="257" r:id="rId6"/>
    <p:sldId id="267" r:id="rId7"/>
    <p:sldId id="269" r:id="rId8"/>
    <p:sldId id="268" r:id="rId9"/>
    <p:sldId id="260" r:id="rId10"/>
    <p:sldId id="266" r:id="rId11"/>
    <p:sldId id="279" r:id="rId12"/>
    <p:sldId id="261" r:id="rId13"/>
    <p:sldId id="276" r:id="rId14"/>
    <p:sldId id="280" r:id="rId15"/>
    <p:sldId id="283" r:id="rId16"/>
    <p:sldId id="282" r:id="rId17"/>
    <p:sldId id="277" r:id="rId18"/>
    <p:sldId id="278" r:id="rId19"/>
    <p:sldId id="284" r:id="rId20"/>
    <p:sldId id="270" r:id="rId21"/>
    <p:sldId id="289" r:id="rId22"/>
    <p:sldId id="292" r:id="rId23"/>
    <p:sldId id="293" r:id="rId24"/>
    <p:sldId id="265" r:id="rId25"/>
    <p:sldId id="290" r:id="rId26"/>
    <p:sldId id="291" r:id="rId27"/>
    <p:sldId id="285" r:id="rId28"/>
    <p:sldId id="287" r:id="rId29"/>
    <p:sldId id="272" r:id="rId30"/>
    <p:sldId id="286" r:id="rId31"/>
    <p:sldId id="274" r:id="rId32"/>
    <p:sldId id="273" r:id="rId33"/>
    <p:sldId id="275"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73" userDrawn="1">
          <p15:clr>
            <a:srgbClr val="A4A3A4"/>
          </p15:clr>
        </p15:guide>
        <p15:guide id="2" pos="24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7437"/>
    <a:srgbClr val="A7934B"/>
    <a:srgbClr val="003057"/>
    <a:srgbClr val="262626"/>
    <a:srgbClr val="EEB21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F8B7C3-D70B-451B-9DBE-81AB91B68803}" v="14" dt="2022-02-22T18:34:58.4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83" autoAdjust="0"/>
    <p:restoredTop sz="96327"/>
  </p:normalViewPr>
  <p:slideViewPr>
    <p:cSldViewPr snapToGrid="0" snapToObjects="1">
      <p:cViewPr varScale="1">
        <p:scale>
          <a:sx n="161" d="100"/>
          <a:sy n="161" d="100"/>
        </p:scale>
        <p:origin x="348" y="100"/>
      </p:cViewPr>
      <p:guideLst>
        <p:guide orient="horz" pos="773"/>
        <p:guide pos="244"/>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es, Evan A" userId="74fe0a6f-3dcd-44be-86e7-63ef83898d21" providerId="ADAL" clId="{78F8B7C3-D70B-451B-9DBE-81AB91B68803}"/>
    <pc:docChg chg="undo custSel addSld delSld modSld">
      <pc:chgData name="Jones, Evan A" userId="74fe0a6f-3dcd-44be-86e7-63ef83898d21" providerId="ADAL" clId="{78F8B7C3-D70B-451B-9DBE-81AB91B68803}" dt="2022-04-21T03:29:07.922" v="4161" actId="47"/>
      <pc:docMkLst>
        <pc:docMk/>
      </pc:docMkLst>
      <pc:sldChg chg="modSp mod">
        <pc:chgData name="Jones, Evan A" userId="74fe0a6f-3dcd-44be-86e7-63ef83898d21" providerId="ADAL" clId="{78F8B7C3-D70B-451B-9DBE-81AB91B68803}" dt="2022-02-21T22:52:43.072" v="3233" actId="20577"/>
        <pc:sldMkLst>
          <pc:docMk/>
          <pc:sldMk cId="2789775945" sldId="256"/>
        </pc:sldMkLst>
        <pc:spChg chg="mod">
          <ac:chgData name="Jones, Evan A" userId="74fe0a6f-3dcd-44be-86e7-63ef83898d21" providerId="ADAL" clId="{78F8B7C3-D70B-451B-9DBE-81AB91B68803}" dt="2022-02-21T22:52:43.072" v="3233" actId="20577"/>
          <ac:spMkLst>
            <pc:docMk/>
            <pc:sldMk cId="2789775945" sldId="256"/>
            <ac:spMk id="3" creationId="{B7E66134-3B68-CA46-9583-81F439EB81A2}"/>
          </ac:spMkLst>
        </pc:spChg>
      </pc:sldChg>
      <pc:sldChg chg="modSp mod">
        <pc:chgData name="Jones, Evan A" userId="74fe0a6f-3dcd-44be-86e7-63ef83898d21" providerId="ADAL" clId="{78F8B7C3-D70B-451B-9DBE-81AB91B68803}" dt="2022-02-21T20:19:58.146" v="118" actId="27636"/>
        <pc:sldMkLst>
          <pc:docMk/>
          <pc:sldMk cId="2016116046" sldId="257"/>
        </pc:sldMkLst>
        <pc:spChg chg="mod">
          <ac:chgData name="Jones, Evan A" userId="74fe0a6f-3dcd-44be-86e7-63ef83898d21" providerId="ADAL" clId="{78F8B7C3-D70B-451B-9DBE-81AB91B68803}" dt="2022-02-21T20:19:58.146" v="118" actId="27636"/>
          <ac:spMkLst>
            <pc:docMk/>
            <pc:sldMk cId="2016116046" sldId="257"/>
            <ac:spMk id="5" creationId="{34202EF4-BE1D-8146-9846-177F3B789037}"/>
          </ac:spMkLst>
        </pc:spChg>
      </pc:sldChg>
      <pc:sldChg chg="modSp mod">
        <pc:chgData name="Jones, Evan A" userId="74fe0a6f-3dcd-44be-86e7-63ef83898d21" providerId="ADAL" clId="{78F8B7C3-D70B-451B-9DBE-81AB91B68803}" dt="2022-02-22T18:25:29.612" v="3264" actId="20577"/>
        <pc:sldMkLst>
          <pc:docMk/>
          <pc:sldMk cId="4201212122" sldId="258"/>
        </pc:sldMkLst>
        <pc:spChg chg="mod">
          <ac:chgData name="Jones, Evan A" userId="74fe0a6f-3dcd-44be-86e7-63ef83898d21" providerId="ADAL" clId="{78F8B7C3-D70B-451B-9DBE-81AB91B68803}" dt="2022-02-22T18:25:29.612" v="3264" actId="20577"/>
          <ac:spMkLst>
            <pc:docMk/>
            <pc:sldMk cId="4201212122" sldId="258"/>
            <ac:spMk id="6" creationId="{64921231-F76F-9C4D-85F8-96525AB6710F}"/>
          </ac:spMkLst>
        </pc:spChg>
      </pc:sldChg>
      <pc:sldChg chg="modSp mod">
        <pc:chgData name="Jones, Evan A" userId="74fe0a6f-3dcd-44be-86e7-63ef83898d21" providerId="ADAL" clId="{78F8B7C3-D70B-451B-9DBE-81AB91B68803}" dt="2022-02-22T18:31:02.801" v="3381" actId="20577"/>
        <pc:sldMkLst>
          <pc:docMk/>
          <pc:sldMk cId="23760057" sldId="265"/>
        </pc:sldMkLst>
        <pc:spChg chg="mod">
          <ac:chgData name="Jones, Evan A" userId="74fe0a6f-3dcd-44be-86e7-63ef83898d21" providerId="ADAL" clId="{78F8B7C3-D70B-451B-9DBE-81AB91B68803}" dt="2022-02-22T18:31:02.801" v="3381" actId="20577"/>
          <ac:spMkLst>
            <pc:docMk/>
            <pc:sldMk cId="23760057" sldId="265"/>
            <ac:spMk id="6" creationId="{64921231-F76F-9C4D-85F8-96525AB6710F}"/>
          </ac:spMkLst>
        </pc:spChg>
      </pc:sldChg>
      <pc:sldChg chg="modSp mod">
        <pc:chgData name="Jones, Evan A" userId="74fe0a6f-3dcd-44be-86e7-63ef83898d21" providerId="ADAL" clId="{78F8B7C3-D70B-451B-9DBE-81AB91B68803}" dt="2022-02-23T17:20:06.613" v="3463" actId="20577"/>
        <pc:sldMkLst>
          <pc:docMk/>
          <pc:sldMk cId="3995190380" sldId="266"/>
        </pc:sldMkLst>
        <pc:spChg chg="mod">
          <ac:chgData name="Jones, Evan A" userId="74fe0a6f-3dcd-44be-86e7-63ef83898d21" providerId="ADAL" clId="{78F8B7C3-D70B-451B-9DBE-81AB91B68803}" dt="2022-02-23T17:20:06.613" v="3463" actId="20577"/>
          <ac:spMkLst>
            <pc:docMk/>
            <pc:sldMk cId="3995190380" sldId="266"/>
            <ac:spMk id="2" creationId="{A9D83C39-0196-4736-AA9F-09B16212EDCF}"/>
          </ac:spMkLst>
        </pc:spChg>
      </pc:sldChg>
      <pc:sldChg chg="modSp mod">
        <pc:chgData name="Jones, Evan A" userId="74fe0a6f-3dcd-44be-86e7-63ef83898d21" providerId="ADAL" clId="{78F8B7C3-D70B-451B-9DBE-81AB91B68803}" dt="2022-02-22T18:27:08.500" v="3323" actId="20577"/>
        <pc:sldMkLst>
          <pc:docMk/>
          <pc:sldMk cId="1495993352" sldId="267"/>
        </pc:sldMkLst>
        <pc:spChg chg="mod">
          <ac:chgData name="Jones, Evan A" userId="74fe0a6f-3dcd-44be-86e7-63ef83898d21" providerId="ADAL" clId="{78F8B7C3-D70B-451B-9DBE-81AB91B68803}" dt="2022-02-22T18:27:08.500" v="3323" actId="20577"/>
          <ac:spMkLst>
            <pc:docMk/>
            <pc:sldMk cId="1495993352" sldId="267"/>
            <ac:spMk id="5" creationId="{34202EF4-BE1D-8146-9846-177F3B789037}"/>
          </ac:spMkLst>
        </pc:spChg>
      </pc:sldChg>
      <pc:sldChg chg="addSp delSp modSp mod">
        <pc:chgData name="Jones, Evan A" userId="74fe0a6f-3dcd-44be-86e7-63ef83898d21" providerId="ADAL" clId="{78F8B7C3-D70B-451B-9DBE-81AB91B68803}" dt="2022-02-21T20:20:37.013" v="129" actId="1076"/>
        <pc:sldMkLst>
          <pc:docMk/>
          <pc:sldMk cId="1152549613" sldId="268"/>
        </pc:sldMkLst>
        <pc:spChg chg="mod">
          <ac:chgData name="Jones, Evan A" userId="74fe0a6f-3dcd-44be-86e7-63ef83898d21" providerId="ADAL" clId="{78F8B7C3-D70B-451B-9DBE-81AB91B68803}" dt="2022-02-21T20:20:10.052" v="123" actId="5793"/>
          <ac:spMkLst>
            <pc:docMk/>
            <pc:sldMk cId="1152549613" sldId="268"/>
            <ac:spMk id="5" creationId="{34202EF4-BE1D-8146-9846-177F3B789037}"/>
          </ac:spMkLst>
        </pc:spChg>
        <pc:picChg chg="add mod">
          <ac:chgData name="Jones, Evan A" userId="74fe0a6f-3dcd-44be-86e7-63ef83898d21" providerId="ADAL" clId="{78F8B7C3-D70B-451B-9DBE-81AB91B68803}" dt="2022-02-21T20:20:37.013" v="129" actId="1076"/>
          <ac:picMkLst>
            <pc:docMk/>
            <pc:sldMk cId="1152549613" sldId="268"/>
            <ac:picMk id="3" creationId="{91CBBC3C-A524-4CF0-B95F-E06F55302882}"/>
          </ac:picMkLst>
        </pc:picChg>
        <pc:picChg chg="del">
          <ac:chgData name="Jones, Evan A" userId="74fe0a6f-3dcd-44be-86e7-63ef83898d21" providerId="ADAL" clId="{78F8B7C3-D70B-451B-9DBE-81AB91B68803}" dt="2022-02-21T20:20:06.302" v="119" actId="478"/>
          <ac:picMkLst>
            <pc:docMk/>
            <pc:sldMk cId="1152549613" sldId="268"/>
            <ac:picMk id="6" creationId="{7C7BA201-0C53-4915-B828-B360A37ACEC1}"/>
          </ac:picMkLst>
        </pc:picChg>
      </pc:sldChg>
      <pc:sldChg chg="modSp mod">
        <pc:chgData name="Jones, Evan A" userId="74fe0a6f-3dcd-44be-86e7-63ef83898d21" providerId="ADAL" clId="{78F8B7C3-D70B-451B-9DBE-81AB91B68803}" dt="2022-02-21T20:51:54.758" v="337" actId="20577"/>
        <pc:sldMkLst>
          <pc:docMk/>
          <pc:sldMk cId="1515635738" sldId="269"/>
        </pc:sldMkLst>
        <pc:graphicFrameChg chg="modGraphic">
          <ac:chgData name="Jones, Evan A" userId="74fe0a6f-3dcd-44be-86e7-63ef83898d21" providerId="ADAL" clId="{78F8B7C3-D70B-451B-9DBE-81AB91B68803}" dt="2022-02-21T20:51:54.758" v="337" actId="20577"/>
          <ac:graphicFrameMkLst>
            <pc:docMk/>
            <pc:sldMk cId="1515635738" sldId="269"/>
            <ac:graphicFrameMk id="24" creationId="{8DC24C8A-5E9F-4101-939C-16A7E1161496}"/>
          </ac:graphicFrameMkLst>
        </pc:graphicFrameChg>
      </pc:sldChg>
      <pc:sldChg chg="modSp mod">
        <pc:chgData name="Jones, Evan A" userId="74fe0a6f-3dcd-44be-86e7-63ef83898d21" providerId="ADAL" clId="{78F8B7C3-D70B-451B-9DBE-81AB91B68803}" dt="2022-02-21T20:56:49.174" v="710" actId="20577"/>
        <pc:sldMkLst>
          <pc:docMk/>
          <pc:sldMk cId="1908421479" sldId="273"/>
        </pc:sldMkLst>
        <pc:spChg chg="mod">
          <ac:chgData name="Jones, Evan A" userId="74fe0a6f-3dcd-44be-86e7-63ef83898d21" providerId="ADAL" clId="{78F8B7C3-D70B-451B-9DBE-81AB91B68803}" dt="2022-02-21T20:54:10.209" v="365" actId="20577"/>
          <ac:spMkLst>
            <pc:docMk/>
            <pc:sldMk cId="1908421479" sldId="273"/>
            <ac:spMk id="5" creationId="{B95DAEA5-6545-964C-9D5B-E32F4428480C}"/>
          </ac:spMkLst>
        </pc:spChg>
        <pc:spChg chg="mod">
          <ac:chgData name="Jones, Evan A" userId="74fe0a6f-3dcd-44be-86e7-63ef83898d21" providerId="ADAL" clId="{78F8B7C3-D70B-451B-9DBE-81AB91B68803}" dt="2022-02-21T20:56:49.174" v="710" actId="20577"/>
          <ac:spMkLst>
            <pc:docMk/>
            <pc:sldMk cId="1908421479" sldId="273"/>
            <ac:spMk id="6" creationId="{64921231-F76F-9C4D-85F8-96525AB6710F}"/>
          </ac:spMkLst>
        </pc:spChg>
      </pc:sldChg>
      <pc:sldChg chg="modSp mod">
        <pc:chgData name="Jones, Evan A" userId="74fe0a6f-3dcd-44be-86e7-63ef83898d21" providerId="ADAL" clId="{78F8B7C3-D70B-451B-9DBE-81AB91B68803}" dt="2022-02-22T18:35:00.554" v="3396" actId="20577"/>
        <pc:sldMkLst>
          <pc:docMk/>
          <pc:sldMk cId="1515340085" sldId="275"/>
        </pc:sldMkLst>
        <pc:spChg chg="mod">
          <ac:chgData name="Jones, Evan A" userId="74fe0a6f-3dcd-44be-86e7-63ef83898d21" providerId="ADAL" clId="{78F8B7C3-D70B-451B-9DBE-81AB91B68803}" dt="2022-02-22T18:35:00.554" v="3396" actId="20577"/>
          <ac:spMkLst>
            <pc:docMk/>
            <pc:sldMk cId="1515340085" sldId="275"/>
            <ac:spMk id="6" creationId="{64921231-F76F-9C4D-85F8-96525AB6710F}"/>
          </ac:spMkLst>
        </pc:spChg>
      </pc:sldChg>
      <pc:sldChg chg="addSp delSp modSp mod">
        <pc:chgData name="Jones, Evan A" userId="74fe0a6f-3dcd-44be-86e7-63ef83898d21" providerId="ADAL" clId="{78F8B7C3-D70B-451B-9DBE-81AB91B68803}" dt="2022-02-21T20:24:08.289" v="132" actId="27614"/>
        <pc:sldMkLst>
          <pc:docMk/>
          <pc:sldMk cId="2978012584" sldId="279"/>
        </pc:sldMkLst>
        <pc:picChg chg="add mod">
          <ac:chgData name="Jones, Evan A" userId="74fe0a6f-3dcd-44be-86e7-63ef83898d21" providerId="ADAL" clId="{78F8B7C3-D70B-451B-9DBE-81AB91B68803}" dt="2022-02-21T20:24:08.289" v="132" actId="27614"/>
          <ac:picMkLst>
            <pc:docMk/>
            <pc:sldMk cId="2978012584" sldId="279"/>
            <ac:picMk id="3" creationId="{9D680C11-A929-4341-BAB3-14400932B700}"/>
          </ac:picMkLst>
        </pc:picChg>
        <pc:picChg chg="del">
          <ac:chgData name="Jones, Evan A" userId="74fe0a6f-3dcd-44be-86e7-63ef83898d21" providerId="ADAL" clId="{78F8B7C3-D70B-451B-9DBE-81AB91B68803}" dt="2022-02-21T20:23:46.294" v="130" actId="478"/>
          <ac:picMkLst>
            <pc:docMk/>
            <pc:sldMk cId="2978012584" sldId="279"/>
            <ac:picMk id="9" creationId="{B908D1DE-41F2-40DB-B39C-BA976B680D16}"/>
          </ac:picMkLst>
        </pc:picChg>
      </pc:sldChg>
      <pc:sldChg chg="del">
        <pc:chgData name="Jones, Evan A" userId="74fe0a6f-3dcd-44be-86e7-63ef83898d21" providerId="ADAL" clId="{78F8B7C3-D70B-451B-9DBE-81AB91B68803}" dt="2022-04-21T03:29:07.922" v="4161" actId="47"/>
        <pc:sldMkLst>
          <pc:docMk/>
          <pc:sldMk cId="4285930360" sldId="281"/>
        </pc:sldMkLst>
      </pc:sldChg>
      <pc:sldChg chg="modSp mod">
        <pc:chgData name="Jones, Evan A" userId="74fe0a6f-3dcd-44be-86e7-63ef83898d21" providerId="ADAL" clId="{78F8B7C3-D70B-451B-9DBE-81AB91B68803}" dt="2022-02-21T20:42:27.889" v="179" actId="20577"/>
        <pc:sldMkLst>
          <pc:docMk/>
          <pc:sldMk cId="3906035467" sldId="282"/>
        </pc:sldMkLst>
        <pc:spChg chg="mod">
          <ac:chgData name="Jones, Evan A" userId="74fe0a6f-3dcd-44be-86e7-63ef83898d21" providerId="ADAL" clId="{78F8B7C3-D70B-451B-9DBE-81AB91B68803}" dt="2022-02-21T20:42:27.889" v="179" actId="20577"/>
          <ac:spMkLst>
            <pc:docMk/>
            <pc:sldMk cId="3906035467" sldId="282"/>
            <ac:spMk id="18" creationId="{E85B2C66-03A9-4BB8-9CE3-462870538BBB}"/>
          </ac:spMkLst>
        </pc:spChg>
      </pc:sldChg>
      <pc:sldChg chg="modSp mod">
        <pc:chgData name="Jones, Evan A" userId="74fe0a6f-3dcd-44be-86e7-63ef83898d21" providerId="ADAL" clId="{78F8B7C3-D70B-451B-9DBE-81AB91B68803}" dt="2022-02-21T23:47:53.091" v="3236" actId="27636"/>
        <pc:sldMkLst>
          <pc:docMk/>
          <pc:sldMk cId="2397474520" sldId="283"/>
        </pc:sldMkLst>
        <pc:spChg chg="mod">
          <ac:chgData name="Jones, Evan A" userId="74fe0a6f-3dcd-44be-86e7-63ef83898d21" providerId="ADAL" clId="{78F8B7C3-D70B-451B-9DBE-81AB91B68803}" dt="2022-02-21T23:47:53.091" v="3236" actId="27636"/>
          <ac:spMkLst>
            <pc:docMk/>
            <pc:sldMk cId="2397474520" sldId="283"/>
            <ac:spMk id="10" creationId="{986E5C8B-2923-446C-8D2A-B4E6383C14B9}"/>
          </ac:spMkLst>
        </pc:spChg>
      </pc:sldChg>
      <pc:sldChg chg="addSp modSp mod">
        <pc:chgData name="Jones, Evan A" userId="74fe0a6f-3dcd-44be-86e7-63ef83898d21" providerId="ADAL" clId="{78F8B7C3-D70B-451B-9DBE-81AB91B68803}" dt="2022-02-23T17:21:54.074" v="3629" actId="1076"/>
        <pc:sldMkLst>
          <pc:docMk/>
          <pc:sldMk cId="2835511684" sldId="285"/>
        </pc:sldMkLst>
        <pc:spChg chg="mod">
          <ac:chgData name="Jones, Evan A" userId="74fe0a6f-3dcd-44be-86e7-63ef83898d21" providerId="ADAL" clId="{78F8B7C3-D70B-451B-9DBE-81AB91B68803}" dt="2022-02-21T21:00:40.092" v="732" actId="20577"/>
          <ac:spMkLst>
            <pc:docMk/>
            <pc:sldMk cId="2835511684" sldId="285"/>
            <ac:spMk id="5" creationId="{B95DAEA5-6545-964C-9D5B-E32F4428480C}"/>
          </ac:spMkLst>
        </pc:spChg>
        <pc:spChg chg="mod">
          <ac:chgData name="Jones, Evan A" userId="74fe0a6f-3dcd-44be-86e7-63ef83898d21" providerId="ADAL" clId="{78F8B7C3-D70B-451B-9DBE-81AB91B68803}" dt="2022-02-23T17:21:32.380" v="3621" actId="20577"/>
          <ac:spMkLst>
            <pc:docMk/>
            <pc:sldMk cId="2835511684" sldId="285"/>
            <ac:spMk id="6" creationId="{64921231-F76F-9C4D-85F8-96525AB6710F}"/>
          </ac:spMkLst>
        </pc:spChg>
        <pc:spChg chg="mod">
          <ac:chgData name="Jones, Evan A" userId="74fe0a6f-3dcd-44be-86e7-63ef83898d21" providerId="ADAL" clId="{78F8B7C3-D70B-451B-9DBE-81AB91B68803}" dt="2022-02-23T17:21:54.074" v="3629" actId="1076"/>
          <ac:spMkLst>
            <pc:docMk/>
            <pc:sldMk cId="2835511684" sldId="285"/>
            <ac:spMk id="7" creationId="{C3658EE7-B3A0-4A97-9725-CEFAE4BA30BB}"/>
          </ac:spMkLst>
        </pc:spChg>
        <pc:graphicFrameChg chg="mod modGraphic">
          <ac:chgData name="Jones, Evan A" userId="74fe0a6f-3dcd-44be-86e7-63ef83898d21" providerId="ADAL" clId="{78F8B7C3-D70B-451B-9DBE-81AB91B68803}" dt="2022-02-23T17:21:40.206" v="3623" actId="1076"/>
          <ac:graphicFrameMkLst>
            <pc:docMk/>
            <pc:sldMk cId="2835511684" sldId="285"/>
            <ac:graphicFrameMk id="2" creationId="{BB5D6293-FA02-4E98-99E0-C7309B72F6F1}"/>
          </ac:graphicFrameMkLst>
        </pc:graphicFrameChg>
        <pc:picChg chg="mod">
          <ac:chgData name="Jones, Evan A" userId="74fe0a6f-3dcd-44be-86e7-63ef83898d21" providerId="ADAL" clId="{78F8B7C3-D70B-451B-9DBE-81AB91B68803}" dt="2022-02-23T17:21:49.709" v="3628" actId="1076"/>
          <ac:picMkLst>
            <pc:docMk/>
            <pc:sldMk cId="2835511684" sldId="285"/>
            <ac:picMk id="4" creationId="{719F94E4-5D8C-4BE1-A4D2-39189FAC06F4}"/>
          </ac:picMkLst>
        </pc:picChg>
        <pc:picChg chg="add mod">
          <ac:chgData name="Jones, Evan A" userId="74fe0a6f-3dcd-44be-86e7-63ef83898d21" providerId="ADAL" clId="{78F8B7C3-D70B-451B-9DBE-81AB91B68803}" dt="2022-02-23T17:21:46.823" v="3627" actId="1076"/>
          <ac:picMkLst>
            <pc:docMk/>
            <pc:sldMk cId="2835511684" sldId="285"/>
            <ac:picMk id="8" creationId="{26AC3C00-4573-4C94-AED0-E176E9CBCCC6}"/>
          </ac:picMkLst>
        </pc:picChg>
        <pc:picChg chg="add mod">
          <ac:chgData name="Jones, Evan A" userId="74fe0a6f-3dcd-44be-86e7-63ef83898d21" providerId="ADAL" clId="{78F8B7C3-D70B-451B-9DBE-81AB91B68803}" dt="2022-02-23T17:21:41.963" v="3624" actId="1076"/>
          <ac:picMkLst>
            <pc:docMk/>
            <pc:sldMk cId="2835511684" sldId="285"/>
            <ac:picMk id="9" creationId="{5196CFD9-F89C-4608-89A9-DC4BD199B1E9}"/>
          </ac:picMkLst>
        </pc:picChg>
        <pc:picChg chg="add mod">
          <ac:chgData name="Jones, Evan A" userId="74fe0a6f-3dcd-44be-86e7-63ef83898d21" providerId="ADAL" clId="{78F8B7C3-D70B-451B-9DBE-81AB91B68803}" dt="2022-02-23T17:21:44.747" v="3626" actId="1076"/>
          <ac:picMkLst>
            <pc:docMk/>
            <pc:sldMk cId="2835511684" sldId="285"/>
            <ac:picMk id="10" creationId="{2B05265E-114E-45F1-9929-0252AA80229F}"/>
          </ac:picMkLst>
        </pc:picChg>
      </pc:sldChg>
      <pc:sldChg chg="modSp mod">
        <pc:chgData name="Jones, Evan A" userId="74fe0a6f-3dcd-44be-86e7-63ef83898d21" providerId="ADAL" clId="{78F8B7C3-D70B-451B-9DBE-81AB91B68803}" dt="2022-02-23T17:24:55.907" v="4160" actId="20577"/>
        <pc:sldMkLst>
          <pc:docMk/>
          <pc:sldMk cId="1944493996" sldId="286"/>
        </pc:sldMkLst>
        <pc:spChg chg="mod">
          <ac:chgData name="Jones, Evan A" userId="74fe0a6f-3dcd-44be-86e7-63ef83898d21" providerId="ADAL" clId="{78F8B7C3-D70B-451B-9DBE-81AB91B68803}" dt="2022-02-23T17:24:55.907" v="4160" actId="20577"/>
          <ac:spMkLst>
            <pc:docMk/>
            <pc:sldMk cId="1944493996" sldId="286"/>
            <ac:spMk id="6" creationId="{64921231-F76F-9C4D-85F8-96525AB6710F}"/>
          </ac:spMkLst>
        </pc:spChg>
      </pc:sldChg>
      <pc:sldChg chg="modSp mod">
        <pc:chgData name="Jones, Evan A" userId="74fe0a6f-3dcd-44be-86e7-63ef83898d21" providerId="ADAL" clId="{78F8B7C3-D70B-451B-9DBE-81AB91B68803}" dt="2022-02-21T21:00:43.729" v="734" actId="20577"/>
        <pc:sldMkLst>
          <pc:docMk/>
          <pc:sldMk cId="3037751779" sldId="287"/>
        </pc:sldMkLst>
        <pc:spChg chg="mod">
          <ac:chgData name="Jones, Evan A" userId="74fe0a6f-3dcd-44be-86e7-63ef83898d21" providerId="ADAL" clId="{78F8B7C3-D70B-451B-9DBE-81AB91B68803}" dt="2022-02-21T21:00:43.729" v="734" actId="20577"/>
          <ac:spMkLst>
            <pc:docMk/>
            <pc:sldMk cId="3037751779" sldId="287"/>
            <ac:spMk id="2" creationId="{27D7C185-603B-4989-A25E-346BEEDEB118}"/>
          </ac:spMkLst>
        </pc:spChg>
      </pc:sldChg>
      <pc:sldChg chg="modSp mod">
        <pc:chgData name="Jones, Evan A" userId="74fe0a6f-3dcd-44be-86e7-63ef83898d21" providerId="ADAL" clId="{78F8B7C3-D70B-451B-9DBE-81AB91B68803}" dt="2022-02-21T22:24:37.651" v="2881" actId="313"/>
        <pc:sldMkLst>
          <pc:docMk/>
          <pc:sldMk cId="393934714" sldId="290"/>
        </pc:sldMkLst>
        <pc:spChg chg="mod">
          <ac:chgData name="Jones, Evan A" userId="74fe0a6f-3dcd-44be-86e7-63ef83898d21" providerId="ADAL" clId="{78F8B7C3-D70B-451B-9DBE-81AB91B68803}" dt="2022-02-21T22:24:37.651" v="2881" actId="313"/>
          <ac:spMkLst>
            <pc:docMk/>
            <pc:sldMk cId="393934714" sldId="290"/>
            <ac:spMk id="6" creationId="{64921231-F76F-9C4D-85F8-96525AB6710F}"/>
          </ac:spMkLst>
        </pc:spChg>
      </pc:sldChg>
      <pc:sldChg chg="modSp mod">
        <pc:chgData name="Jones, Evan A" userId="74fe0a6f-3dcd-44be-86e7-63ef83898d21" providerId="ADAL" clId="{78F8B7C3-D70B-451B-9DBE-81AB91B68803}" dt="2022-02-21T22:26:46.068" v="3107" actId="20577"/>
        <pc:sldMkLst>
          <pc:docMk/>
          <pc:sldMk cId="3705038431" sldId="291"/>
        </pc:sldMkLst>
        <pc:spChg chg="mod">
          <ac:chgData name="Jones, Evan A" userId="74fe0a6f-3dcd-44be-86e7-63ef83898d21" providerId="ADAL" clId="{78F8B7C3-D70B-451B-9DBE-81AB91B68803}" dt="2022-02-21T22:25:09.189" v="2893" actId="20577"/>
          <ac:spMkLst>
            <pc:docMk/>
            <pc:sldMk cId="3705038431" sldId="291"/>
            <ac:spMk id="5" creationId="{B95DAEA5-6545-964C-9D5B-E32F4428480C}"/>
          </ac:spMkLst>
        </pc:spChg>
        <pc:spChg chg="mod">
          <ac:chgData name="Jones, Evan A" userId="74fe0a6f-3dcd-44be-86e7-63ef83898d21" providerId="ADAL" clId="{78F8B7C3-D70B-451B-9DBE-81AB91B68803}" dt="2022-02-21T22:26:46.068" v="3107" actId="20577"/>
          <ac:spMkLst>
            <pc:docMk/>
            <pc:sldMk cId="3705038431" sldId="291"/>
            <ac:spMk id="6" creationId="{64921231-F76F-9C4D-85F8-96525AB6710F}"/>
          </ac:spMkLst>
        </pc:spChg>
      </pc:sldChg>
      <pc:sldChg chg="addSp delSp modSp new mod">
        <pc:chgData name="Jones, Evan A" userId="74fe0a6f-3dcd-44be-86e7-63ef83898d21" providerId="ADAL" clId="{78F8B7C3-D70B-451B-9DBE-81AB91B68803}" dt="2022-02-21T22:51:50.113" v="3229" actId="20577"/>
        <pc:sldMkLst>
          <pc:docMk/>
          <pc:sldMk cId="1481471891" sldId="292"/>
        </pc:sldMkLst>
        <pc:spChg chg="mod">
          <ac:chgData name="Jones, Evan A" userId="74fe0a6f-3dcd-44be-86e7-63ef83898d21" providerId="ADAL" clId="{78F8B7C3-D70B-451B-9DBE-81AB91B68803}" dt="2022-02-21T22:14:46.437" v="1922" actId="20577"/>
          <ac:spMkLst>
            <pc:docMk/>
            <pc:sldMk cId="1481471891" sldId="292"/>
            <ac:spMk id="2" creationId="{B943B7AB-5327-46D2-A385-CC4528E2036D}"/>
          </ac:spMkLst>
        </pc:spChg>
        <pc:spChg chg="mod">
          <ac:chgData name="Jones, Evan A" userId="74fe0a6f-3dcd-44be-86e7-63ef83898d21" providerId="ADAL" clId="{78F8B7C3-D70B-451B-9DBE-81AB91B68803}" dt="2022-02-21T22:32:41.813" v="3187" actId="20577"/>
          <ac:spMkLst>
            <pc:docMk/>
            <pc:sldMk cId="1481471891" sldId="292"/>
            <ac:spMk id="3" creationId="{8E5933F5-FEF0-498C-A2E5-B0ABFCFDF5FC}"/>
          </ac:spMkLst>
        </pc:spChg>
        <pc:spChg chg="del">
          <ac:chgData name="Jones, Evan A" userId="74fe0a6f-3dcd-44be-86e7-63ef83898d21" providerId="ADAL" clId="{78F8B7C3-D70B-451B-9DBE-81AB91B68803}" dt="2022-02-21T21:33:43.003" v="782" actId="478"/>
          <ac:spMkLst>
            <pc:docMk/>
            <pc:sldMk cId="1481471891" sldId="292"/>
            <ac:spMk id="4" creationId="{16E3CF2A-8C59-4E9B-B007-D65B0FA125F9}"/>
          </ac:spMkLst>
        </pc:spChg>
        <pc:spChg chg="add mod">
          <ac:chgData name="Jones, Evan A" userId="74fe0a6f-3dcd-44be-86e7-63ef83898d21" providerId="ADAL" clId="{78F8B7C3-D70B-451B-9DBE-81AB91B68803}" dt="2022-02-21T22:50:58.534" v="3210" actId="1076"/>
          <ac:spMkLst>
            <pc:docMk/>
            <pc:sldMk cId="1481471891" sldId="292"/>
            <ac:spMk id="7" creationId="{BC2705DD-3478-4E43-BD9A-80F4D7EB7CE9}"/>
          </ac:spMkLst>
        </pc:spChg>
        <pc:spChg chg="add mod">
          <ac:chgData name="Jones, Evan A" userId="74fe0a6f-3dcd-44be-86e7-63ef83898d21" providerId="ADAL" clId="{78F8B7C3-D70B-451B-9DBE-81AB91B68803}" dt="2022-02-21T22:51:50.113" v="3229" actId="20577"/>
          <ac:spMkLst>
            <pc:docMk/>
            <pc:sldMk cId="1481471891" sldId="292"/>
            <ac:spMk id="10" creationId="{758EF8C1-476E-4B1D-9CB4-E147CD84BD8D}"/>
          </ac:spMkLst>
        </pc:spChg>
        <pc:picChg chg="add mod">
          <ac:chgData name="Jones, Evan A" userId="74fe0a6f-3dcd-44be-86e7-63ef83898d21" providerId="ADAL" clId="{78F8B7C3-D70B-451B-9DBE-81AB91B68803}" dt="2022-02-21T22:50:27.400" v="3195" actId="1076"/>
          <ac:picMkLst>
            <pc:docMk/>
            <pc:sldMk cId="1481471891" sldId="292"/>
            <ac:picMk id="6" creationId="{2705945A-D06B-4297-AE78-C8847B5FDF4D}"/>
          </ac:picMkLst>
        </pc:picChg>
        <pc:picChg chg="add mod">
          <ac:chgData name="Jones, Evan A" userId="74fe0a6f-3dcd-44be-86e7-63ef83898d21" providerId="ADAL" clId="{78F8B7C3-D70B-451B-9DBE-81AB91B68803}" dt="2022-02-21T22:51:33.385" v="3219" actId="1076"/>
          <ac:picMkLst>
            <pc:docMk/>
            <pc:sldMk cId="1481471891" sldId="292"/>
            <ac:picMk id="9" creationId="{F2BF4F2C-F336-404A-96C4-062CA303FF92}"/>
          </ac:picMkLst>
        </pc:picChg>
      </pc:sldChg>
      <pc:sldChg chg="new del">
        <pc:chgData name="Jones, Evan A" userId="74fe0a6f-3dcd-44be-86e7-63ef83898d21" providerId="ADAL" clId="{78F8B7C3-D70B-451B-9DBE-81AB91B68803}" dt="2022-02-21T21:33:10.153" v="736" actId="680"/>
        <pc:sldMkLst>
          <pc:docMk/>
          <pc:sldMk cId="3587415892" sldId="292"/>
        </pc:sldMkLst>
      </pc:sldChg>
      <pc:sldChg chg="addSp modSp add mod">
        <pc:chgData name="Jones, Evan A" userId="74fe0a6f-3dcd-44be-86e7-63ef83898d21" providerId="ADAL" clId="{78F8B7C3-D70B-451B-9DBE-81AB91B68803}" dt="2022-02-21T22:30:31.134" v="3118" actId="1076"/>
        <pc:sldMkLst>
          <pc:docMk/>
          <pc:sldMk cId="1806683591" sldId="293"/>
        </pc:sldMkLst>
        <pc:spChg chg="mod">
          <ac:chgData name="Jones, Evan A" userId="74fe0a6f-3dcd-44be-86e7-63ef83898d21" providerId="ADAL" clId="{78F8B7C3-D70B-451B-9DBE-81AB91B68803}" dt="2022-02-21T22:28:01.701" v="3113" actId="27636"/>
          <ac:spMkLst>
            <pc:docMk/>
            <pc:sldMk cId="1806683591" sldId="293"/>
            <ac:spMk id="3" creationId="{8E5933F5-FEF0-498C-A2E5-B0ABFCFDF5FC}"/>
          </ac:spMkLst>
        </pc:spChg>
        <pc:picChg chg="add mod">
          <ac:chgData name="Jones, Evan A" userId="74fe0a6f-3dcd-44be-86e7-63ef83898d21" providerId="ADAL" clId="{78F8B7C3-D70B-451B-9DBE-81AB91B68803}" dt="2022-02-21T22:28:05.438" v="3114" actId="1076"/>
          <ac:picMkLst>
            <pc:docMk/>
            <pc:sldMk cId="1806683591" sldId="293"/>
            <ac:picMk id="4" creationId="{CCC798B3-23C1-45E4-BB94-4689C9023A69}"/>
          </ac:picMkLst>
        </pc:picChg>
        <pc:picChg chg="add mod modCrop">
          <ac:chgData name="Jones, Evan A" userId="74fe0a6f-3dcd-44be-86e7-63ef83898d21" providerId="ADAL" clId="{78F8B7C3-D70B-451B-9DBE-81AB91B68803}" dt="2022-02-21T22:30:31.134" v="3118" actId="1076"/>
          <ac:picMkLst>
            <pc:docMk/>
            <pc:sldMk cId="1806683591" sldId="293"/>
            <ac:picMk id="5" creationId="{8F26C1BD-AD8E-4E8E-A1FD-BC9957464A4F}"/>
          </ac:picMkLst>
        </pc:picChg>
      </pc:sldChg>
    </pc:docChg>
  </pc:docChgLst>
  <pc:docChgLst>
    <pc:chgData name="Evan" userId="74fe0a6f-3dcd-44be-86e7-63ef83898d21" providerId="ADAL" clId="{3568F778-B01A-4926-B624-8FAC0DF7B7FE}"/>
    <pc:docChg chg="undo custSel modSld">
      <pc:chgData name="Evan" userId="74fe0a6f-3dcd-44be-86e7-63ef83898d21" providerId="ADAL" clId="{3568F778-B01A-4926-B624-8FAC0DF7B7FE}" dt="2022-02-22T01:02:05.829" v="1021" actId="20577"/>
      <pc:docMkLst>
        <pc:docMk/>
      </pc:docMkLst>
      <pc:sldChg chg="modSp mod">
        <pc:chgData name="Evan" userId="74fe0a6f-3dcd-44be-86e7-63ef83898d21" providerId="ADAL" clId="{3568F778-B01A-4926-B624-8FAC0DF7B7FE}" dt="2022-02-22T00:51:05.471" v="777" actId="20577"/>
        <pc:sldMkLst>
          <pc:docMk/>
          <pc:sldMk cId="3670729195" sldId="261"/>
        </pc:sldMkLst>
        <pc:spChg chg="mod">
          <ac:chgData name="Evan" userId="74fe0a6f-3dcd-44be-86e7-63ef83898d21" providerId="ADAL" clId="{3568F778-B01A-4926-B624-8FAC0DF7B7FE}" dt="2022-02-22T00:51:05.471" v="777" actId="20577"/>
          <ac:spMkLst>
            <pc:docMk/>
            <pc:sldMk cId="3670729195" sldId="261"/>
            <ac:spMk id="6" creationId="{64921231-F76F-9C4D-85F8-96525AB6710F}"/>
          </ac:spMkLst>
        </pc:spChg>
      </pc:sldChg>
      <pc:sldChg chg="modSp mod">
        <pc:chgData name="Evan" userId="74fe0a6f-3dcd-44be-86e7-63ef83898d21" providerId="ADAL" clId="{3568F778-B01A-4926-B624-8FAC0DF7B7FE}" dt="2022-02-22T00:59:50.975" v="808" actId="20577"/>
        <pc:sldMkLst>
          <pc:docMk/>
          <pc:sldMk cId="23760057" sldId="265"/>
        </pc:sldMkLst>
        <pc:spChg chg="mod">
          <ac:chgData name="Evan" userId="74fe0a6f-3dcd-44be-86e7-63ef83898d21" providerId="ADAL" clId="{3568F778-B01A-4926-B624-8FAC0DF7B7FE}" dt="2022-02-22T00:59:50.975" v="808" actId="20577"/>
          <ac:spMkLst>
            <pc:docMk/>
            <pc:sldMk cId="23760057" sldId="265"/>
            <ac:spMk id="6" creationId="{64921231-F76F-9C4D-85F8-96525AB6710F}"/>
          </ac:spMkLst>
        </pc:spChg>
      </pc:sldChg>
      <pc:sldChg chg="modSp mod">
        <pc:chgData name="Evan" userId="74fe0a6f-3dcd-44be-86e7-63ef83898d21" providerId="ADAL" clId="{3568F778-B01A-4926-B624-8FAC0DF7B7FE}" dt="2022-02-22T00:48:59.537" v="706" actId="20577"/>
        <pc:sldMkLst>
          <pc:docMk/>
          <pc:sldMk cId="3995190380" sldId="266"/>
        </pc:sldMkLst>
        <pc:spChg chg="mod">
          <ac:chgData name="Evan" userId="74fe0a6f-3dcd-44be-86e7-63ef83898d21" providerId="ADAL" clId="{3568F778-B01A-4926-B624-8FAC0DF7B7FE}" dt="2022-02-22T00:48:59.537" v="706" actId="20577"/>
          <ac:spMkLst>
            <pc:docMk/>
            <pc:sldMk cId="3995190380" sldId="266"/>
            <ac:spMk id="2" creationId="{A9D83C39-0196-4736-AA9F-09B16212EDCF}"/>
          </ac:spMkLst>
        </pc:spChg>
      </pc:sldChg>
      <pc:sldChg chg="modSp mod">
        <pc:chgData name="Evan" userId="74fe0a6f-3dcd-44be-86e7-63ef83898d21" providerId="ADAL" clId="{3568F778-B01A-4926-B624-8FAC0DF7B7FE}" dt="2022-02-22T00:48:14.219" v="704" actId="27636"/>
        <pc:sldMkLst>
          <pc:docMk/>
          <pc:sldMk cId="1152549613" sldId="268"/>
        </pc:sldMkLst>
        <pc:spChg chg="mod">
          <ac:chgData name="Evan" userId="74fe0a6f-3dcd-44be-86e7-63ef83898d21" providerId="ADAL" clId="{3568F778-B01A-4926-B624-8FAC0DF7B7FE}" dt="2022-02-22T00:48:14.219" v="704" actId="27636"/>
          <ac:spMkLst>
            <pc:docMk/>
            <pc:sldMk cId="1152549613" sldId="268"/>
            <ac:spMk id="5" creationId="{34202EF4-BE1D-8146-9846-177F3B789037}"/>
          </ac:spMkLst>
        </pc:spChg>
      </pc:sldChg>
      <pc:sldChg chg="modSp mod">
        <pc:chgData name="Evan" userId="74fe0a6f-3dcd-44be-86e7-63ef83898d21" providerId="ADAL" clId="{3568F778-B01A-4926-B624-8FAC0DF7B7FE}" dt="2022-02-20T23:17:35.402" v="701" actId="114"/>
        <pc:sldMkLst>
          <pc:docMk/>
          <pc:sldMk cId="1515340085" sldId="275"/>
        </pc:sldMkLst>
        <pc:spChg chg="mod">
          <ac:chgData name="Evan" userId="74fe0a6f-3dcd-44be-86e7-63ef83898d21" providerId="ADAL" clId="{3568F778-B01A-4926-B624-8FAC0DF7B7FE}" dt="2022-02-20T23:17:35.402" v="701" actId="114"/>
          <ac:spMkLst>
            <pc:docMk/>
            <pc:sldMk cId="1515340085" sldId="275"/>
            <ac:spMk id="6" creationId="{64921231-F76F-9C4D-85F8-96525AB6710F}"/>
          </ac:spMkLst>
        </pc:spChg>
      </pc:sldChg>
      <pc:sldChg chg="modSp mod">
        <pc:chgData name="Evan" userId="74fe0a6f-3dcd-44be-86e7-63ef83898d21" providerId="ADAL" clId="{3568F778-B01A-4926-B624-8FAC0DF7B7FE}" dt="2022-02-22T00:53:29.001" v="800" actId="20577"/>
        <pc:sldMkLst>
          <pc:docMk/>
          <pc:sldMk cId="1610351194" sldId="277"/>
        </pc:sldMkLst>
        <pc:spChg chg="mod">
          <ac:chgData name="Evan" userId="74fe0a6f-3dcd-44be-86e7-63ef83898d21" providerId="ADAL" clId="{3568F778-B01A-4926-B624-8FAC0DF7B7FE}" dt="2022-02-22T00:53:29.001" v="800" actId="20577"/>
          <ac:spMkLst>
            <pc:docMk/>
            <pc:sldMk cId="1610351194" sldId="277"/>
            <ac:spMk id="6" creationId="{64921231-F76F-9C4D-85F8-96525AB6710F}"/>
          </ac:spMkLst>
        </pc:spChg>
      </pc:sldChg>
      <pc:sldChg chg="addSp delSp modSp mod">
        <pc:chgData name="Evan" userId="74fe0a6f-3dcd-44be-86e7-63ef83898d21" providerId="ADAL" clId="{3568F778-B01A-4926-B624-8FAC0DF7B7FE}" dt="2022-02-22T00:58:46.970" v="804" actId="1076"/>
        <pc:sldMkLst>
          <pc:docMk/>
          <pc:sldMk cId="2176629390" sldId="289"/>
        </pc:sldMkLst>
        <pc:picChg chg="add mod">
          <ac:chgData name="Evan" userId="74fe0a6f-3dcd-44be-86e7-63ef83898d21" providerId="ADAL" clId="{3568F778-B01A-4926-B624-8FAC0DF7B7FE}" dt="2022-02-22T00:58:46.970" v="804" actId="1076"/>
          <ac:picMkLst>
            <pc:docMk/>
            <pc:sldMk cId="2176629390" sldId="289"/>
            <ac:picMk id="5" creationId="{8783BC80-7E29-4B65-B73F-A154569CD128}"/>
          </ac:picMkLst>
        </pc:picChg>
        <pc:picChg chg="del">
          <ac:chgData name="Evan" userId="74fe0a6f-3dcd-44be-86e7-63ef83898d21" providerId="ADAL" clId="{3568F778-B01A-4926-B624-8FAC0DF7B7FE}" dt="2022-02-22T00:58:08.461" v="801" actId="478"/>
          <ac:picMkLst>
            <pc:docMk/>
            <pc:sldMk cId="2176629390" sldId="289"/>
            <ac:picMk id="6" creationId="{90EDD394-7174-426B-94EF-035DA45D034A}"/>
          </ac:picMkLst>
        </pc:picChg>
      </pc:sldChg>
      <pc:sldChg chg="modSp mod">
        <pc:chgData name="Evan" userId="74fe0a6f-3dcd-44be-86e7-63ef83898d21" providerId="ADAL" clId="{3568F778-B01A-4926-B624-8FAC0DF7B7FE}" dt="2022-02-22T01:02:05.829" v="1021" actId="20577"/>
        <pc:sldMkLst>
          <pc:docMk/>
          <pc:sldMk cId="3705038431" sldId="291"/>
        </pc:sldMkLst>
        <pc:spChg chg="mod">
          <ac:chgData name="Evan" userId="74fe0a6f-3dcd-44be-86e7-63ef83898d21" providerId="ADAL" clId="{3568F778-B01A-4926-B624-8FAC0DF7B7FE}" dt="2022-02-22T01:02:05.829" v="1021" actId="20577"/>
          <ac:spMkLst>
            <pc:docMk/>
            <pc:sldMk cId="3705038431" sldId="291"/>
            <ac:spMk id="6" creationId="{64921231-F76F-9C4D-85F8-96525AB6710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A6E295-2078-3A4C-9B3B-128821A974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03100D-CACA-0F41-B537-339726C6A5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77CCEE-F6A5-9F4C-8CE3-50501077053A}" type="datetimeFigureOut">
              <a:rPr lang="en-US" smtClean="0"/>
              <a:t>4/20/2022</a:t>
            </a:fld>
            <a:endParaRPr lang="en-US"/>
          </a:p>
        </p:txBody>
      </p:sp>
      <p:sp>
        <p:nvSpPr>
          <p:cNvPr id="4" name="Footer Placeholder 3">
            <a:extLst>
              <a:ext uri="{FF2B5EF4-FFF2-40B4-BE49-F238E27FC236}">
                <a16:creationId xmlns:a16="http://schemas.microsoft.com/office/drawing/2014/main" id="{1518C585-FF88-2E4D-AADE-9C9529D2F72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20F8045-3A37-824A-8710-57C502BDEF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957D50-C692-A448-91EE-4B0FAD320CD6}" type="slidenum">
              <a:rPr lang="en-US" smtClean="0"/>
              <a:t>‹#›</a:t>
            </a:fld>
            <a:endParaRPr lang="en-US"/>
          </a:p>
        </p:txBody>
      </p:sp>
    </p:spTree>
    <p:extLst>
      <p:ext uri="{BB962C8B-B14F-4D97-AF65-F5344CB8AC3E}">
        <p14:creationId xmlns:p14="http://schemas.microsoft.com/office/powerpoint/2010/main" val="1285093978"/>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17EE9D9-49A7-AE42-84D1-352EBEE407C2}"/>
              </a:ext>
            </a:extLst>
          </p:cNvPr>
          <p:cNvSpPr>
            <a:spLocks noGrp="1"/>
          </p:cNvSpPr>
          <p:nvPr>
            <p:ph type="ctrTitle"/>
          </p:nvPr>
        </p:nvSpPr>
        <p:spPr>
          <a:xfrm>
            <a:off x="2955684" y="1149178"/>
            <a:ext cx="6795912" cy="2643890"/>
          </a:xfrm>
          <a:prstGeom prst="rect">
            <a:avLst/>
          </a:prstGeom>
        </p:spPr>
        <p:txBody>
          <a:bodyPr anchor="b" anchorCtr="0">
            <a:normAutofit/>
          </a:bodyPr>
          <a:lstStyle>
            <a:lvl1pPr algn="l">
              <a:lnSpc>
                <a:spcPts val="4800"/>
              </a:lnSpc>
              <a:defRPr sz="4200" b="1" i="0" cap="none" spc="0" baseline="0">
                <a:solidFill>
                  <a:srgbClr val="003057"/>
                </a:solidFill>
                <a:latin typeface="Roboto" panose="02000000000000000000" pitchFamily="2" charset="0"/>
                <a:ea typeface="Roboto" panose="02000000000000000000" pitchFamily="2" charset="0"/>
                <a:cs typeface="Roboto" panose="02000000000000000000" pitchFamily="2" charset="0"/>
              </a:defRPr>
            </a:lvl1pPr>
          </a:lstStyle>
          <a:p>
            <a:r>
              <a:rPr lang="en-US"/>
              <a:t>Click to edit Master title style</a:t>
            </a:r>
            <a:endParaRPr lang="en-US" dirty="0"/>
          </a:p>
        </p:txBody>
      </p:sp>
      <p:sp>
        <p:nvSpPr>
          <p:cNvPr id="3" name="Subtitle 2"/>
          <p:cNvSpPr>
            <a:spLocks noGrp="1"/>
          </p:cNvSpPr>
          <p:nvPr>
            <p:ph type="subTitle" idx="1"/>
          </p:nvPr>
        </p:nvSpPr>
        <p:spPr>
          <a:xfrm>
            <a:off x="2955682" y="3793068"/>
            <a:ext cx="6795913" cy="1684868"/>
          </a:xfrm>
          <a:prstGeom prst="rect">
            <a:avLst/>
          </a:prstGeom>
        </p:spPr>
        <p:txBody>
          <a:bodyPr>
            <a:noAutofit/>
          </a:bodyPr>
          <a:lstStyle>
            <a:lvl1pPr marL="0" indent="0" algn="l">
              <a:lnSpc>
                <a:spcPts val="3600"/>
              </a:lnSpc>
              <a:buNone/>
              <a:defRPr sz="1800" b="0" cap="none" spc="0" baseline="0">
                <a:solidFill>
                  <a:srgbClr val="857437"/>
                </a:solidFill>
                <a:latin typeface="Roboto" panose="02000000000000000000" pitchFamily="2" charset="0"/>
                <a:ea typeface="Roboto" panose="02000000000000000000" pitchFamily="2" charset="0"/>
                <a:cs typeface="Roboto" panose="02000000000000000000"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027251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BFBEFA-1B24-BD40-967B-224093822B35}"/>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128C1E-32D8-CF48-A92C-E6AC112D0D06}"/>
              </a:ext>
            </a:extLst>
          </p:cNvPr>
          <p:cNvSpPr>
            <a:spLocks noGrp="1"/>
          </p:cNvSpPr>
          <p:nvPr>
            <p:ph type="dt" sz="half" idx="10"/>
          </p:nvPr>
        </p:nvSpPr>
        <p:spPr/>
        <p:txBody>
          <a:bodyPr/>
          <a:lstStyle/>
          <a:p>
            <a:fld id="{016554A5-B4DD-7045-B047-B7DA6D1E70A4}" type="datetimeFigureOut">
              <a:rPr lang="en-US" smtClean="0"/>
              <a:t>4/20/2022</a:t>
            </a:fld>
            <a:endParaRPr lang="en-US"/>
          </a:p>
        </p:txBody>
      </p:sp>
      <p:sp>
        <p:nvSpPr>
          <p:cNvPr id="5" name="Footer Placeholder 4">
            <a:extLst>
              <a:ext uri="{FF2B5EF4-FFF2-40B4-BE49-F238E27FC236}">
                <a16:creationId xmlns:a16="http://schemas.microsoft.com/office/drawing/2014/main" id="{3B7E5600-2DCC-EB44-9203-121C72C9B7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2FBA1A-F7CC-514B-BEB5-104BA2E09E1E}"/>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7" name="Title Placeholder 1">
            <a:extLst>
              <a:ext uri="{FF2B5EF4-FFF2-40B4-BE49-F238E27FC236}">
                <a16:creationId xmlns:a16="http://schemas.microsoft.com/office/drawing/2014/main" id="{D1CD0E1A-EFF5-9943-8AA6-521A2B23E647}"/>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571505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768D-628B-BB40-BEE5-32E27182F2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DA323E-BF1A-8C44-9650-0F8A4E12DCC0}"/>
              </a:ext>
            </a:extLst>
          </p:cNvPr>
          <p:cNvSpPr>
            <a:spLocks noGrp="1"/>
          </p:cNvSpPr>
          <p:nvPr>
            <p:ph sz="half" idx="1"/>
          </p:nvPr>
        </p:nvSpPr>
        <p:spPr>
          <a:xfrm>
            <a:off x="379048" y="1215483"/>
            <a:ext cx="5615353" cy="422565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1EEF26-478D-684B-BFF1-D8FD9BE7D5F9}"/>
              </a:ext>
            </a:extLst>
          </p:cNvPr>
          <p:cNvSpPr>
            <a:spLocks noGrp="1"/>
          </p:cNvSpPr>
          <p:nvPr>
            <p:ph sz="half" idx="2"/>
          </p:nvPr>
        </p:nvSpPr>
        <p:spPr>
          <a:xfrm>
            <a:off x="6197600" y="1215483"/>
            <a:ext cx="5613400" cy="422565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5ABF72E-E074-E741-8514-3417AC9D80AB}"/>
              </a:ext>
            </a:extLst>
          </p:cNvPr>
          <p:cNvSpPr>
            <a:spLocks noGrp="1"/>
          </p:cNvSpPr>
          <p:nvPr>
            <p:ph type="dt" sz="half" idx="10"/>
          </p:nvPr>
        </p:nvSpPr>
        <p:spPr/>
        <p:txBody>
          <a:bodyPr/>
          <a:lstStyle/>
          <a:p>
            <a:fld id="{016554A5-B4DD-7045-B047-B7DA6D1E70A4}" type="datetimeFigureOut">
              <a:rPr lang="en-US" smtClean="0"/>
              <a:t>4/20/2022</a:t>
            </a:fld>
            <a:endParaRPr lang="en-US"/>
          </a:p>
        </p:txBody>
      </p:sp>
      <p:sp>
        <p:nvSpPr>
          <p:cNvPr id="6" name="Footer Placeholder 5">
            <a:extLst>
              <a:ext uri="{FF2B5EF4-FFF2-40B4-BE49-F238E27FC236}">
                <a16:creationId xmlns:a16="http://schemas.microsoft.com/office/drawing/2014/main" id="{23752637-104D-064E-9B91-0BC72B6E10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44C3EF-E136-164D-954C-112EADD99ADD}"/>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661298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10077-12D2-2D4D-8F51-D9CB6B044F9B}"/>
              </a:ext>
            </a:extLst>
          </p:cNvPr>
          <p:cNvSpPr>
            <a:spLocks noGrp="1"/>
          </p:cNvSpPr>
          <p:nvPr>
            <p:ph type="body" idx="1"/>
          </p:nvPr>
        </p:nvSpPr>
        <p:spPr>
          <a:xfrm>
            <a:off x="381001" y="1235113"/>
            <a:ext cx="561763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E0DF7D1-4D77-4C46-B579-F5861C7459AC}"/>
              </a:ext>
            </a:extLst>
          </p:cNvPr>
          <p:cNvSpPr>
            <a:spLocks noGrp="1"/>
          </p:cNvSpPr>
          <p:nvPr>
            <p:ph sz="half" idx="2"/>
          </p:nvPr>
        </p:nvSpPr>
        <p:spPr>
          <a:xfrm>
            <a:off x="381001" y="2078658"/>
            <a:ext cx="5617633" cy="336247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A19A1FD-16BD-7B41-8D0F-269780D1BBDC}"/>
              </a:ext>
            </a:extLst>
          </p:cNvPr>
          <p:cNvSpPr>
            <a:spLocks noGrp="1"/>
          </p:cNvSpPr>
          <p:nvPr>
            <p:ph type="body" sz="quarter" idx="3"/>
          </p:nvPr>
        </p:nvSpPr>
        <p:spPr>
          <a:xfrm>
            <a:off x="6172200" y="1235113"/>
            <a:ext cx="56388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FBAF2E0-F5E8-3946-89DE-62BFD441B2F1}"/>
              </a:ext>
            </a:extLst>
          </p:cNvPr>
          <p:cNvSpPr>
            <a:spLocks noGrp="1"/>
          </p:cNvSpPr>
          <p:nvPr>
            <p:ph sz="quarter" idx="4"/>
          </p:nvPr>
        </p:nvSpPr>
        <p:spPr>
          <a:xfrm>
            <a:off x="6172200" y="2078658"/>
            <a:ext cx="5638800" cy="336247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p:txBody>
          <a:bodyPr/>
          <a:lstStyle/>
          <a:p>
            <a:fld id="{016554A5-B4DD-7045-B047-B7DA6D1E70A4}" type="datetimeFigureOut">
              <a:rPr lang="en-US" smtClean="0"/>
              <a:t>4/20/2022</a:t>
            </a:fld>
            <a:endParaRPr lang="en-US"/>
          </a:p>
        </p:txBody>
      </p:sp>
      <p:sp>
        <p:nvSpPr>
          <p:cNvPr id="8" name="Footer Placeholder 7">
            <a:extLst>
              <a:ext uri="{FF2B5EF4-FFF2-40B4-BE49-F238E27FC236}">
                <a16:creationId xmlns:a16="http://schemas.microsoft.com/office/drawing/2014/main" id="{9DE79E3B-E843-6343-9ECC-916F6A2E3E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204609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B5170-396F-CE4F-A0AB-300CE9708E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A6F2CA-2DD1-AF41-91EF-4D055700CA01}"/>
              </a:ext>
            </a:extLst>
          </p:cNvPr>
          <p:cNvSpPr>
            <a:spLocks noGrp="1"/>
          </p:cNvSpPr>
          <p:nvPr>
            <p:ph type="dt" sz="half" idx="10"/>
          </p:nvPr>
        </p:nvSpPr>
        <p:spPr/>
        <p:txBody>
          <a:bodyPr/>
          <a:lstStyle/>
          <a:p>
            <a:fld id="{016554A5-B4DD-7045-B047-B7DA6D1E70A4}" type="datetimeFigureOut">
              <a:rPr lang="en-US" smtClean="0"/>
              <a:t>4/20/2022</a:t>
            </a:fld>
            <a:endParaRPr lang="en-US"/>
          </a:p>
        </p:txBody>
      </p:sp>
      <p:sp>
        <p:nvSpPr>
          <p:cNvPr id="4" name="Footer Placeholder 3">
            <a:extLst>
              <a:ext uri="{FF2B5EF4-FFF2-40B4-BE49-F238E27FC236}">
                <a16:creationId xmlns:a16="http://schemas.microsoft.com/office/drawing/2014/main" id="{07635E81-A1AE-8442-89DE-148AC4FCDA2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7583BD-E195-8D45-B88C-3F15BB700766}"/>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1420620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7AE419-AE08-F348-87A6-E9445B339E62}"/>
              </a:ext>
            </a:extLst>
          </p:cNvPr>
          <p:cNvSpPr>
            <a:spLocks noGrp="1"/>
          </p:cNvSpPr>
          <p:nvPr>
            <p:ph type="dt" sz="half" idx="10"/>
          </p:nvPr>
        </p:nvSpPr>
        <p:spPr/>
        <p:txBody>
          <a:bodyPr/>
          <a:lstStyle/>
          <a:p>
            <a:fld id="{016554A5-B4DD-7045-B047-B7DA6D1E70A4}" type="datetimeFigureOut">
              <a:rPr lang="en-US" smtClean="0"/>
              <a:t>4/20/2022</a:t>
            </a:fld>
            <a:endParaRPr lang="en-US"/>
          </a:p>
        </p:txBody>
      </p:sp>
      <p:sp>
        <p:nvSpPr>
          <p:cNvPr id="3" name="Footer Placeholder 2">
            <a:extLst>
              <a:ext uri="{FF2B5EF4-FFF2-40B4-BE49-F238E27FC236}">
                <a16:creationId xmlns:a16="http://schemas.microsoft.com/office/drawing/2014/main" id="{C4F02ABE-49F8-8E43-8B96-1F432917E9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30AFCF-7504-9244-8529-F384A6BDB3AB}"/>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2390501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EC417-39B3-8947-8902-0153B5002093}"/>
              </a:ext>
            </a:extLst>
          </p:cNvPr>
          <p:cNvSpPr>
            <a:spLocks noGrp="1"/>
          </p:cNvSpPr>
          <p:nvPr>
            <p:ph type="title"/>
          </p:nvPr>
        </p:nvSpPr>
        <p:spPr>
          <a:xfrm>
            <a:off x="381001" y="457200"/>
            <a:ext cx="393276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0790FAD0-D969-274E-8AC0-FC5A894FB3FE}"/>
              </a:ext>
            </a:extLst>
          </p:cNvPr>
          <p:cNvSpPr>
            <a:spLocks noGrp="1"/>
          </p:cNvSpPr>
          <p:nvPr>
            <p:ph idx="1"/>
          </p:nvPr>
        </p:nvSpPr>
        <p:spPr>
          <a:xfrm>
            <a:off x="4313768" y="457201"/>
            <a:ext cx="7497233"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705FBC2C-9388-6049-AEF3-C1606676A7E6}"/>
              </a:ext>
            </a:extLst>
          </p:cNvPr>
          <p:cNvSpPr>
            <a:spLocks noGrp="1"/>
          </p:cNvSpPr>
          <p:nvPr>
            <p:ph type="body" sz="half" idx="2"/>
          </p:nvPr>
        </p:nvSpPr>
        <p:spPr>
          <a:xfrm>
            <a:off x="381001" y="2274849"/>
            <a:ext cx="3932767" cy="359413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a:extLst>
              <a:ext uri="{FF2B5EF4-FFF2-40B4-BE49-F238E27FC236}">
                <a16:creationId xmlns:a16="http://schemas.microsoft.com/office/drawing/2014/main" id="{0AEA470E-5CA9-A545-B98E-1EFAA05E8BF1}"/>
              </a:ext>
            </a:extLst>
          </p:cNvPr>
          <p:cNvSpPr>
            <a:spLocks noGrp="1"/>
          </p:cNvSpPr>
          <p:nvPr>
            <p:ph type="dt" sz="half" idx="10"/>
          </p:nvPr>
        </p:nvSpPr>
        <p:spPr/>
        <p:txBody>
          <a:bodyPr/>
          <a:lstStyle/>
          <a:p>
            <a:fld id="{016554A5-B4DD-7045-B047-B7DA6D1E70A4}" type="datetimeFigureOut">
              <a:rPr lang="en-US" smtClean="0"/>
              <a:t>4/20/2022</a:t>
            </a:fld>
            <a:endParaRPr lang="en-US"/>
          </a:p>
        </p:txBody>
      </p:sp>
      <p:sp>
        <p:nvSpPr>
          <p:cNvPr id="6" name="Footer Placeholder 5">
            <a:extLst>
              <a:ext uri="{FF2B5EF4-FFF2-40B4-BE49-F238E27FC236}">
                <a16:creationId xmlns:a16="http://schemas.microsoft.com/office/drawing/2014/main" id="{E99ABCA5-3B76-9E47-892E-A475FC83C7B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8F5A757-8D62-3444-9BDB-1CB584B73545}"/>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4003491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8E57A-36CB-814D-B1A5-9012A244B555}"/>
              </a:ext>
            </a:extLst>
          </p:cNvPr>
          <p:cNvSpPr>
            <a:spLocks noGrp="1"/>
          </p:cNvSpPr>
          <p:nvPr>
            <p:ph type="title"/>
          </p:nvPr>
        </p:nvSpPr>
        <p:spPr>
          <a:xfrm>
            <a:off x="381001" y="457200"/>
            <a:ext cx="393276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5D3259A3-587A-6D4A-AEF8-E4225996F750}"/>
              </a:ext>
            </a:extLst>
          </p:cNvPr>
          <p:cNvSpPr>
            <a:spLocks noGrp="1"/>
          </p:cNvSpPr>
          <p:nvPr>
            <p:ph type="pic" idx="1"/>
          </p:nvPr>
        </p:nvSpPr>
        <p:spPr>
          <a:xfrm>
            <a:off x="4313768" y="457201"/>
            <a:ext cx="7497233" cy="498393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4AC1918-55BE-A644-8FDC-9E18F9A994B4}"/>
              </a:ext>
            </a:extLst>
          </p:cNvPr>
          <p:cNvSpPr>
            <a:spLocks noGrp="1"/>
          </p:cNvSpPr>
          <p:nvPr>
            <p:ph type="body" sz="half" idx="2"/>
          </p:nvPr>
        </p:nvSpPr>
        <p:spPr>
          <a:xfrm>
            <a:off x="381001" y="2274850"/>
            <a:ext cx="3932767" cy="31662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a:extLst>
              <a:ext uri="{FF2B5EF4-FFF2-40B4-BE49-F238E27FC236}">
                <a16:creationId xmlns:a16="http://schemas.microsoft.com/office/drawing/2014/main" id="{9B9DD8F2-DDA7-354F-9FEA-A07E773A64F1}"/>
              </a:ext>
            </a:extLst>
          </p:cNvPr>
          <p:cNvSpPr>
            <a:spLocks noGrp="1"/>
          </p:cNvSpPr>
          <p:nvPr>
            <p:ph type="dt" sz="half" idx="10"/>
          </p:nvPr>
        </p:nvSpPr>
        <p:spPr/>
        <p:txBody>
          <a:bodyPr/>
          <a:lstStyle/>
          <a:p>
            <a:fld id="{016554A5-B4DD-7045-B047-B7DA6D1E70A4}" type="datetimeFigureOut">
              <a:rPr lang="en-US" smtClean="0"/>
              <a:t>4/20/2022</a:t>
            </a:fld>
            <a:endParaRPr lang="en-US"/>
          </a:p>
        </p:txBody>
      </p:sp>
      <p:sp>
        <p:nvSpPr>
          <p:cNvPr id="6" name="Footer Placeholder 5">
            <a:extLst>
              <a:ext uri="{FF2B5EF4-FFF2-40B4-BE49-F238E27FC236}">
                <a16:creationId xmlns:a16="http://schemas.microsoft.com/office/drawing/2014/main" id="{57F10CDF-1139-2249-8F5E-3E7043CC18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3F2438-4A98-5A4C-9057-FC3F0CBCD520}"/>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1077450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886C1-1209-CD40-86E4-C72B7974BE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157BF9-8D1A-FD41-A037-BF729754D18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A231DA-AB5C-C240-9332-9CC3D46A81BD}"/>
              </a:ext>
            </a:extLst>
          </p:cNvPr>
          <p:cNvSpPr>
            <a:spLocks noGrp="1"/>
          </p:cNvSpPr>
          <p:nvPr>
            <p:ph type="dt" sz="half" idx="10"/>
          </p:nvPr>
        </p:nvSpPr>
        <p:spPr/>
        <p:txBody>
          <a:bodyPr/>
          <a:lstStyle/>
          <a:p>
            <a:fld id="{016554A5-B4DD-7045-B047-B7DA6D1E70A4}" type="datetimeFigureOut">
              <a:rPr lang="en-US" smtClean="0"/>
              <a:t>4/20/2022</a:t>
            </a:fld>
            <a:endParaRPr lang="en-US"/>
          </a:p>
        </p:txBody>
      </p:sp>
      <p:sp>
        <p:nvSpPr>
          <p:cNvPr id="5" name="Footer Placeholder 4">
            <a:extLst>
              <a:ext uri="{FF2B5EF4-FFF2-40B4-BE49-F238E27FC236}">
                <a16:creationId xmlns:a16="http://schemas.microsoft.com/office/drawing/2014/main" id="{3067AB74-A3C5-CF45-A5A3-124A94D150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F83F40-6572-9341-AE1A-0342450A98AB}"/>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3915638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DA8079-4F60-D34B-96A4-C32E3C6A4A6C}"/>
              </a:ext>
            </a:extLst>
          </p:cNvPr>
          <p:cNvSpPr>
            <a:spLocks noGrp="1"/>
          </p:cNvSpPr>
          <p:nvPr>
            <p:ph type="title" orient="vert"/>
          </p:nvPr>
        </p:nvSpPr>
        <p:spPr>
          <a:xfrm>
            <a:off x="9182101" y="365125"/>
            <a:ext cx="2628900"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0213FC5-8FDB-D640-8F18-46D09DD7FDA5}"/>
              </a:ext>
            </a:extLst>
          </p:cNvPr>
          <p:cNvSpPr>
            <a:spLocks noGrp="1"/>
          </p:cNvSpPr>
          <p:nvPr>
            <p:ph type="body" orient="vert" idx="1"/>
          </p:nvPr>
        </p:nvSpPr>
        <p:spPr>
          <a:xfrm>
            <a:off x="381001" y="365125"/>
            <a:ext cx="8801100" cy="5811838"/>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89F9D1-30A5-3C44-9E01-F570121CC3F9}"/>
              </a:ext>
            </a:extLst>
          </p:cNvPr>
          <p:cNvSpPr>
            <a:spLocks noGrp="1"/>
          </p:cNvSpPr>
          <p:nvPr>
            <p:ph type="dt" sz="half" idx="10"/>
          </p:nvPr>
        </p:nvSpPr>
        <p:spPr/>
        <p:txBody>
          <a:bodyPr/>
          <a:lstStyle/>
          <a:p>
            <a:fld id="{016554A5-B4DD-7045-B047-B7DA6D1E70A4}" type="datetimeFigureOut">
              <a:rPr lang="en-US" smtClean="0"/>
              <a:t>4/20/2022</a:t>
            </a:fld>
            <a:endParaRPr lang="en-US"/>
          </a:p>
        </p:txBody>
      </p:sp>
      <p:sp>
        <p:nvSpPr>
          <p:cNvPr id="5" name="Footer Placeholder 4">
            <a:extLst>
              <a:ext uri="{FF2B5EF4-FFF2-40B4-BE49-F238E27FC236}">
                <a16:creationId xmlns:a16="http://schemas.microsoft.com/office/drawing/2014/main" id="{F4AC5DF8-E50D-1745-97C5-A23C0E511C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2D20E1-9670-8A49-9442-60CC23074B66}"/>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1998614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image" Target="../media/image2.png"/><Relationship Id="rId5" Type="http://schemas.openxmlformats.org/officeDocument/2006/relationships/slideLayout" Target="../slideLayouts/slideLayout6.xml"/><Relationship Id="rId10" Type="http://schemas.openxmlformats.org/officeDocument/2006/relationships/theme" Target="../theme/theme2.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2981321"/>
      </p:ext>
    </p:extLst>
  </p:cSld>
  <p:clrMap bg1="lt1" tx1="dk1" bg2="lt2" tx2="dk2" accent1="accent1" accent2="accent2" accent3="accent3" accent4="accent4" accent5="accent5" accent6="accent6" hlink="hlink" folHlink="folHlink"/>
  <p:sldLayoutIdLst>
    <p:sldLayoutId id="2147483681" r:id="rId1"/>
  </p:sldLayoutIdLst>
  <p:txStyles>
    <p:titleStyle>
      <a:lvl1pPr algn="l" defTabSz="342900" rtl="0" eaLnBrk="1" latinLnBrk="0" hangingPunct="1">
        <a:spcBef>
          <a:spcPct val="0"/>
        </a:spcBef>
        <a:buNone/>
        <a:defRPr sz="3600" b="1" kern="1200">
          <a:solidFill>
            <a:srgbClr val="857437"/>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6794E2-0939-7444-A82A-8BD5C7FA1DDC}"/>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616A5F8-57A3-204B-9489-10B6EA097328}"/>
              </a:ext>
            </a:extLst>
          </p:cNvPr>
          <p:cNvSpPr>
            <a:spLocks noGrp="1"/>
          </p:cNvSpPr>
          <p:nvPr>
            <p:ph type="body" idx="1"/>
          </p:nvPr>
        </p:nvSpPr>
        <p:spPr>
          <a:xfrm>
            <a:off x="381000" y="1215485"/>
            <a:ext cx="11430000" cy="422565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2B2C088-FD5F-6E47-B5E9-B42B8CA51A39}"/>
              </a:ext>
            </a:extLst>
          </p:cNvPr>
          <p:cNvSpPr>
            <a:spLocks noGrp="1"/>
          </p:cNvSpPr>
          <p:nvPr>
            <p:ph type="dt" sz="half" idx="2"/>
          </p:nvPr>
        </p:nvSpPr>
        <p:spPr>
          <a:xfrm>
            <a:off x="381000" y="5441135"/>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6554A5-B4DD-7045-B047-B7DA6D1E70A4}" type="datetimeFigureOut">
              <a:rPr lang="en-US" smtClean="0"/>
              <a:t>4/20/2022</a:t>
            </a:fld>
            <a:endParaRPr lang="en-US"/>
          </a:p>
        </p:txBody>
      </p:sp>
      <p:sp>
        <p:nvSpPr>
          <p:cNvPr id="5" name="Footer Placeholder 4">
            <a:extLst>
              <a:ext uri="{FF2B5EF4-FFF2-40B4-BE49-F238E27FC236}">
                <a16:creationId xmlns:a16="http://schemas.microsoft.com/office/drawing/2014/main" id="{BE9B8B9A-12D6-EA40-AB29-6918054B5DA5}"/>
              </a:ext>
            </a:extLst>
          </p:cNvPr>
          <p:cNvSpPr>
            <a:spLocks noGrp="1"/>
          </p:cNvSpPr>
          <p:nvPr>
            <p:ph type="ftr" sz="quarter" idx="3"/>
          </p:nvPr>
        </p:nvSpPr>
        <p:spPr>
          <a:xfrm>
            <a:off x="3126154" y="5441135"/>
            <a:ext cx="5941647"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A9F842A-A21A-C542-88CC-30F0DD78DA6E}"/>
              </a:ext>
            </a:extLst>
          </p:cNvPr>
          <p:cNvSpPr>
            <a:spLocks noGrp="1"/>
          </p:cNvSpPr>
          <p:nvPr>
            <p:ph type="sldNum" sz="quarter" idx="4"/>
          </p:nvPr>
        </p:nvSpPr>
        <p:spPr>
          <a:xfrm>
            <a:off x="9067800" y="544113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678206-0642-9F48-9727-6B519CB285FA}" type="slidenum">
              <a:rPr lang="en-US" smtClean="0"/>
              <a:t>‹#›</a:t>
            </a:fld>
            <a:endParaRPr lang="en-US" dirty="0"/>
          </a:p>
        </p:txBody>
      </p:sp>
    </p:spTree>
    <p:extLst>
      <p:ext uri="{BB962C8B-B14F-4D97-AF65-F5344CB8AC3E}">
        <p14:creationId xmlns:p14="http://schemas.microsoft.com/office/powerpoint/2010/main" val="2871032842"/>
      </p:ext>
    </p:extLst>
  </p:cSld>
  <p:clrMap bg1="lt1" tx1="dk1" bg2="lt2" tx2="dk2" accent1="accent1" accent2="accent2" accent3="accent3" accent4="accent4" accent5="accent5" accent6="accent6" hlink="hlink" folHlink="folHlink"/>
  <p:sldLayoutIdLst>
    <p:sldLayoutId id="2147483685"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Lst>
  <p:txStyles>
    <p:titleStyle>
      <a:lvl1pPr algn="l" defTabSz="914400" rtl="0" eaLnBrk="1" latinLnBrk="0" hangingPunct="1">
        <a:lnSpc>
          <a:spcPct val="90000"/>
        </a:lnSpc>
        <a:spcBef>
          <a:spcPct val="0"/>
        </a:spcBef>
        <a:buNone/>
        <a:defRPr sz="3600" b="1" i="0" kern="1200" baseline="0">
          <a:solidFill>
            <a:srgbClr val="A7934B"/>
          </a:solidFill>
          <a:latin typeface="Roboto" panose="02000000000000000000" pitchFamily="2" charset="0"/>
          <a:ea typeface="Roboto" panose="02000000000000000000" pitchFamily="2" charset="0"/>
          <a:cs typeface="Roboto"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rgbClr val="003057"/>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rgbClr val="003057"/>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rgbClr val="003057"/>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rgbClr val="003057"/>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rgbClr val="003057"/>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assets.fis-ski.com/image/upload/v1593675483/fis-prod/assets/ICR_02072020.pdf" TargetMode="External"/><Relationship Id="rId2" Type="http://schemas.openxmlformats.org/officeDocument/2006/relationships/hyperlink" Target="https://www.fis-ski.com/DB/general/biographie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E95FB-AFDA-C24E-BDC1-87184FFF62A0}"/>
              </a:ext>
            </a:extLst>
          </p:cNvPr>
          <p:cNvSpPr>
            <a:spLocks noGrp="1"/>
          </p:cNvSpPr>
          <p:nvPr>
            <p:ph type="ctrTitle"/>
          </p:nvPr>
        </p:nvSpPr>
        <p:spPr>
          <a:xfrm>
            <a:off x="2998851" y="926757"/>
            <a:ext cx="5564381" cy="2866311"/>
          </a:xfrm>
          <a:prstGeom prst="rect">
            <a:avLst/>
          </a:prstGeom>
        </p:spPr>
        <p:txBody>
          <a:bodyPr wrap="square">
            <a:normAutofit/>
          </a:bodyPr>
          <a:lstStyle/>
          <a:p>
            <a:r>
              <a:rPr lang="en-US" b="1" dirty="0">
                <a:solidFill>
                  <a:srgbClr val="003057"/>
                </a:solidFill>
                <a:latin typeface="Roboto" panose="02000000000000000000" pitchFamily="2" charset="0"/>
                <a:ea typeface="Roboto" panose="02000000000000000000" pitchFamily="2" charset="0"/>
              </a:rPr>
              <a:t>United States Olympic &amp; Paralympic Committee Practicum</a:t>
            </a:r>
            <a:br>
              <a:rPr lang="en-US" b="1" dirty="0">
                <a:solidFill>
                  <a:srgbClr val="003057"/>
                </a:solidFill>
                <a:latin typeface="Roboto" panose="02000000000000000000" pitchFamily="2" charset="0"/>
                <a:ea typeface="Roboto" panose="02000000000000000000" pitchFamily="2" charset="0"/>
              </a:rPr>
            </a:br>
            <a:r>
              <a:rPr lang="en-US" b="1" dirty="0">
                <a:solidFill>
                  <a:srgbClr val="003057"/>
                </a:solidFill>
                <a:latin typeface="Roboto" panose="02000000000000000000" pitchFamily="2" charset="0"/>
                <a:ea typeface="Roboto" panose="02000000000000000000" pitchFamily="2" charset="0"/>
              </a:rPr>
              <a:t>Midterm Report</a:t>
            </a:r>
          </a:p>
        </p:txBody>
      </p:sp>
      <p:sp>
        <p:nvSpPr>
          <p:cNvPr id="3" name="Subtitle 2">
            <a:extLst>
              <a:ext uri="{FF2B5EF4-FFF2-40B4-BE49-F238E27FC236}">
                <a16:creationId xmlns:a16="http://schemas.microsoft.com/office/drawing/2014/main" id="{B7E66134-3B68-CA46-9583-81F439EB81A2}"/>
              </a:ext>
            </a:extLst>
          </p:cNvPr>
          <p:cNvSpPr>
            <a:spLocks noGrp="1"/>
          </p:cNvSpPr>
          <p:nvPr>
            <p:ph type="subTitle" idx="1"/>
          </p:nvPr>
        </p:nvSpPr>
        <p:spPr>
          <a:xfrm>
            <a:off x="2998850" y="3913388"/>
            <a:ext cx="6795913" cy="1684868"/>
          </a:xfrm>
        </p:spPr>
        <p:txBody>
          <a:bodyPr/>
          <a:lstStyle/>
          <a:p>
            <a:pPr>
              <a:lnSpc>
                <a:spcPct val="100000"/>
              </a:lnSpc>
            </a:pPr>
            <a:r>
              <a:rPr lang="en-US" sz="1800" dirty="0">
                <a:solidFill>
                  <a:srgbClr val="857437"/>
                </a:solidFill>
                <a:latin typeface="Roboto" panose="02000000000000000000" pitchFamily="2" charset="0"/>
                <a:ea typeface="Roboto" panose="02000000000000000000" pitchFamily="2" charset="0"/>
                <a:cs typeface="Roboto" panose="02000000000000000000" pitchFamily="2" charset="0"/>
              </a:rPr>
              <a:t>Evan Jones</a:t>
            </a:r>
          </a:p>
          <a:p>
            <a:pPr>
              <a:lnSpc>
                <a:spcPct val="100000"/>
              </a:lnSpc>
            </a:pPr>
            <a:r>
              <a:rPr lang="en-US" sz="1800" dirty="0">
                <a:solidFill>
                  <a:srgbClr val="857437"/>
                </a:solidFill>
                <a:latin typeface="Roboto" panose="02000000000000000000" pitchFamily="2" charset="0"/>
                <a:ea typeface="Roboto" panose="02000000000000000000" pitchFamily="2" charset="0"/>
                <a:cs typeface="Roboto" panose="02000000000000000000" pitchFamily="2" charset="0"/>
              </a:rPr>
              <a:t>February </a:t>
            </a:r>
            <a:r>
              <a:rPr lang="en-US" dirty="0"/>
              <a:t>20</a:t>
            </a:r>
            <a:r>
              <a:rPr lang="en-US" sz="1800" baseline="30000" dirty="0">
                <a:solidFill>
                  <a:srgbClr val="857437"/>
                </a:solidFill>
                <a:latin typeface="Roboto" panose="02000000000000000000" pitchFamily="2" charset="0"/>
                <a:ea typeface="Roboto" panose="02000000000000000000" pitchFamily="2" charset="0"/>
                <a:cs typeface="Roboto" panose="02000000000000000000" pitchFamily="2" charset="0"/>
              </a:rPr>
              <a:t>th</a:t>
            </a:r>
            <a:r>
              <a:rPr lang="en-US" sz="1800" dirty="0">
                <a:solidFill>
                  <a:srgbClr val="857437"/>
                </a:solidFill>
                <a:latin typeface="Roboto" panose="02000000000000000000" pitchFamily="2" charset="0"/>
                <a:ea typeface="Roboto" panose="02000000000000000000" pitchFamily="2" charset="0"/>
                <a:cs typeface="Roboto" panose="02000000000000000000" pitchFamily="2" charset="0"/>
              </a:rPr>
              <a:t>, 2022</a:t>
            </a:r>
          </a:p>
        </p:txBody>
      </p:sp>
    </p:spTree>
    <p:extLst>
      <p:ext uri="{BB962C8B-B14F-4D97-AF65-F5344CB8AC3E}">
        <p14:creationId xmlns:p14="http://schemas.microsoft.com/office/powerpoint/2010/main" val="2789775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b="1" dirty="0">
                <a:latin typeface="Roboto" panose="02000000000000000000" pitchFamily="2" charset="0"/>
                <a:ea typeface="Roboto" panose="02000000000000000000" pitchFamily="2" charset="0"/>
              </a:rPr>
              <a:t>Project Motivation</a:t>
            </a: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8439150" cy="4488365"/>
          </a:xfrm>
        </p:spPr>
        <p:txBody>
          <a:bodyPr/>
          <a:lstStyle/>
          <a:p>
            <a:pPr marL="0" indent="0">
              <a:buNone/>
            </a:pPr>
            <a:r>
              <a:rPr lang="en-US" dirty="0">
                <a:solidFill>
                  <a:srgbClr val="003057"/>
                </a:solidFill>
              </a:rPr>
              <a:t>The United States Olympic &amp; Paralympic Committee (USOPC) is a non-profit corporation with limited capital resources. It is the committee’s mission to utilize these funds as effectively as possible to maximize Team USA’s medal achievement. </a:t>
            </a:r>
          </a:p>
          <a:p>
            <a:pPr marL="0" indent="0">
              <a:buNone/>
            </a:pPr>
            <a:endParaRPr lang="en-US" dirty="0"/>
          </a:p>
          <a:p>
            <a:pPr marL="0" indent="0">
              <a:buNone/>
            </a:pPr>
            <a:r>
              <a:rPr lang="en-US" dirty="0">
                <a:solidFill>
                  <a:srgbClr val="003057"/>
                </a:solidFill>
              </a:rPr>
              <a:t>The USOPC </a:t>
            </a:r>
            <a:r>
              <a:rPr lang="en-US" dirty="0"/>
              <a:t>must decide when, how, and by what amount to fund promising athletes to maximize the athlete’s and Team USA’s potential for success</a:t>
            </a:r>
            <a:endParaRPr lang="en-US" dirty="0">
              <a:solidFill>
                <a:srgbClr val="003057"/>
              </a:solidFill>
            </a:endParaRPr>
          </a:p>
          <a:p>
            <a:pPr marL="0" indent="0">
              <a:buNone/>
            </a:pPr>
            <a:endParaRPr lang="en-US" dirty="0">
              <a:solidFill>
                <a:srgbClr val="003057"/>
              </a:solidFill>
            </a:endParaRPr>
          </a:p>
        </p:txBody>
      </p:sp>
      <p:pic>
        <p:nvPicPr>
          <p:cNvPr id="2" name="Picture 1">
            <a:extLst>
              <a:ext uri="{FF2B5EF4-FFF2-40B4-BE49-F238E27FC236}">
                <a16:creationId xmlns:a16="http://schemas.microsoft.com/office/drawing/2014/main" id="{426B0AA9-AB7E-4F60-BB0C-6788A9E66929}"/>
              </a:ext>
            </a:extLst>
          </p:cNvPr>
          <p:cNvPicPr>
            <a:picLocks noChangeAspect="1"/>
          </p:cNvPicPr>
          <p:nvPr/>
        </p:nvPicPr>
        <p:blipFill rotWithShape="1">
          <a:blip r:embed="rId3"/>
          <a:srcRect l="1291" t="19462" r="968" b="22797"/>
          <a:stretch/>
        </p:blipFill>
        <p:spPr>
          <a:xfrm>
            <a:off x="9467406" y="1215483"/>
            <a:ext cx="1871154" cy="1105401"/>
          </a:xfrm>
          <a:prstGeom prst="rect">
            <a:avLst/>
          </a:prstGeom>
        </p:spPr>
      </p:pic>
      <p:pic>
        <p:nvPicPr>
          <p:cNvPr id="3" name="Picture 2">
            <a:extLst>
              <a:ext uri="{FF2B5EF4-FFF2-40B4-BE49-F238E27FC236}">
                <a16:creationId xmlns:a16="http://schemas.microsoft.com/office/drawing/2014/main" id="{C08C04BF-44F0-418A-ACD1-8FF0512E3C42}"/>
              </a:ext>
            </a:extLst>
          </p:cNvPr>
          <p:cNvPicPr>
            <a:picLocks noChangeAspect="1"/>
          </p:cNvPicPr>
          <p:nvPr/>
        </p:nvPicPr>
        <p:blipFill>
          <a:blip r:embed="rId4"/>
          <a:stretch>
            <a:fillRect/>
          </a:stretch>
        </p:blipFill>
        <p:spPr>
          <a:xfrm>
            <a:off x="9516258" y="2781837"/>
            <a:ext cx="1773449" cy="2512386"/>
          </a:xfrm>
          <a:prstGeom prst="rect">
            <a:avLst/>
          </a:prstGeom>
        </p:spPr>
      </p:pic>
    </p:spTree>
    <p:extLst>
      <p:ext uri="{BB962C8B-B14F-4D97-AF65-F5344CB8AC3E}">
        <p14:creationId xmlns:p14="http://schemas.microsoft.com/office/powerpoint/2010/main" val="4201212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b="1" dirty="0">
                <a:latin typeface="Roboto" panose="02000000000000000000" pitchFamily="2" charset="0"/>
                <a:ea typeface="Roboto" panose="02000000000000000000" pitchFamily="2" charset="0"/>
              </a:rPr>
              <a:t>Project Purpose</a:t>
            </a: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11430000" cy="4488365"/>
          </a:xfrm>
        </p:spPr>
        <p:txBody>
          <a:bodyPr/>
          <a:lstStyle/>
          <a:p>
            <a:pPr marL="0" indent="0">
              <a:buNone/>
            </a:pPr>
            <a:r>
              <a:rPr lang="en-US" dirty="0">
                <a:solidFill>
                  <a:srgbClr val="003057"/>
                </a:solidFill>
              </a:rPr>
              <a:t>The United States Olympic &amp; Paralympic Committee (USOPC) aims to gain understanding with respect to the role athlete age impacts medaling achievement in various sports/events. </a:t>
            </a:r>
          </a:p>
          <a:p>
            <a:pPr marL="0" indent="0">
              <a:buNone/>
            </a:pPr>
            <a:r>
              <a:rPr lang="en-US" dirty="0"/>
              <a:t>A better understanding of this relationship on the discipline, event, and gender levels could allow for more targeted and effective funding decisions by the committee</a:t>
            </a:r>
          </a:p>
          <a:p>
            <a:pPr marL="0" indent="0">
              <a:buNone/>
            </a:pPr>
            <a:r>
              <a:rPr lang="en-US" dirty="0"/>
              <a:t>By more effectively funding athletes at the right time in their career we create an environment that better cultivates athletic potential and maximizes Team USA’s medal output.</a:t>
            </a:r>
          </a:p>
          <a:p>
            <a:pPr marL="0" indent="0">
              <a:buNone/>
            </a:pPr>
            <a:endParaRPr lang="en-US" dirty="0">
              <a:solidFill>
                <a:srgbClr val="003057"/>
              </a:solidFill>
            </a:endParaRPr>
          </a:p>
          <a:p>
            <a:pPr marL="0" indent="0">
              <a:buNone/>
            </a:pPr>
            <a:endParaRPr lang="en-US" dirty="0">
              <a:solidFill>
                <a:srgbClr val="003057"/>
              </a:solidFill>
            </a:endParaRPr>
          </a:p>
          <a:p>
            <a:pPr marL="0" indent="0">
              <a:buNone/>
            </a:pPr>
            <a:endParaRPr lang="en-US" dirty="0">
              <a:solidFill>
                <a:srgbClr val="003057"/>
              </a:solidFill>
            </a:endParaRPr>
          </a:p>
          <a:p>
            <a:pPr marL="0" indent="0">
              <a:buNone/>
            </a:pPr>
            <a:endParaRPr lang="en-US" dirty="0">
              <a:solidFill>
                <a:srgbClr val="003057"/>
              </a:solidFill>
            </a:endParaRPr>
          </a:p>
        </p:txBody>
      </p:sp>
    </p:spTree>
    <p:extLst>
      <p:ext uri="{BB962C8B-B14F-4D97-AF65-F5344CB8AC3E}">
        <p14:creationId xmlns:p14="http://schemas.microsoft.com/office/powerpoint/2010/main" val="2631939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6A601C-F7AC-0C4F-9F21-FDFB1BAE4C2D}"/>
              </a:ext>
            </a:extLst>
          </p:cNvPr>
          <p:cNvSpPr>
            <a:spLocks noGrp="1"/>
          </p:cNvSpPr>
          <p:nvPr>
            <p:ph type="title"/>
          </p:nvPr>
        </p:nvSpPr>
        <p:spPr>
          <a:xfrm>
            <a:off x="381000" y="200722"/>
            <a:ext cx="11430000" cy="1014761"/>
          </a:xfrm>
        </p:spPr>
        <p:txBody>
          <a:bodyPr anchor="ctr">
            <a:normAutofit/>
          </a:bodyPr>
          <a:lstStyle/>
          <a:p>
            <a:r>
              <a:rPr lang="en-US" b="1"/>
              <a:t>Project Overview</a:t>
            </a:r>
          </a:p>
        </p:txBody>
      </p:sp>
      <p:sp>
        <p:nvSpPr>
          <p:cNvPr id="5" name="Content Placeholder 4">
            <a:extLst>
              <a:ext uri="{FF2B5EF4-FFF2-40B4-BE49-F238E27FC236}">
                <a16:creationId xmlns:a16="http://schemas.microsoft.com/office/drawing/2014/main" id="{34202EF4-BE1D-8146-9846-177F3B789037}"/>
              </a:ext>
            </a:extLst>
          </p:cNvPr>
          <p:cNvSpPr>
            <a:spLocks noGrp="1"/>
          </p:cNvSpPr>
          <p:nvPr>
            <p:ph sz="half" idx="1"/>
          </p:nvPr>
        </p:nvSpPr>
        <p:spPr>
          <a:xfrm>
            <a:off x="379048" y="1215483"/>
            <a:ext cx="5615353" cy="4225652"/>
          </a:xfrm>
        </p:spPr>
        <p:txBody>
          <a:bodyPr>
            <a:normAutofit fontScale="85000" lnSpcReduction="20000"/>
          </a:bodyPr>
          <a:lstStyle/>
          <a:p>
            <a:pPr marL="0" indent="0">
              <a:buNone/>
            </a:pPr>
            <a:r>
              <a:rPr lang="en-US" dirty="0"/>
              <a:t>For this project, we will be focusing on the Winter Olympic solo disciplines of Alpine Skiing which includes 5 events for both male &amp; female athletes</a:t>
            </a:r>
          </a:p>
          <a:p>
            <a:pPr marL="0" indent="0">
              <a:buNone/>
            </a:pPr>
            <a:endParaRPr lang="en-US" dirty="0"/>
          </a:p>
          <a:p>
            <a:pPr lvl="2"/>
            <a:r>
              <a:rPr lang="en-US" dirty="0"/>
              <a:t>Slalom</a:t>
            </a:r>
          </a:p>
          <a:p>
            <a:pPr lvl="2"/>
            <a:r>
              <a:rPr lang="en-US" dirty="0"/>
              <a:t>Giant Slalom</a:t>
            </a:r>
          </a:p>
          <a:p>
            <a:pPr lvl="2"/>
            <a:r>
              <a:rPr lang="en-US" dirty="0"/>
              <a:t>Super Giant Slalom (Super G)</a:t>
            </a:r>
          </a:p>
          <a:p>
            <a:pPr lvl="2"/>
            <a:r>
              <a:rPr lang="en-US" dirty="0"/>
              <a:t>Downhill</a:t>
            </a:r>
          </a:p>
          <a:p>
            <a:pPr lvl="2"/>
            <a:r>
              <a:rPr lang="en-US" dirty="0"/>
              <a:t>Combined (1x Downhill + 2x Slalom)</a:t>
            </a:r>
          </a:p>
          <a:p>
            <a:endParaRPr lang="en-US" dirty="0"/>
          </a:p>
          <a:p>
            <a:pPr marL="0" indent="0">
              <a:buNone/>
            </a:pPr>
            <a:r>
              <a:rPr lang="en-US" dirty="0"/>
              <a:t>Although similar each of the event has their own unique qualities and challenges</a:t>
            </a:r>
          </a:p>
          <a:p>
            <a:endParaRPr lang="en-US" sz="3200" dirty="0"/>
          </a:p>
          <a:p>
            <a:pPr marL="457200" lvl="1" indent="0">
              <a:buNone/>
            </a:pPr>
            <a:endParaRPr lang="en-US" sz="2800" dirty="0"/>
          </a:p>
          <a:p>
            <a:pPr marL="0" indent="0">
              <a:buNone/>
            </a:pPr>
            <a:endParaRPr lang="en-US" dirty="0"/>
          </a:p>
        </p:txBody>
      </p:sp>
      <p:pic>
        <p:nvPicPr>
          <p:cNvPr id="9" name="Picture 8" descr="Diagram&#10;&#10;Description automatically generated">
            <a:extLst>
              <a:ext uri="{FF2B5EF4-FFF2-40B4-BE49-F238E27FC236}">
                <a16:creationId xmlns:a16="http://schemas.microsoft.com/office/drawing/2014/main" id="{11924EBC-48BE-4C46-A648-0767C359597C}"/>
              </a:ext>
            </a:extLst>
          </p:cNvPr>
          <p:cNvPicPr>
            <a:picLocks noChangeAspect="1"/>
          </p:cNvPicPr>
          <p:nvPr/>
        </p:nvPicPr>
        <p:blipFill>
          <a:blip r:embed="rId2"/>
          <a:stretch>
            <a:fillRect/>
          </a:stretch>
        </p:blipFill>
        <p:spPr>
          <a:xfrm>
            <a:off x="7171055" y="708102"/>
            <a:ext cx="3463290" cy="5011528"/>
          </a:xfrm>
          <a:prstGeom prst="rect">
            <a:avLst/>
          </a:prstGeom>
          <a:noFill/>
        </p:spPr>
      </p:pic>
    </p:spTree>
    <p:extLst>
      <p:ext uri="{BB962C8B-B14F-4D97-AF65-F5344CB8AC3E}">
        <p14:creationId xmlns:p14="http://schemas.microsoft.com/office/powerpoint/2010/main" val="2016116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6A601C-F7AC-0C4F-9F21-FDFB1BAE4C2D}"/>
              </a:ext>
            </a:extLst>
          </p:cNvPr>
          <p:cNvSpPr>
            <a:spLocks noGrp="1"/>
          </p:cNvSpPr>
          <p:nvPr>
            <p:ph type="title"/>
          </p:nvPr>
        </p:nvSpPr>
        <p:spPr/>
        <p:txBody>
          <a:bodyPr/>
          <a:lstStyle/>
          <a:p>
            <a:r>
              <a:rPr lang="en-US" b="1" dirty="0">
                <a:latin typeface="Roboto" panose="02000000000000000000" pitchFamily="2" charset="0"/>
                <a:ea typeface="Roboto" panose="02000000000000000000" pitchFamily="2" charset="0"/>
              </a:rPr>
              <a:t>Project Overview</a:t>
            </a:r>
          </a:p>
        </p:txBody>
      </p:sp>
      <p:sp>
        <p:nvSpPr>
          <p:cNvPr id="5" name="Content Placeholder 4">
            <a:extLst>
              <a:ext uri="{FF2B5EF4-FFF2-40B4-BE49-F238E27FC236}">
                <a16:creationId xmlns:a16="http://schemas.microsoft.com/office/drawing/2014/main" id="{34202EF4-BE1D-8146-9846-177F3B789037}"/>
              </a:ext>
            </a:extLst>
          </p:cNvPr>
          <p:cNvSpPr>
            <a:spLocks noGrp="1"/>
          </p:cNvSpPr>
          <p:nvPr>
            <p:ph idx="1"/>
          </p:nvPr>
        </p:nvSpPr>
        <p:spPr>
          <a:xfrm>
            <a:off x="381000" y="1215484"/>
            <a:ext cx="8412003" cy="4648105"/>
          </a:xfrm>
        </p:spPr>
        <p:txBody>
          <a:bodyPr>
            <a:normAutofit/>
          </a:bodyPr>
          <a:lstStyle/>
          <a:p>
            <a:pPr marL="457200" lvl="1" indent="0">
              <a:buNone/>
            </a:pPr>
            <a:r>
              <a:rPr lang="en-US" dirty="0"/>
              <a:t>We will utilize internal client data as well as publicly available data to model the unique pre/post peak ages for each event &amp; gender pair</a:t>
            </a:r>
          </a:p>
          <a:p>
            <a:pPr marL="457200" lvl="1" indent="0">
              <a:buNone/>
            </a:pPr>
            <a:endParaRPr lang="en-US" dirty="0">
              <a:solidFill>
                <a:srgbClr val="003057"/>
              </a:solidFill>
            </a:endParaRPr>
          </a:p>
          <a:p>
            <a:pPr marL="457200" lvl="1" indent="0">
              <a:buNone/>
            </a:pPr>
            <a:r>
              <a:rPr lang="en-US" dirty="0"/>
              <a:t>We then apply Kernel Density Estimation to capture the distribution of top 3 event finisher ages for each event &amp; gender pair</a:t>
            </a:r>
          </a:p>
          <a:p>
            <a:pPr marL="457200" lvl="1" indent="0">
              <a:buNone/>
            </a:pPr>
            <a:endParaRPr lang="en-US" dirty="0">
              <a:solidFill>
                <a:srgbClr val="003057"/>
              </a:solidFill>
            </a:endParaRPr>
          </a:p>
          <a:p>
            <a:pPr marL="457200" lvl="1" indent="0">
              <a:buNone/>
            </a:pPr>
            <a:r>
              <a:rPr lang="en-US" dirty="0"/>
              <a:t>This resulting distributional models give us clear insight into peak age ranges via statistical metrics, modality tests and sampling</a:t>
            </a:r>
            <a:endParaRPr lang="en-US" sz="2400" dirty="0">
              <a:solidFill>
                <a:srgbClr val="003057"/>
              </a:solidFill>
            </a:endParaRPr>
          </a:p>
        </p:txBody>
      </p:sp>
      <p:pic>
        <p:nvPicPr>
          <p:cNvPr id="7" name="Picture 6">
            <a:extLst>
              <a:ext uri="{FF2B5EF4-FFF2-40B4-BE49-F238E27FC236}">
                <a16:creationId xmlns:a16="http://schemas.microsoft.com/office/drawing/2014/main" id="{0F036EC7-5B7F-4F48-990D-A08215B64EF8}"/>
              </a:ext>
            </a:extLst>
          </p:cNvPr>
          <p:cNvPicPr>
            <a:picLocks noChangeAspect="1"/>
          </p:cNvPicPr>
          <p:nvPr/>
        </p:nvPicPr>
        <p:blipFill>
          <a:blip r:embed="rId3"/>
          <a:stretch>
            <a:fillRect/>
          </a:stretch>
        </p:blipFill>
        <p:spPr>
          <a:xfrm>
            <a:off x="9092026" y="1162150"/>
            <a:ext cx="2602191" cy="1801517"/>
          </a:xfrm>
          <a:prstGeom prst="rect">
            <a:avLst/>
          </a:prstGeom>
        </p:spPr>
      </p:pic>
      <p:pic>
        <p:nvPicPr>
          <p:cNvPr id="8" name="Picture 7">
            <a:extLst>
              <a:ext uri="{FF2B5EF4-FFF2-40B4-BE49-F238E27FC236}">
                <a16:creationId xmlns:a16="http://schemas.microsoft.com/office/drawing/2014/main" id="{AC3C9667-417B-4094-9090-49DC609B9FB5}"/>
              </a:ext>
            </a:extLst>
          </p:cNvPr>
          <p:cNvPicPr>
            <a:picLocks noChangeAspect="1"/>
          </p:cNvPicPr>
          <p:nvPr/>
        </p:nvPicPr>
        <p:blipFill>
          <a:blip r:embed="rId4"/>
          <a:stretch>
            <a:fillRect/>
          </a:stretch>
        </p:blipFill>
        <p:spPr>
          <a:xfrm>
            <a:off x="9092026" y="3429000"/>
            <a:ext cx="2612398" cy="1835860"/>
          </a:xfrm>
          <a:prstGeom prst="rect">
            <a:avLst/>
          </a:prstGeom>
        </p:spPr>
      </p:pic>
      <p:cxnSp>
        <p:nvCxnSpPr>
          <p:cNvPr id="9" name="Straight Connector 8">
            <a:extLst>
              <a:ext uri="{FF2B5EF4-FFF2-40B4-BE49-F238E27FC236}">
                <a16:creationId xmlns:a16="http://schemas.microsoft.com/office/drawing/2014/main" id="{4C92D50C-21B9-4650-95A1-7590511CBDE6}"/>
              </a:ext>
            </a:extLst>
          </p:cNvPr>
          <p:cNvCxnSpPr>
            <a:cxnSpLocks/>
          </p:cNvCxnSpPr>
          <p:nvPr/>
        </p:nvCxnSpPr>
        <p:spPr>
          <a:xfrm>
            <a:off x="10278094" y="4073236"/>
            <a:ext cx="0" cy="981694"/>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Straight Connector 9">
            <a:extLst>
              <a:ext uri="{FF2B5EF4-FFF2-40B4-BE49-F238E27FC236}">
                <a16:creationId xmlns:a16="http://schemas.microsoft.com/office/drawing/2014/main" id="{0301FAD5-B2E7-4D27-98C0-F389BA21DA29}"/>
              </a:ext>
            </a:extLst>
          </p:cNvPr>
          <p:cNvCxnSpPr>
            <a:cxnSpLocks/>
          </p:cNvCxnSpPr>
          <p:nvPr/>
        </p:nvCxnSpPr>
        <p:spPr>
          <a:xfrm>
            <a:off x="10873839" y="4073236"/>
            <a:ext cx="0" cy="981694"/>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 name="TextBox 10">
            <a:extLst>
              <a:ext uri="{FF2B5EF4-FFF2-40B4-BE49-F238E27FC236}">
                <a16:creationId xmlns:a16="http://schemas.microsoft.com/office/drawing/2014/main" id="{ADC3A13B-16A3-43BC-B1A4-0F4FF8A98BB9}"/>
              </a:ext>
            </a:extLst>
          </p:cNvPr>
          <p:cNvSpPr txBox="1"/>
          <p:nvPr/>
        </p:nvSpPr>
        <p:spPr>
          <a:xfrm>
            <a:off x="9515793" y="3812960"/>
            <a:ext cx="527462" cy="307777"/>
          </a:xfrm>
          <a:prstGeom prst="rect">
            <a:avLst/>
          </a:prstGeom>
          <a:noFill/>
        </p:spPr>
        <p:txBody>
          <a:bodyPr wrap="square" rtlCol="0">
            <a:spAutoFit/>
          </a:bodyPr>
          <a:lstStyle/>
          <a:p>
            <a:r>
              <a:rPr lang="en-US" sz="600" dirty="0"/>
              <a:t>Pre-Peak</a:t>
            </a:r>
            <a:r>
              <a:rPr lang="en-US" sz="1400" dirty="0"/>
              <a:t> </a:t>
            </a:r>
          </a:p>
        </p:txBody>
      </p:sp>
      <p:sp>
        <p:nvSpPr>
          <p:cNvPr id="12" name="TextBox 11">
            <a:extLst>
              <a:ext uri="{FF2B5EF4-FFF2-40B4-BE49-F238E27FC236}">
                <a16:creationId xmlns:a16="http://schemas.microsoft.com/office/drawing/2014/main" id="{09F0CB75-09B2-4609-A985-8FC3204A3415}"/>
              </a:ext>
            </a:extLst>
          </p:cNvPr>
          <p:cNvSpPr txBox="1"/>
          <p:nvPr/>
        </p:nvSpPr>
        <p:spPr>
          <a:xfrm>
            <a:off x="10405151" y="3812959"/>
            <a:ext cx="376050" cy="307777"/>
          </a:xfrm>
          <a:prstGeom prst="rect">
            <a:avLst/>
          </a:prstGeom>
          <a:noFill/>
        </p:spPr>
        <p:txBody>
          <a:bodyPr wrap="square" rtlCol="0">
            <a:spAutoFit/>
          </a:bodyPr>
          <a:lstStyle/>
          <a:p>
            <a:r>
              <a:rPr lang="en-US" sz="600" dirty="0"/>
              <a:t>Peak</a:t>
            </a:r>
            <a:r>
              <a:rPr lang="en-US" sz="1400" dirty="0"/>
              <a:t> </a:t>
            </a:r>
          </a:p>
        </p:txBody>
      </p:sp>
      <p:sp>
        <p:nvSpPr>
          <p:cNvPr id="13" name="TextBox 12">
            <a:extLst>
              <a:ext uri="{FF2B5EF4-FFF2-40B4-BE49-F238E27FC236}">
                <a16:creationId xmlns:a16="http://schemas.microsoft.com/office/drawing/2014/main" id="{F13F5990-982E-43E8-984D-1A3D7CAFA539}"/>
              </a:ext>
            </a:extLst>
          </p:cNvPr>
          <p:cNvSpPr txBox="1"/>
          <p:nvPr/>
        </p:nvSpPr>
        <p:spPr>
          <a:xfrm>
            <a:off x="11063456" y="3812960"/>
            <a:ext cx="585847" cy="307777"/>
          </a:xfrm>
          <a:prstGeom prst="rect">
            <a:avLst/>
          </a:prstGeom>
          <a:noFill/>
        </p:spPr>
        <p:txBody>
          <a:bodyPr wrap="square" rtlCol="0">
            <a:spAutoFit/>
          </a:bodyPr>
          <a:lstStyle/>
          <a:p>
            <a:r>
              <a:rPr lang="en-US" sz="600" dirty="0"/>
              <a:t>Post-Peak</a:t>
            </a:r>
            <a:r>
              <a:rPr lang="en-US" sz="1400" dirty="0"/>
              <a:t> </a:t>
            </a:r>
          </a:p>
        </p:txBody>
      </p:sp>
      <p:cxnSp>
        <p:nvCxnSpPr>
          <p:cNvPr id="14" name="Straight Connector 13">
            <a:extLst>
              <a:ext uri="{FF2B5EF4-FFF2-40B4-BE49-F238E27FC236}">
                <a16:creationId xmlns:a16="http://schemas.microsoft.com/office/drawing/2014/main" id="{272B254E-8DC2-4296-9E8E-CE1007AF9F68}"/>
              </a:ext>
            </a:extLst>
          </p:cNvPr>
          <p:cNvCxnSpPr>
            <a:cxnSpLocks/>
          </p:cNvCxnSpPr>
          <p:nvPr/>
        </p:nvCxnSpPr>
        <p:spPr>
          <a:xfrm>
            <a:off x="10315699" y="1751610"/>
            <a:ext cx="0" cy="981694"/>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Straight Connector 14">
            <a:extLst>
              <a:ext uri="{FF2B5EF4-FFF2-40B4-BE49-F238E27FC236}">
                <a16:creationId xmlns:a16="http://schemas.microsoft.com/office/drawing/2014/main" id="{0C124CD0-C379-4B2D-84F9-B902E420A759}"/>
              </a:ext>
            </a:extLst>
          </p:cNvPr>
          <p:cNvCxnSpPr>
            <a:cxnSpLocks/>
          </p:cNvCxnSpPr>
          <p:nvPr/>
        </p:nvCxnSpPr>
        <p:spPr>
          <a:xfrm>
            <a:off x="10595156" y="1751610"/>
            <a:ext cx="0" cy="981694"/>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TextBox 15">
            <a:extLst>
              <a:ext uri="{FF2B5EF4-FFF2-40B4-BE49-F238E27FC236}">
                <a16:creationId xmlns:a16="http://schemas.microsoft.com/office/drawing/2014/main" id="{1DE36512-F236-406A-9B39-8B0D47773D46}"/>
              </a:ext>
            </a:extLst>
          </p:cNvPr>
          <p:cNvSpPr txBox="1"/>
          <p:nvPr/>
        </p:nvSpPr>
        <p:spPr>
          <a:xfrm>
            <a:off x="9515793" y="1526927"/>
            <a:ext cx="527462" cy="307777"/>
          </a:xfrm>
          <a:prstGeom prst="rect">
            <a:avLst/>
          </a:prstGeom>
          <a:noFill/>
        </p:spPr>
        <p:txBody>
          <a:bodyPr wrap="square" rtlCol="0">
            <a:spAutoFit/>
          </a:bodyPr>
          <a:lstStyle/>
          <a:p>
            <a:r>
              <a:rPr lang="en-US" sz="600" dirty="0"/>
              <a:t>Pre-Peak</a:t>
            </a:r>
            <a:r>
              <a:rPr lang="en-US" sz="1400" dirty="0"/>
              <a:t> </a:t>
            </a:r>
          </a:p>
        </p:txBody>
      </p:sp>
      <p:sp>
        <p:nvSpPr>
          <p:cNvPr id="17" name="TextBox 16">
            <a:extLst>
              <a:ext uri="{FF2B5EF4-FFF2-40B4-BE49-F238E27FC236}">
                <a16:creationId xmlns:a16="http://schemas.microsoft.com/office/drawing/2014/main" id="{CD578511-8B17-440E-AFE2-B10C9FC6E6A3}"/>
              </a:ext>
            </a:extLst>
          </p:cNvPr>
          <p:cNvSpPr txBox="1"/>
          <p:nvPr/>
        </p:nvSpPr>
        <p:spPr>
          <a:xfrm>
            <a:off x="10278094" y="1521247"/>
            <a:ext cx="376050" cy="307777"/>
          </a:xfrm>
          <a:prstGeom prst="rect">
            <a:avLst/>
          </a:prstGeom>
          <a:noFill/>
        </p:spPr>
        <p:txBody>
          <a:bodyPr wrap="square" rtlCol="0">
            <a:spAutoFit/>
          </a:bodyPr>
          <a:lstStyle/>
          <a:p>
            <a:r>
              <a:rPr lang="en-US" sz="600" dirty="0"/>
              <a:t>Peak</a:t>
            </a:r>
            <a:r>
              <a:rPr lang="en-US" sz="1400" dirty="0"/>
              <a:t> </a:t>
            </a:r>
          </a:p>
        </p:txBody>
      </p:sp>
      <p:sp>
        <p:nvSpPr>
          <p:cNvPr id="18" name="TextBox 17">
            <a:extLst>
              <a:ext uri="{FF2B5EF4-FFF2-40B4-BE49-F238E27FC236}">
                <a16:creationId xmlns:a16="http://schemas.microsoft.com/office/drawing/2014/main" id="{3759DCF8-30BB-4846-98CF-1CA2ADE36511}"/>
              </a:ext>
            </a:extLst>
          </p:cNvPr>
          <p:cNvSpPr txBox="1"/>
          <p:nvPr/>
        </p:nvSpPr>
        <p:spPr>
          <a:xfrm>
            <a:off x="10869193" y="1521247"/>
            <a:ext cx="585847" cy="307777"/>
          </a:xfrm>
          <a:prstGeom prst="rect">
            <a:avLst/>
          </a:prstGeom>
          <a:noFill/>
        </p:spPr>
        <p:txBody>
          <a:bodyPr wrap="square" rtlCol="0">
            <a:spAutoFit/>
          </a:bodyPr>
          <a:lstStyle/>
          <a:p>
            <a:r>
              <a:rPr lang="en-US" sz="600" dirty="0"/>
              <a:t>Post-Peak</a:t>
            </a:r>
            <a:r>
              <a:rPr lang="en-US" sz="1400" dirty="0"/>
              <a:t> </a:t>
            </a:r>
          </a:p>
        </p:txBody>
      </p:sp>
    </p:spTree>
    <p:extLst>
      <p:ext uri="{BB962C8B-B14F-4D97-AF65-F5344CB8AC3E}">
        <p14:creationId xmlns:p14="http://schemas.microsoft.com/office/powerpoint/2010/main" val="1495993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4202EF4-BE1D-8146-9846-177F3B789037}"/>
              </a:ext>
            </a:extLst>
          </p:cNvPr>
          <p:cNvSpPr>
            <a:spLocks noGrp="1"/>
          </p:cNvSpPr>
          <p:nvPr>
            <p:ph idx="1"/>
          </p:nvPr>
        </p:nvSpPr>
        <p:spPr>
          <a:xfrm>
            <a:off x="381000" y="1215484"/>
            <a:ext cx="11430000" cy="4648105"/>
          </a:xfrm>
        </p:spPr>
        <p:txBody>
          <a:bodyPr>
            <a:normAutofit/>
          </a:bodyPr>
          <a:lstStyle/>
          <a:p>
            <a:pPr marL="457200" lvl="1" indent="0">
              <a:buNone/>
            </a:pPr>
            <a:r>
              <a:rPr lang="en-US" dirty="0"/>
              <a:t>We will then compare past, present, and future athlete pipelines for both Team USA and other Olympic competitors through the lens of our age models</a:t>
            </a:r>
          </a:p>
          <a:p>
            <a:pPr marL="457200" lvl="1" indent="0">
              <a:buNone/>
            </a:pPr>
            <a:endParaRPr lang="en-US" dirty="0"/>
          </a:p>
          <a:p>
            <a:pPr marL="457200" lvl="1" indent="0">
              <a:buNone/>
            </a:pPr>
            <a:r>
              <a:rPr lang="en-US" dirty="0"/>
              <a:t>Each country’s number of pre-peak, peak, and post peak athletes prior to each Olympic games will be tabulated and used with known medal outcomes to train models that predict a country’s aggregate medal outcomes in the alpine disciplines</a:t>
            </a:r>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solidFill>
                <a:srgbClr val="003057"/>
              </a:solidFill>
            </a:endParaRPr>
          </a:p>
          <a:p>
            <a:pPr marL="0" indent="0">
              <a:buNone/>
            </a:pPr>
            <a:endParaRPr lang="en-US" dirty="0">
              <a:solidFill>
                <a:srgbClr val="003057"/>
              </a:solidFill>
            </a:endParaRPr>
          </a:p>
        </p:txBody>
      </p:sp>
      <p:graphicFrame>
        <p:nvGraphicFramePr>
          <p:cNvPr id="24" name="Table 24">
            <a:extLst>
              <a:ext uri="{FF2B5EF4-FFF2-40B4-BE49-F238E27FC236}">
                <a16:creationId xmlns:a16="http://schemas.microsoft.com/office/drawing/2014/main" id="{8DC24C8A-5E9F-4101-939C-16A7E1161496}"/>
              </a:ext>
            </a:extLst>
          </p:cNvPr>
          <p:cNvGraphicFramePr>
            <a:graphicFrameLocks noGrp="1"/>
          </p:cNvGraphicFramePr>
          <p:nvPr>
            <p:extLst>
              <p:ext uri="{D42A27DB-BD31-4B8C-83A1-F6EECF244321}">
                <p14:modId xmlns:p14="http://schemas.microsoft.com/office/powerpoint/2010/main" val="1176006297"/>
              </p:ext>
            </p:extLst>
          </p:nvPr>
        </p:nvGraphicFramePr>
        <p:xfrm>
          <a:off x="2778894" y="4038245"/>
          <a:ext cx="7030121" cy="1437360"/>
        </p:xfrm>
        <a:graphic>
          <a:graphicData uri="http://schemas.openxmlformats.org/drawingml/2006/table">
            <a:tbl>
              <a:tblPr>
                <a:tableStyleId>{5C22544A-7EE6-4342-B048-85BDC9FD1C3A}</a:tableStyleId>
              </a:tblPr>
              <a:tblGrid>
                <a:gridCol w="1004303">
                  <a:extLst>
                    <a:ext uri="{9D8B030D-6E8A-4147-A177-3AD203B41FA5}">
                      <a16:colId xmlns:a16="http://schemas.microsoft.com/office/drawing/2014/main" val="2714455688"/>
                    </a:ext>
                  </a:extLst>
                </a:gridCol>
                <a:gridCol w="1004303">
                  <a:extLst>
                    <a:ext uri="{9D8B030D-6E8A-4147-A177-3AD203B41FA5}">
                      <a16:colId xmlns:a16="http://schemas.microsoft.com/office/drawing/2014/main" val="1948450878"/>
                    </a:ext>
                  </a:extLst>
                </a:gridCol>
                <a:gridCol w="1004303">
                  <a:extLst>
                    <a:ext uri="{9D8B030D-6E8A-4147-A177-3AD203B41FA5}">
                      <a16:colId xmlns:a16="http://schemas.microsoft.com/office/drawing/2014/main" val="3401858531"/>
                    </a:ext>
                  </a:extLst>
                </a:gridCol>
                <a:gridCol w="1004303">
                  <a:extLst>
                    <a:ext uri="{9D8B030D-6E8A-4147-A177-3AD203B41FA5}">
                      <a16:colId xmlns:a16="http://schemas.microsoft.com/office/drawing/2014/main" val="491095462"/>
                    </a:ext>
                  </a:extLst>
                </a:gridCol>
                <a:gridCol w="1004303">
                  <a:extLst>
                    <a:ext uri="{9D8B030D-6E8A-4147-A177-3AD203B41FA5}">
                      <a16:colId xmlns:a16="http://schemas.microsoft.com/office/drawing/2014/main" val="753486204"/>
                    </a:ext>
                  </a:extLst>
                </a:gridCol>
                <a:gridCol w="1004303">
                  <a:extLst>
                    <a:ext uri="{9D8B030D-6E8A-4147-A177-3AD203B41FA5}">
                      <a16:colId xmlns:a16="http://schemas.microsoft.com/office/drawing/2014/main" val="1979237591"/>
                    </a:ext>
                  </a:extLst>
                </a:gridCol>
                <a:gridCol w="1004303">
                  <a:extLst>
                    <a:ext uri="{9D8B030D-6E8A-4147-A177-3AD203B41FA5}">
                      <a16:colId xmlns:a16="http://schemas.microsoft.com/office/drawing/2014/main" val="3939370866"/>
                    </a:ext>
                  </a:extLst>
                </a:gridCol>
              </a:tblGrid>
              <a:tr h="262240">
                <a:tc>
                  <a:txBody>
                    <a:bodyPr/>
                    <a:lstStyle/>
                    <a:p>
                      <a:r>
                        <a:rPr lang="en-US" sz="800" dirty="0"/>
                        <a:t>Country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Pre-peak Aged Athletes</a:t>
                      </a:r>
                    </a:p>
                    <a:p>
                      <a:endParaRPr lang="en-US" sz="800" dirty="0"/>
                    </a:p>
                  </a:txBody>
                  <a:tcPr/>
                </a:tc>
                <a:tc>
                  <a:txBody>
                    <a:bodyPr/>
                    <a:lstStyle/>
                    <a:p>
                      <a:r>
                        <a:rPr lang="en-US" sz="800" dirty="0"/>
                        <a:t>Peak Aged Athletes </a:t>
                      </a:r>
                    </a:p>
                  </a:txBody>
                  <a:tcPr/>
                </a:tc>
                <a:tc>
                  <a:txBody>
                    <a:bodyPr/>
                    <a:lstStyle/>
                    <a:p>
                      <a:r>
                        <a:rPr lang="en-US" sz="800" dirty="0"/>
                        <a:t>Post-Peak Aged Athletes</a:t>
                      </a:r>
                    </a:p>
                  </a:txBody>
                  <a:tcPr/>
                </a:tc>
                <a:tc>
                  <a:txBody>
                    <a:bodyPr/>
                    <a:lstStyle/>
                    <a:p>
                      <a:r>
                        <a:rPr lang="en-US" sz="800" dirty="0"/>
                        <a:t>Alpine Bronze Medals Earned/Predicted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Alpine Silver Medals Earned/Predicted</a:t>
                      </a:r>
                    </a:p>
                    <a:p>
                      <a:endParaRPr lang="en-US"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Alpine Gold Medals Earned/Predicted</a:t>
                      </a:r>
                    </a:p>
                    <a:p>
                      <a:endParaRPr lang="en-US" sz="800" dirty="0"/>
                    </a:p>
                  </a:txBody>
                  <a:tcPr/>
                </a:tc>
                <a:extLst>
                  <a:ext uri="{0D108BD9-81ED-4DB2-BD59-A6C34878D82A}">
                    <a16:rowId xmlns:a16="http://schemas.microsoft.com/office/drawing/2014/main" val="100114162"/>
                  </a:ext>
                </a:extLst>
              </a:tr>
              <a:tr h="286080">
                <a:tc>
                  <a:txBody>
                    <a:bodyPr/>
                    <a:lstStyle/>
                    <a:p>
                      <a:pPr algn="l"/>
                      <a:r>
                        <a:rPr lang="en-US" sz="1100" dirty="0"/>
                        <a:t>       USA</a:t>
                      </a:r>
                    </a:p>
                  </a:txBody>
                  <a:tcPr/>
                </a:tc>
                <a:tc>
                  <a:txBody>
                    <a:bodyPr/>
                    <a:lstStyle/>
                    <a:p>
                      <a:pPr algn="ctr"/>
                      <a:r>
                        <a:rPr lang="en-US" sz="1100" dirty="0"/>
                        <a:t>5</a:t>
                      </a:r>
                    </a:p>
                  </a:txBody>
                  <a:tcPr/>
                </a:tc>
                <a:tc>
                  <a:txBody>
                    <a:bodyPr/>
                    <a:lstStyle/>
                    <a:p>
                      <a:pPr algn="ctr"/>
                      <a:r>
                        <a:rPr lang="en-US" sz="1100" dirty="0"/>
                        <a:t>12</a:t>
                      </a:r>
                    </a:p>
                  </a:txBody>
                  <a:tcPr/>
                </a:tc>
                <a:tc>
                  <a:txBody>
                    <a:bodyPr/>
                    <a:lstStyle/>
                    <a:p>
                      <a:pPr algn="ctr"/>
                      <a:r>
                        <a:rPr lang="en-US" sz="1100" dirty="0"/>
                        <a:t>3</a:t>
                      </a:r>
                    </a:p>
                  </a:txBody>
                  <a:tcPr/>
                </a:tc>
                <a:tc>
                  <a:txBody>
                    <a:bodyPr/>
                    <a:lstStyle/>
                    <a:p>
                      <a:pPr algn="ctr"/>
                      <a:r>
                        <a:rPr lang="en-US" sz="1100" dirty="0"/>
                        <a:t>2/3</a:t>
                      </a:r>
                    </a:p>
                  </a:txBody>
                  <a:tcPr/>
                </a:tc>
                <a:tc>
                  <a:txBody>
                    <a:bodyPr/>
                    <a:lstStyle/>
                    <a:p>
                      <a:pPr algn="ctr"/>
                      <a:r>
                        <a:rPr lang="en-US" sz="1100" dirty="0"/>
                        <a:t>1/2</a:t>
                      </a:r>
                    </a:p>
                  </a:txBody>
                  <a:tcPr/>
                </a:tc>
                <a:tc>
                  <a:txBody>
                    <a:bodyPr/>
                    <a:lstStyle/>
                    <a:p>
                      <a:pPr algn="ctr"/>
                      <a:r>
                        <a:rPr lang="en-US" sz="1100" dirty="0"/>
                        <a:t>1/3</a:t>
                      </a:r>
                    </a:p>
                  </a:txBody>
                  <a:tcPr/>
                </a:tc>
                <a:extLst>
                  <a:ext uri="{0D108BD9-81ED-4DB2-BD59-A6C34878D82A}">
                    <a16:rowId xmlns:a16="http://schemas.microsoft.com/office/drawing/2014/main" val="3252749951"/>
                  </a:ext>
                </a:extLst>
              </a:tr>
              <a:tr h="286080">
                <a:tc>
                  <a:txBody>
                    <a:bodyPr/>
                    <a:lstStyle/>
                    <a:p>
                      <a:r>
                        <a:rPr lang="en-US" sz="1100" dirty="0"/>
                        <a:t>       Norway</a:t>
                      </a:r>
                    </a:p>
                  </a:txBody>
                  <a:tcPr/>
                </a:tc>
                <a:tc>
                  <a:txBody>
                    <a:bodyPr/>
                    <a:lstStyle/>
                    <a:p>
                      <a:pPr algn="ctr"/>
                      <a:r>
                        <a:rPr lang="en-US" sz="1100" dirty="0"/>
                        <a:t>3</a:t>
                      </a:r>
                    </a:p>
                  </a:txBody>
                  <a:tcPr/>
                </a:tc>
                <a:tc>
                  <a:txBody>
                    <a:bodyPr/>
                    <a:lstStyle/>
                    <a:p>
                      <a:pPr algn="ctr"/>
                      <a:r>
                        <a:rPr lang="en-US" sz="1100" dirty="0"/>
                        <a:t>7</a:t>
                      </a:r>
                    </a:p>
                  </a:txBody>
                  <a:tcPr/>
                </a:tc>
                <a:tc>
                  <a:txBody>
                    <a:bodyPr/>
                    <a:lstStyle/>
                    <a:p>
                      <a:pPr algn="ctr"/>
                      <a:r>
                        <a:rPr lang="en-US" sz="1100" dirty="0"/>
                        <a:t>0</a:t>
                      </a:r>
                    </a:p>
                  </a:txBody>
                  <a:tcPr/>
                </a:tc>
                <a:tc>
                  <a:txBody>
                    <a:bodyPr/>
                    <a:lstStyle/>
                    <a:p>
                      <a:pPr algn="ctr"/>
                      <a:r>
                        <a:rPr lang="en-US" sz="1100" dirty="0"/>
                        <a:t>2/1</a:t>
                      </a:r>
                    </a:p>
                  </a:txBody>
                  <a:tcPr/>
                </a:tc>
                <a:tc>
                  <a:txBody>
                    <a:bodyPr/>
                    <a:lstStyle/>
                    <a:p>
                      <a:pPr algn="ctr"/>
                      <a:r>
                        <a:rPr lang="en-US" sz="1100" dirty="0"/>
                        <a:t>1/0</a:t>
                      </a:r>
                    </a:p>
                  </a:txBody>
                  <a:tcPr/>
                </a:tc>
                <a:tc>
                  <a:txBody>
                    <a:bodyPr/>
                    <a:lstStyle/>
                    <a:p>
                      <a:pPr algn="ctr"/>
                      <a:r>
                        <a:rPr lang="en-US" sz="1100" dirty="0"/>
                        <a:t>1/1</a:t>
                      </a:r>
                    </a:p>
                  </a:txBody>
                  <a:tcPr/>
                </a:tc>
                <a:extLst>
                  <a:ext uri="{0D108BD9-81ED-4DB2-BD59-A6C34878D82A}">
                    <a16:rowId xmlns:a16="http://schemas.microsoft.com/office/drawing/2014/main" val="461955038"/>
                  </a:ext>
                </a:extLst>
              </a:tr>
              <a:tr h="286080">
                <a:tc>
                  <a:txBody>
                    <a:bodyPr/>
                    <a:lstStyle/>
                    <a:p>
                      <a:r>
                        <a:rPr lang="en-US" sz="1100" dirty="0"/>
                        <a:t>        China</a:t>
                      </a:r>
                    </a:p>
                  </a:txBody>
                  <a:tcPr/>
                </a:tc>
                <a:tc>
                  <a:txBody>
                    <a:bodyPr/>
                    <a:lstStyle/>
                    <a:p>
                      <a:pPr algn="ctr"/>
                      <a:r>
                        <a:rPr lang="en-US" sz="1100" dirty="0"/>
                        <a:t>0</a:t>
                      </a:r>
                    </a:p>
                  </a:txBody>
                  <a:tcPr/>
                </a:tc>
                <a:tc>
                  <a:txBody>
                    <a:bodyPr/>
                    <a:lstStyle/>
                    <a:p>
                      <a:pPr algn="ctr"/>
                      <a:r>
                        <a:rPr lang="en-US" sz="1100" dirty="0"/>
                        <a:t>2</a:t>
                      </a:r>
                    </a:p>
                  </a:txBody>
                  <a:tcPr/>
                </a:tc>
                <a:tc>
                  <a:txBody>
                    <a:bodyPr/>
                    <a:lstStyle/>
                    <a:p>
                      <a:pPr algn="ctr"/>
                      <a:r>
                        <a:rPr lang="en-US" sz="1100" dirty="0"/>
                        <a:t>0</a:t>
                      </a:r>
                    </a:p>
                  </a:txBody>
                  <a:tcPr/>
                </a:tc>
                <a:tc>
                  <a:txBody>
                    <a:bodyPr/>
                    <a:lstStyle/>
                    <a:p>
                      <a:pPr algn="ctr"/>
                      <a:r>
                        <a:rPr lang="en-US" sz="1100" dirty="0"/>
                        <a:t>0/0</a:t>
                      </a:r>
                    </a:p>
                  </a:txBody>
                  <a:tcPr/>
                </a:tc>
                <a:tc>
                  <a:txBody>
                    <a:bodyPr/>
                    <a:lstStyle/>
                    <a:p>
                      <a:pPr algn="ctr"/>
                      <a:r>
                        <a:rPr lang="en-US" sz="1100" dirty="0"/>
                        <a:t>0/0</a:t>
                      </a:r>
                    </a:p>
                  </a:txBody>
                  <a:tcPr/>
                </a:tc>
                <a:tc>
                  <a:txBody>
                    <a:bodyPr/>
                    <a:lstStyle/>
                    <a:p>
                      <a:pPr algn="ctr"/>
                      <a:r>
                        <a:rPr lang="en-US" sz="1100" dirty="0"/>
                        <a:t>0/0</a:t>
                      </a:r>
                    </a:p>
                  </a:txBody>
                  <a:tcPr/>
                </a:tc>
                <a:extLst>
                  <a:ext uri="{0D108BD9-81ED-4DB2-BD59-A6C34878D82A}">
                    <a16:rowId xmlns:a16="http://schemas.microsoft.com/office/drawing/2014/main" val="591174338"/>
                  </a:ext>
                </a:extLst>
              </a:tr>
            </a:tbl>
          </a:graphicData>
        </a:graphic>
      </p:graphicFrame>
      <p:sp>
        <p:nvSpPr>
          <p:cNvPr id="4" name="Title 3">
            <a:extLst>
              <a:ext uri="{FF2B5EF4-FFF2-40B4-BE49-F238E27FC236}">
                <a16:creationId xmlns:a16="http://schemas.microsoft.com/office/drawing/2014/main" id="{706A601C-F7AC-0C4F-9F21-FDFB1BAE4C2D}"/>
              </a:ext>
            </a:extLst>
          </p:cNvPr>
          <p:cNvSpPr>
            <a:spLocks noGrp="1"/>
          </p:cNvSpPr>
          <p:nvPr>
            <p:ph type="title"/>
          </p:nvPr>
        </p:nvSpPr>
        <p:spPr/>
        <p:txBody>
          <a:bodyPr/>
          <a:lstStyle/>
          <a:p>
            <a:r>
              <a:rPr lang="en-US" b="1" dirty="0">
                <a:latin typeface="Roboto" panose="02000000000000000000" pitchFamily="2" charset="0"/>
                <a:ea typeface="Roboto" panose="02000000000000000000" pitchFamily="2" charset="0"/>
              </a:rPr>
              <a:t>Project Overview</a:t>
            </a:r>
          </a:p>
        </p:txBody>
      </p:sp>
      <p:pic>
        <p:nvPicPr>
          <p:cNvPr id="18" name="Picture 17">
            <a:extLst>
              <a:ext uri="{FF2B5EF4-FFF2-40B4-BE49-F238E27FC236}">
                <a16:creationId xmlns:a16="http://schemas.microsoft.com/office/drawing/2014/main" id="{26274719-69CE-46CE-98FE-3EAFB26C9F03}"/>
              </a:ext>
            </a:extLst>
          </p:cNvPr>
          <p:cNvPicPr>
            <a:picLocks noChangeAspect="1"/>
          </p:cNvPicPr>
          <p:nvPr/>
        </p:nvPicPr>
        <p:blipFill>
          <a:blip r:embed="rId3"/>
          <a:stretch>
            <a:fillRect/>
          </a:stretch>
        </p:blipFill>
        <p:spPr>
          <a:xfrm>
            <a:off x="2844910" y="4966016"/>
            <a:ext cx="228279" cy="166358"/>
          </a:xfrm>
          <a:prstGeom prst="rect">
            <a:avLst/>
          </a:prstGeom>
        </p:spPr>
      </p:pic>
      <p:pic>
        <p:nvPicPr>
          <p:cNvPr id="19" name="Picture 18">
            <a:extLst>
              <a:ext uri="{FF2B5EF4-FFF2-40B4-BE49-F238E27FC236}">
                <a16:creationId xmlns:a16="http://schemas.microsoft.com/office/drawing/2014/main" id="{E4A55221-F127-4131-93A5-1AAC17EC4435}"/>
              </a:ext>
            </a:extLst>
          </p:cNvPr>
          <p:cNvPicPr>
            <a:picLocks noChangeAspect="1"/>
          </p:cNvPicPr>
          <p:nvPr/>
        </p:nvPicPr>
        <p:blipFill>
          <a:blip r:embed="rId4"/>
          <a:stretch>
            <a:fillRect/>
          </a:stretch>
        </p:blipFill>
        <p:spPr>
          <a:xfrm>
            <a:off x="2848580" y="5233635"/>
            <a:ext cx="228279" cy="166358"/>
          </a:xfrm>
          <a:prstGeom prst="rect">
            <a:avLst/>
          </a:prstGeom>
        </p:spPr>
      </p:pic>
      <p:pic>
        <p:nvPicPr>
          <p:cNvPr id="21" name="Picture 20">
            <a:extLst>
              <a:ext uri="{FF2B5EF4-FFF2-40B4-BE49-F238E27FC236}">
                <a16:creationId xmlns:a16="http://schemas.microsoft.com/office/drawing/2014/main" id="{F3E4DBAD-FCEE-4A6F-8ABD-C54456941F8D}"/>
              </a:ext>
            </a:extLst>
          </p:cNvPr>
          <p:cNvPicPr>
            <a:picLocks noChangeAspect="1"/>
          </p:cNvPicPr>
          <p:nvPr/>
        </p:nvPicPr>
        <p:blipFill>
          <a:blip r:embed="rId5"/>
          <a:stretch>
            <a:fillRect/>
          </a:stretch>
        </p:blipFill>
        <p:spPr>
          <a:xfrm>
            <a:off x="1007664" y="4177334"/>
            <a:ext cx="1214252" cy="1167550"/>
          </a:xfrm>
          <a:prstGeom prst="rect">
            <a:avLst/>
          </a:prstGeom>
        </p:spPr>
      </p:pic>
      <p:sp>
        <p:nvSpPr>
          <p:cNvPr id="22" name="TextBox 21">
            <a:extLst>
              <a:ext uri="{FF2B5EF4-FFF2-40B4-BE49-F238E27FC236}">
                <a16:creationId xmlns:a16="http://schemas.microsoft.com/office/drawing/2014/main" id="{7C0FDE9B-9D70-41FE-B865-09B9E29BEC38}"/>
              </a:ext>
            </a:extLst>
          </p:cNvPr>
          <p:cNvSpPr txBox="1"/>
          <p:nvPr/>
        </p:nvSpPr>
        <p:spPr>
          <a:xfrm>
            <a:off x="4659086" y="3620279"/>
            <a:ext cx="3016333" cy="292388"/>
          </a:xfrm>
          <a:prstGeom prst="rect">
            <a:avLst/>
          </a:prstGeom>
          <a:noFill/>
        </p:spPr>
        <p:txBody>
          <a:bodyPr wrap="square" rtlCol="0">
            <a:spAutoFit/>
          </a:bodyPr>
          <a:lstStyle/>
          <a:p>
            <a:pPr algn="ctr"/>
            <a:r>
              <a:rPr lang="en-US" sz="800" dirty="0"/>
              <a:t>Sochi 2014 Alpine Skiing Athlete Pipelines by Country </a:t>
            </a:r>
          </a:p>
          <a:p>
            <a:pPr algn="ctr"/>
            <a:r>
              <a:rPr lang="en-US" sz="500" dirty="0"/>
              <a:t>(*example data; not representative of final results which are still in progress)</a:t>
            </a:r>
          </a:p>
        </p:txBody>
      </p:sp>
      <p:pic>
        <p:nvPicPr>
          <p:cNvPr id="26" name="Picture 25">
            <a:extLst>
              <a:ext uri="{FF2B5EF4-FFF2-40B4-BE49-F238E27FC236}">
                <a16:creationId xmlns:a16="http://schemas.microsoft.com/office/drawing/2014/main" id="{ABF99BD9-5513-4292-A654-E32FC8ACDE74}"/>
              </a:ext>
            </a:extLst>
          </p:cNvPr>
          <p:cNvPicPr>
            <a:picLocks noChangeAspect="1"/>
          </p:cNvPicPr>
          <p:nvPr/>
        </p:nvPicPr>
        <p:blipFill rotWithShape="1">
          <a:blip r:embed="rId6"/>
          <a:srcRect t="26112" b="24657"/>
          <a:stretch/>
        </p:blipFill>
        <p:spPr>
          <a:xfrm>
            <a:off x="2848580" y="4677756"/>
            <a:ext cx="228279" cy="158338"/>
          </a:xfrm>
          <a:prstGeom prst="rect">
            <a:avLst/>
          </a:prstGeom>
        </p:spPr>
      </p:pic>
    </p:spTree>
    <p:extLst>
      <p:ext uri="{BB962C8B-B14F-4D97-AF65-F5344CB8AC3E}">
        <p14:creationId xmlns:p14="http://schemas.microsoft.com/office/powerpoint/2010/main" val="1515635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6A601C-F7AC-0C4F-9F21-FDFB1BAE4C2D}"/>
              </a:ext>
            </a:extLst>
          </p:cNvPr>
          <p:cNvSpPr>
            <a:spLocks noGrp="1"/>
          </p:cNvSpPr>
          <p:nvPr>
            <p:ph type="title"/>
          </p:nvPr>
        </p:nvSpPr>
        <p:spPr>
          <a:xfrm>
            <a:off x="381000" y="200722"/>
            <a:ext cx="11430000" cy="1014761"/>
          </a:xfrm>
        </p:spPr>
        <p:txBody>
          <a:bodyPr anchor="ctr">
            <a:normAutofit/>
          </a:bodyPr>
          <a:lstStyle/>
          <a:p>
            <a:r>
              <a:rPr lang="en-US" b="1" dirty="0"/>
              <a:t>Project Overview</a:t>
            </a:r>
          </a:p>
        </p:txBody>
      </p:sp>
      <p:sp>
        <p:nvSpPr>
          <p:cNvPr id="5" name="Content Placeholder 4">
            <a:extLst>
              <a:ext uri="{FF2B5EF4-FFF2-40B4-BE49-F238E27FC236}">
                <a16:creationId xmlns:a16="http://schemas.microsoft.com/office/drawing/2014/main" id="{34202EF4-BE1D-8146-9846-177F3B789037}"/>
              </a:ext>
            </a:extLst>
          </p:cNvPr>
          <p:cNvSpPr>
            <a:spLocks noGrp="1"/>
          </p:cNvSpPr>
          <p:nvPr>
            <p:ph sz="half" idx="1"/>
          </p:nvPr>
        </p:nvSpPr>
        <p:spPr>
          <a:xfrm>
            <a:off x="379048" y="1215483"/>
            <a:ext cx="5615353" cy="4225652"/>
          </a:xfrm>
        </p:spPr>
        <p:txBody>
          <a:bodyPr>
            <a:normAutofit lnSpcReduction="10000"/>
          </a:bodyPr>
          <a:lstStyle/>
          <a:p>
            <a:pPr marL="0" indent="0">
              <a:buNone/>
            </a:pPr>
            <a:r>
              <a:rPr lang="en-US" sz="1800" dirty="0"/>
              <a:t>All of this information will be aggregated and visualized for the USOPC in Tableau across three dashboards</a:t>
            </a:r>
          </a:p>
          <a:p>
            <a:endParaRPr lang="en-US" sz="1800" dirty="0"/>
          </a:p>
          <a:p>
            <a:pPr marL="0" indent="0">
              <a:buNone/>
            </a:pPr>
            <a:r>
              <a:rPr lang="en-US" sz="1800" dirty="0"/>
              <a:t>Each Dashboard will tackle a unique view of the dataset form country, event, and individual.</a:t>
            </a:r>
          </a:p>
          <a:p>
            <a:endParaRPr lang="en-US" sz="1800" dirty="0"/>
          </a:p>
          <a:p>
            <a:pPr marL="0" indent="0">
              <a:buNone/>
            </a:pPr>
            <a:r>
              <a:rPr lang="en-US" sz="1800" dirty="0"/>
              <a:t>Each view will allow user interaction allowing quicker and clearer identification of actionable insights</a:t>
            </a:r>
          </a:p>
          <a:p>
            <a:endParaRPr lang="en-US" sz="1800" dirty="0"/>
          </a:p>
          <a:p>
            <a:pPr marL="0" indent="0">
              <a:buNone/>
            </a:pPr>
            <a:r>
              <a:rPr lang="en-US" sz="1800" dirty="0"/>
              <a:t>Additional dashboard or view of model train and testing results is also likely to be contained within the tableau workbook but is not likely to be interactive or dynamic</a:t>
            </a:r>
          </a:p>
          <a:p>
            <a:pPr marL="457200" lvl="1" indent="0">
              <a:buNone/>
            </a:pPr>
            <a:endParaRPr lang="en-US" sz="1500" dirty="0"/>
          </a:p>
          <a:p>
            <a:pPr marL="0" indent="0">
              <a:buNone/>
            </a:pPr>
            <a:endParaRPr lang="en-US" sz="1500" dirty="0"/>
          </a:p>
        </p:txBody>
      </p:sp>
      <p:pic>
        <p:nvPicPr>
          <p:cNvPr id="3" name="Picture 2" descr="Graphical user interface, application&#10;&#10;Description automatically generated">
            <a:extLst>
              <a:ext uri="{FF2B5EF4-FFF2-40B4-BE49-F238E27FC236}">
                <a16:creationId xmlns:a16="http://schemas.microsoft.com/office/drawing/2014/main" id="{91CBBC3C-A524-4CF0-B95F-E06F55302882}"/>
              </a:ext>
            </a:extLst>
          </p:cNvPr>
          <p:cNvPicPr>
            <a:picLocks noChangeAspect="1"/>
          </p:cNvPicPr>
          <p:nvPr/>
        </p:nvPicPr>
        <p:blipFill>
          <a:blip r:embed="rId2"/>
          <a:stretch>
            <a:fillRect/>
          </a:stretch>
        </p:blipFill>
        <p:spPr>
          <a:xfrm>
            <a:off x="6374483" y="708102"/>
            <a:ext cx="5139784" cy="4344599"/>
          </a:xfrm>
          <a:prstGeom prst="rect">
            <a:avLst/>
          </a:prstGeom>
        </p:spPr>
      </p:pic>
    </p:spTree>
    <p:extLst>
      <p:ext uri="{BB962C8B-B14F-4D97-AF65-F5344CB8AC3E}">
        <p14:creationId xmlns:p14="http://schemas.microsoft.com/office/powerpoint/2010/main" val="1152549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b="1" dirty="0">
                <a:latin typeface="Roboto" panose="02000000000000000000" pitchFamily="2" charset="0"/>
                <a:ea typeface="Roboto" panose="02000000000000000000" pitchFamily="2" charset="0"/>
              </a:rPr>
              <a:t>Project Plan</a:t>
            </a:r>
          </a:p>
        </p:txBody>
      </p:sp>
      <p:sp>
        <p:nvSpPr>
          <p:cNvPr id="2" name="TextBox 1">
            <a:extLst>
              <a:ext uri="{FF2B5EF4-FFF2-40B4-BE49-F238E27FC236}">
                <a16:creationId xmlns:a16="http://schemas.microsoft.com/office/drawing/2014/main" id="{9A7018CE-3099-4E1D-90BF-DCB2C3B6012F}"/>
              </a:ext>
            </a:extLst>
          </p:cNvPr>
          <p:cNvSpPr txBox="1"/>
          <p:nvPr/>
        </p:nvSpPr>
        <p:spPr>
          <a:xfrm>
            <a:off x="1468582" y="1460665"/>
            <a:ext cx="8760031" cy="3139321"/>
          </a:xfrm>
          <a:prstGeom prst="rect">
            <a:avLst/>
          </a:prstGeom>
          <a:noFill/>
        </p:spPr>
        <p:txBody>
          <a:bodyPr wrap="square" rtlCol="0">
            <a:spAutoFit/>
          </a:bodyPr>
          <a:lstStyle/>
          <a:p>
            <a:r>
              <a:rPr lang="en-US" dirty="0"/>
              <a:t>Generally speaking, our project has been broken down and organized into three primary phases: Data Cleaning &amp; Aggregation, Modeling, and Visualization. Each of these key sections will be broken down into section level tasks in the following slides.</a:t>
            </a:r>
          </a:p>
          <a:p>
            <a:endParaRPr lang="en-US" dirty="0"/>
          </a:p>
          <a:p>
            <a:endParaRPr lang="en-US" dirty="0"/>
          </a:p>
          <a:p>
            <a:endParaRPr lang="en-US" dirty="0"/>
          </a:p>
          <a:p>
            <a:endParaRPr lang="en-US" dirty="0"/>
          </a:p>
          <a:p>
            <a:r>
              <a:rPr lang="en-US" dirty="0"/>
              <a:t>For a full task specific breakdown of our project plan and schedule see the linked document here:  </a:t>
            </a:r>
          </a:p>
          <a:p>
            <a:endParaRPr lang="en-US" dirty="0"/>
          </a:p>
        </p:txBody>
      </p:sp>
      <p:pic>
        <p:nvPicPr>
          <p:cNvPr id="4" name="Picture 3">
            <a:extLst>
              <a:ext uri="{FF2B5EF4-FFF2-40B4-BE49-F238E27FC236}">
                <a16:creationId xmlns:a16="http://schemas.microsoft.com/office/drawing/2014/main" id="{45E0ADDF-8698-41DD-B2EC-16D417BEE0C3}"/>
              </a:ext>
            </a:extLst>
          </p:cNvPr>
          <p:cNvPicPr>
            <a:picLocks noChangeAspect="1"/>
          </p:cNvPicPr>
          <p:nvPr/>
        </p:nvPicPr>
        <p:blipFill>
          <a:blip r:embed="rId2"/>
          <a:stretch>
            <a:fillRect/>
          </a:stretch>
        </p:blipFill>
        <p:spPr>
          <a:xfrm>
            <a:off x="3319709" y="2739812"/>
            <a:ext cx="5057775" cy="581025"/>
          </a:xfrm>
          <a:prstGeom prst="rect">
            <a:avLst/>
          </a:prstGeom>
        </p:spPr>
      </p:pic>
      <p:graphicFrame>
        <p:nvGraphicFramePr>
          <p:cNvPr id="9" name="Object 8">
            <a:extLst>
              <a:ext uri="{FF2B5EF4-FFF2-40B4-BE49-F238E27FC236}">
                <a16:creationId xmlns:a16="http://schemas.microsoft.com/office/drawing/2014/main" id="{3561258D-192C-4FC8-896F-63F5B97F2244}"/>
              </a:ext>
            </a:extLst>
          </p:cNvPr>
          <p:cNvGraphicFramePr>
            <a:graphicFrameLocks noChangeAspect="1"/>
          </p:cNvGraphicFramePr>
          <p:nvPr>
            <p:extLst>
              <p:ext uri="{D42A27DB-BD31-4B8C-83A1-F6EECF244321}">
                <p14:modId xmlns:p14="http://schemas.microsoft.com/office/powerpoint/2010/main" val="2086358648"/>
              </p:ext>
            </p:extLst>
          </p:nvPr>
        </p:nvGraphicFramePr>
        <p:xfrm>
          <a:off x="1708068" y="4590885"/>
          <a:ext cx="914400" cy="806450"/>
        </p:xfrm>
        <a:graphic>
          <a:graphicData uri="http://schemas.openxmlformats.org/presentationml/2006/ole">
            <mc:AlternateContent xmlns:mc="http://schemas.openxmlformats.org/markup-compatibility/2006">
              <mc:Choice xmlns:v="urn:schemas-microsoft-com:vml" Requires="v">
                <p:oleObj name="Document" showAsIcon="1" r:id="rId3" imgW="914400" imgH="806420" progId="Word.Document.12">
                  <p:embed/>
                </p:oleObj>
              </mc:Choice>
              <mc:Fallback>
                <p:oleObj name="Document" showAsIcon="1" r:id="rId3" imgW="914400" imgH="806420" progId="Word.Document.12">
                  <p:embed/>
                  <p:pic>
                    <p:nvPicPr>
                      <p:cNvPr id="9" name="Object 8">
                        <a:extLst>
                          <a:ext uri="{FF2B5EF4-FFF2-40B4-BE49-F238E27FC236}">
                            <a16:creationId xmlns:a16="http://schemas.microsoft.com/office/drawing/2014/main" id="{3561258D-192C-4FC8-896F-63F5B97F2244}"/>
                          </a:ext>
                        </a:extLst>
                      </p:cNvPr>
                      <p:cNvPicPr/>
                      <p:nvPr/>
                    </p:nvPicPr>
                    <p:blipFill>
                      <a:blip r:embed="rId4"/>
                      <a:stretch>
                        <a:fillRect/>
                      </a:stretch>
                    </p:blipFill>
                    <p:spPr>
                      <a:xfrm>
                        <a:off x="1708068" y="4590885"/>
                        <a:ext cx="914400" cy="806450"/>
                      </a:xfrm>
                      <a:prstGeom prst="rect">
                        <a:avLst/>
                      </a:prstGeom>
                    </p:spPr>
                  </p:pic>
                </p:oleObj>
              </mc:Fallback>
            </mc:AlternateContent>
          </a:graphicData>
        </a:graphic>
      </p:graphicFrame>
    </p:spTree>
    <p:extLst>
      <p:ext uri="{BB962C8B-B14F-4D97-AF65-F5344CB8AC3E}">
        <p14:creationId xmlns:p14="http://schemas.microsoft.com/office/powerpoint/2010/main" val="3689691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D83C39-0196-4736-AA9F-09B16212EDCF}"/>
              </a:ext>
            </a:extLst>
          </p:cNvPr>
          <p:cNvSpPr>
            <a:spLocks noGrp="1"/>
          </p:cNvSpPr>
          <p:nvPr>
            <p:ph idx="1"/>
          </p:nvPr>
        </p:nvSpPr>
        <p:spPr>
          <a:xfrm>
            <a:off x="381000" y="1215485"/>
            <a:ext cx="11430000" cy="4670718"/>
          </a:xfrm>
        </p:spPr>
        <p:txBody>
          <a:bodyPr>
            <a:normAutofit fontScale="85000" lnSpcReduction="20000"/>
          </a:bodyPr>
          <a:lstStyle/>
          <a:p>
            <a:pPr marL="457200" lvl="1" indent="0">
              <a:buNone/>
            </a:pPr>
            <a:r>
              <a:rPr lang="en-US" dirty="0"/>
              <a:t>Poor data schema design</a:t>
            </a:r>
          </a:p>
          <a:p>
            <a:pPr lvl="2"/>
            <a:r>
              <a:rPr lang="en-US" dirty="0"/>
              <a:t>Needs a redesign to conform with standard entity-relation modeling conventions</a:t>
            </a:r>
          </a:p>
          <a:p>
            <a:pPr lvl="2"/>
            <a:r>
              <a:rPr lang="en-US" dirty="0"/>
              <a:t>Athletes need to be stored independent of events</a:t>
            </a:r>
          </a:p>
          <a:p>
            <a:pPr lvl="2"/>
            <a:r>
              <a:rPr lang="en-US" dirty="0"/>
              <a:t>Age needs to be a derived feature rather than explicitly stored to prevent data consistency issues</a:t>
            </a:r>
          </a:p>
          <a:p>
            <a:pPr lvl="2"/>
            <a:r>
              <a:rPr lang="en-US" dirty="0"/>
              <a:t>Schema should be “event agnostic” and store all events together with athletes stored elsewhere</a:t>
            </a:r>
          </a:p>
          <a:p>
            <a:pPr marL="914400" lvl="1" indent="-457200">
              <a:buAutoNum type="arabicParenR"/>
            </a:pPr>
            <a:endParaRPr lang="en-US" dirty="0"/>
          </a:p>
          <a:p>
            <a:pPr marL="457200" lvl="1" indent="0">
              <a:buNone/>
            </a:pPr>
            <a:r>
              <a:rPr lang="en-US" dirty="0"/>
              <a:t>Unintuitive and inefficient variable encodings</a:t>
            </a:r>
          </a:p>
          <a:p>
            <a:pPr lvl="2"/>
            <a:r>
              <a:rPr lang="en-US" dirty="0"/>
              <a:t>Many columns contain uninformative or redundant information and need pruning </a:t>
            </a:r>
          </a:p>
          <a:p>
            <a:pPr lvl="2"/>
            <a:r>
              <a:rPr lang="en-US" dirty="0"/>
              <a:t>Encoding conventions for features need refining</a:t>
            </a:r>
          </a:p>
          <a:p>
            <a:pPr lvl="2"/>
            <a:r>
              <a:rPr lang="en-US" dirty="0"/>
              <a:t>Column names need reformatting for clearer descriptions</a:t>
            </a:r>
          </a:p>
          <a:p>
            <a:pPr lvl="2"/>
            <a:r>
              <a:rPr lang="en-US" dirty="0"/>
              <a:t>Non-uniform missing data handling</a:t>
            </a:r>
          </a:p>
          <a:p>
            <a:pPr marL="914400" lvl="2" indent="0">
              <a:buNone/>
            </a:pPr>
            <a:endParaRPr lang="en-US" dirty="0"/>
          </a:p>
          <a:p>
            <a:pPr marL="457200" lvl="1" indent="0">
              <a:buNone/>
            </a:pPr>
            <a:r>
              <a:rPr lang="en-US" dirty="0"/>
              <a:t>Large volume of missing &amp; inconsistent data</a:t>
            </a:r>
          </a:p>
          <a:p>
            <a:pPr lvl="2"/>
            <a:r>
              <a:rPr lang="en-US" dirty="0"/>
              <a:t>~17% of all rows have no associated age in days or years</a:t>
            </a:r>
          </a:p>
          <a:p>
            <a:pPr lvl="2"/>
            <a:r>
              <a:rPr lang="en-US" dirty="0"/>
              <a:t>~22% of all athletes have inconsistent ages with multiple possible birthdays. </a:t>
            </a:r>
          </a:p>
          <a:p>
            <a:pPr lvl="2"/>
            <a:r>
              <a:rPr lang="en-US" dirty="0"/>
              <a:t>Duplicated athletes with slight name variations </a:t>
            </a:r>
          </a:p>
          <a:p>
            <a:pPr lvl="2"/>
            <a:r>
              <a:rPr lang="en-US" dirty="0"/>
              <a:t>Unicode non-conforming characters cause identity conflation</a:t>
            </a:r>
          </a:p>
          <a:p>
            <a:pPr lvl="2"/>
            <a:r>
              <a:rPr lang="en-US" dirty="0"/>
              <a:t>~27% of solo athlete data are duplicate rows</a:t>
            </a:r>
          </a:p>
          <a:p>
            <a:pPr marL="457200" lvl="1" indent="0">
              <a:buNone/>
            </a:pPr>
            <a:endParaRPr lang="en-US" dirty="0"/>
          </a:p>
          <a:p>
            <a:pPr marL="457200" lvl="1" indent="0">
              <a:buNone/>
            </a:pPr>
            <a:endParaRPr lang="en-US" dirty="0"/>
          </a:p>
          <a:p>
            <a:pPr lvl="1"/>
            <a:endParaRPr lang="en-US" dirty="0"/>
          </a:p>
          <a:p>
            <a:pPr lvl="1"/>
            <a:endParaRPr lang="en-US" dirty="0"/>
          </a:p>
          <a:p>
            <a:pPr lvl="1"/>
            <a:endParaRPr lang="en-US" dirty="0"/>
          </a:p>
          <a:p>
            <a:pPr lvl="1"/>
            <a:endParaRPr lang="en-US" dirty="0"/>
          </a:p>
        </p:txBody>
      </p:sp>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b="1" dirty="0">
                <a:latin typeface="Roboto" panose="02000000000000000000" pitchFamily="2" charset="0"/>
                <a:ea typeface="Roboto" panose="02000000000000000000" pitchFamily="2" charset="0"/>
              </a:rPr>
              <a:t>Data Cleaning: Key Challenges</a:t>
            </a:r>
          </a:p>
        </p:txBody>
      </p:sp>
    </p:spTree>
    <p:extLst>
      <p:ext uri="{BB962C8B-B14F-4D97-AF65-F5344CB8AC3E}">
        <p14:creationId xmlns:p14="http://schemas.microsoft.com/office/powerpoint/2010/main" val="3995190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b="1" dirty="0">
                <a:latin typeface="Roboto" panose="02000000000000000000" pitchFamily="2" charset="0"/>
                <a:ea typeface="Roboto" panose="02000000000000000000" pitchFamily="2" charset="0"/>
              </a:rPr>
              <a:t>Data Cleaning: Process Overview</a:t>
            </a:r>
          </a:p>
        </p:txBody>
      </p:sp>
      <p:pic>
        <p:nvPicPr>
          <p:cNvPr id="3" name="Picture 2" descr="Logo&#10;&#10;Description automatically generated">
            <a:extLst>
              <a:ext uri="{FF2B5EF4-FFF2-40B4-BE49-F238E27FC236}">
                <a16:creationId xmlns:a16="http://schemas.microsoft.com/office/drawing/2014/main" id="{9D680C11-A929-4341-BAB3-14400932B700}"/>
              </a:ext>
            </a:extLst>
          </p:cNvPr>
          <p:cNvPicPr>
            <a:picLocks noChangeAspect="1"/>
          </p:cNvPicPr>
          <p:nvPr/>
        </p:nvPicPr>
        <p:blipFill>
          <a:blip r:embed="rId2"/>
          <a:stretch>
            <a:fillRect/>
          </a:stretch>
        </p:blipFill>
        <p:spPr>
          <a:xfrm>
            <a:off x="2757487" y="1862137"/>
            <a:ext cx="6677025" cy="3133725"/>
          </a:xfrm>
          <a:prstGeom prst="rect">
            <a:avLst/>
          </a:prstGeom>
        </p:spPr>
      </p:pic>
    </p:spTree>
    <p:extLst>
      <p:ext uri="{BB962C8B-B14F-4D97-AF65-F5344CB8AC3E}">
        <p14:creationId xmlns:p14="http://schemas.microsoft.com/office/powerpoint/2010/main" val="2978012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Data Cleaning: Fixing the Schema</a:t>
            </a:r>
            <a:endParaRPr lang="en-US" b="1" dirty="0">
              <a:latin typeface="Roboto" panose="02000000000000000000" pitchFamily="2" charset="0"/>
              <a:ea typeface="Roboto" panose="02000000000000000000" pitchFamily="2" charset="0"/>
            </a:endParaRP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11430000" cy="4488365"/>
          </a:xfrm>
        </p:spPr>
        <p:txBody>
          <a:bodyPr>
            <a:normAutofit lnSpcReduction="10000"/>
          </a:bodyPr>
          <a:lstStyle/>
          <a:p>
            <a:pPr marL="457200" lvl="1" indent="0">
              <a:buNone/>
            </a:pPr>
            <a:r>
              <a:rPr lang="en-US" dirty="0"/>
              <a:t>The existing data was essentially one table with all event and athlete information dumped into it. This representation was converted to a new schema for both efficiency, usability, and compatibility reasons. </a:t>
            </a:r>
          </a:p>
          <a:p>
            <a:pPr marL="457200" lvl="1" indent="0">
              <a:buNone/>
            </a:pPr>
            <a:endParaRPr lang="en-US" dirty="0"/>
          </a:p>
          <a:p>
            <a:pPr lvl="2"/>
            <a:r>
              <a:rPr lang="en-US" dirty="0"/>
              <a:t>Athlete information was moved into a separate table containing only athlete specific information such as name, birthdate, country, etc. </a:t>
            </a:r>
          </a:p>
          <a:p>
            <a:pPr lvl="2"/>
            <a:r>
              <a:rPr lang="en-US" dirty="0"/>
              <a:t>Foreign key of Athlete ID is used to connect this new table to the remaining race level data</a:t>
            </a:r>
          </a:p>
          <a:p>
            <a:pPr lvl="2"/>
            <a:r>
              <a:rPr lang="en-US" dirty="0"/>
              <a:t>Competition related data was also moved into a separate table utilizing the foreign key of Competition ID to relate to the remaining race level data</a:t>
            </a:r>
          </a:p>
          <a:p>
            <a:pPr lvl="2"/>
            <a:r>
              <a:rPr lang="en-US" dirty="0"/>
              <a:t>Team table created to more efficiently represent teams and declutter main table; linked to athlete ids as foreign key</a:t>
            </a:r>
          </a:p>
          <a:p>
            <a:pPr lvl="2"/>
            <a:r>
              <a:rPr lang="en-US" dirty="0"/>
              <a:t>Each race result and related information is still fully recovered through the unique key representation of athlete id, competition id, and event id</a:t>
            </a:r>
          </a:p>
          <a:p>
            <a:pPr lvl="2"/>
            <a:r>
              <a:rPr lang="en-US" dirty="0"/>
              <a:t>Collectively large memory and efficiency gains</a:t>
            </a:r>
          </a:p>
        </p:txBody>
      </p:sp>
    </p:spTree>
    <p:extLst>
      <p:ext uri="{BB962C8B-B14F-4D97-AF65-F5344CB8AC3E}">
        <p14:creationId xmlns:p14="http://schemas.microsoft.com/office/powerpoint/2010/main" val="3670729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Data Cleaning: General Cleaning &amp; Pruning</a:t>
            </a:r>
            <a:endParaRPr lang="en-US" b="1" dirty="0">
              <a:latin typeface="Roboto" panose="02000000000000000000" pitchFamily="2" charset="0"/>
              <a:ea typeface="Roboto" panose="02000000000000000000" pitchFamily="2" charset="0"/>
            </a:endParaRP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11430000" cy="4488365"/>
          </a:xfrm>
        </p:spPr>
        <p:txBody>
          <a:bodyPr>
            <a:normAutofit/>
          </a:bodyPr>
          <a:lstStyle/>
          <a:p>
            <a:pPr marL="457200" lvl="1" indent="0">
              <a:buNone/>
            </a:pPr>
            <a:r>
              <a:rPr lang="en-US" dirty="0"/>
              <a:t>Although relatively “clean” the dataset still had a small list of changes that would make the data representations more intuitive, approachable, and efficient. A non-exhaustive summary of these alterations includes: </a:t>
            </a:r>
          </a:p>
          <a:p>
            <a:pPr lvl="1"/>
            <a:r>
              <a:rPr lang="en-US" dirty="0"/>
              <a:t>Columns renaming and whitespace removal</a:t>
            </a:r>
          </a:p>
          <a:p>
            <a:pPr lvl="1"/>
            <a:r>
              <a:rPr lang="en-US" dirty="0"/>
              <a:t>Enforce strong data types on each column</a:t>
            </a:r>
          </a:p>
          <a:p>
            <a:pPr lvl="1"/>
            <a:r>
              <a:rPr lang="en-US" dirty="0"/>
              <a:t>Use “None” encoding for missing data</a:t>
            </a:r>
          </a:p>
          <a:p>
            <a:pPr lvl="1"/>
            <a:r>
              <a:rPr lang="en-US" dirty="0"/>
              <a:t>Use “</a:t>
            </a:r>
            <a:r>
              <a:rPr lang="en-US" dirty="0" err="1"/>
              <a:t>NaN</a:t>
            </a:r>
            <a:r>
              <a:rPr lang="en-US" dirty="0"/>
              <a:t>” for inconsistent or non-conforming entries</a:t>
            </a:r>
          </a:p>
          <a:p>
            <a:pPr lvl="1"/>
            <a:r>
              <a:rPr lang="en-US" dirty="0"/>
              <a:t>Use numeric encoding as opposed to strings where possible (ex: Tied, Gender)</a:t>
            </a:r>
          </a:p>
          <a:p>
            <a:pPr lvl="1"/>
            <a:r>
              <a:rPr lang="en-US" dirty="0"/>
              <a:t>Pruned 5 columns which were mostly blank or “</a:t>
            </a:r>
            <a:r>
              <a:rPr lang="en-US" dirty="0" err="1"/>
              <a:t>NaN</a:t>
            </a:r>
            <a:r>
              <a:rPr lang="en-US" dirty="0"/>
              <a:t>”</a:t>
            </a:r>
          </a:p>
          <a:p>
            <a:pPr lvl="1"/>
            <a:r>
              <a:rPr lang="en-US" dirty="0"/>
              <a:t>Pruned 8 columns for data redundance</a:t>
            </a:r>
          </a:p>
        </p:txBody>
      </p:sp>
    </p:spTree>
    <p:extLst>
      <p:ext uri="{BB962C8B-B14F-4D97-AF65-F5344CB8AC3E}">
        <p14:creationId xmlns:p14="http://schemas.microsoft.com/office/powerpoint/2010/main" val="3462671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Data Cleaning: Entity Recognition Tool</a:t>
            </a:r>
            <a:endParaRPr lang="en-US" b="1" dirty="0">
              <a:latin typeface="Roboto" panose="02000000000000000000" pitchFamily="2" charset="0"/>
              <a:ea typeface="Roboto" panose="02000000000000000000" pitchFamily="2" charset="0"/>
            </a:endParaRP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11430000" cy="4488365"/>
          </a:xfrm>
        </p:spPr>
        <p:txBody>
          <a:bodyPr/>
          <a:lstStyle/>
          <a:p>
            <a:pPr marL="457200" lvl="1" indent="0">
              <a:buNone/>
            </a:pPr>
            <a:r>
              <a:rPr lang="en-US" dirty="0"/>
              <a:t>Created a customized tool for athlete entity generation, recognition, and reconciliation. One of the key problems we faced in both web scraping for missing data, and in reconciling known existing inconsistent data entries was one of entity recognition. Thus, we needed a tool to solve the following problems:</a:t>
            </a:r>
            <a:endParaRPr lang="en-US" sz="1000" dirty="0"/>
          </a:p>
          <a:p>
            <a:pPr marL="457200" lvl="1" indent="0">
              <a:buNone/>
            </a:pPr>
            <a:endParaRPr lang="en-US" sz="1000" dirty="0"/>
          </a:p>
          <a:p>
            <a:pPr lvl="2"/>
            <a:r>
              <a:rPr lang="en-US" dirty="0"/>
              <a:t>Given incomplete athlete information how can we find matching entities in other public databases (possibly stored under slightly different names or conventions)?</a:t>
            </a:r>
          </a:p>
          <a:p>
            <a:pPr lvl="2"/>
            <a:r>
              <a:rPr lang="en-US" dirty="0"/>
              <a:t>Given a scale prohibitive semi-supervised scraping process how can we ensure data integrity and accurate entity matching?</a:t>
            </a:r>
          </a:p>
          <a:p>
            <a:pPr lvl="2"/>
            <a:r>
              <a:rPr lang="en-US" dirty="0"/>
              <a:t>What metrics can be used to rank entity similarity?</a:t>
            </a:r>
          </a:p>
          <a:p>
            <a:pPr lvl="2"/>
            <a:r>
              <a:rPr lang="en-US" dirty="0"/>
              <a:t>Can entity knowledge from two different sources be used to reconcile existing data integrity issues?</a:t>
            </a:r>
          </a:p>
          <a:p>
            <a:pPr lvl="2"/>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p:txBody>
      </p:sp>
    </p:spTree>
    <p:extLst>
      <p:ext uri="{BB962C8B-B14F-4D97-AF65-F5344CB8AC3E}">
        <p14:creationId xmlns:p14="http://schemas.microsoft.com/office/powerpoint/2010/main" val="2959130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986E5C8B-2923-446C-8D2A-B4E6383C14B9}"/>
              </a:ext>
            </a:extLst>
          </p:cNvPr>
          <p:cNvSpPr>
            <a:spLocks noGrp="1"/>
          </p:cNvSpPr>
          <p:nvPr>
            <p:ph idx="1"/>
          </p:nvPr>
        </p:nvSpPr>
        <p:spPr>
          <a:xfrm>
            <a:off x="381000" y="1215485"/>
            <a:ext cx="11430000" cy="4623216"/>
          </a:xfrm>
        </p:spPr>
        <p:txBody>
          <a:bodyPr>
            <a:normAutofit fontScale="77500" lnSpcReduction="20000"/>
          </a:bodyPr>
          <a:lstStyle/>
          <a:p>
            <a:pPr marL="0" indent="0">
              <a:buNone/>
            </a:pPr>
            <a:r>
              <a:rPr lang="en-US" dirty="0"/>
              <a:t>Two-part framework that together solves our entity generation and recognition problem</a:t>
            </a:r>
          </a:p>
          <a:p>
            <a:pPr marL="0" indent="0">
              <a:buNone/>
            </a:pPr>
            <a:endParaRPr lang="en-US" dirty="0"/>
          </a:p>
          <a:p>
            <a:pPr marL="0" indent="0">
              <a:buNone/>
            </a:pPr>
            <a:r>
              <a:rPr lang="en-US" dirty="0"/>
              <a:t>Generator</a:t>
            </a:r>
          </a:p>
          <a:p>
            <a:pPr lvl="1"/>
            <a:r>
              <a:rPr lang="en-US" dirty="0"/>
              <a:t>Takes as input an athletes name formatted as a string</a:t>
            </a:r>
          </a:p>
          <a:p>
            <a:pPr lvl="1"/>
            <a:r>
              <a:rPr lang="en-US" dirty="0"/>
              <a:t>Generates multiple athlete aliases using combinations of first, last, and middle (if present) names</a:t>
            </a:r>
          </a:p>
          <a:p>
            <a:pPr lvl="1"/>
            <a:r>
              <a:rPr lang="en-US" dirty="0"/>
              <a:t>Applies Unicode encoding and decoding combinations</a:t>
            </a:r>
          </a:p>
          <a:p>
            <a:pPr lvl="1"/>
            <a:r>
              <a:rPr lang="en-US" dirty="0"/>
              <a:t>Generates possible abbreviated aliases</a:t>
            </a:r>
          </a:p>
          <a:p>
            <a:pPr lvl="1"/>
            <a:r>
              <a:rPr lang="en-US" dirty="0"/>
              <a:t>Utilizes lookup dictionaries of known nicknames to generate additional aliases</a:t>
            </a:r>
          </a:p>
          <a:p>
            <a:pPr lvl="1"/>
            <a:endParaRPr lang="en-US" dirty="0"/>
          </a:p>
          <a:p>
            <a:pPr marL="0" indent="0">
              <a:buNone/>
            </a:pPr>
            <a:r>
              <a:rPr lang="en-US" dirty="0"/>
              <a:t>Discriminator:</a:t>
            </a:r>
          </a:p>
          <a:p>
            <a:pPr lvl="1"/>
            <a:r>
              <a:rPr lang="en-US" dirty="0"/>
              <a:t>Takes as input a base entity object for comparison and a list of entity objects, we wish to compare the base entry to</a:t>
            </a:r>
          </a:p>
          <a:p>
            <a:pPr lvl="1"/>
            <a:r>
              <a:rPr lang="en-US" dirty="0"/>
              <a:t>Uses a two headed modeling approach to sort and rank entity objects in terms of similarity</a:t>
            </a:r>
          </a:p>
          <a:p>
            <a:pPr lvl="1"/>
            <a:r>
              <a:rPr lang="en-US" dirty="0"/>
              <a:t>Applies learned similarity thresholds to determine if no entity is reasonably similar</a:t>
            </a:r>
          </a:p>
          <a:p>
            <a:pPr marL="457200" lvl="1" indent="0">
              <a:buNone/>
            </a:pPr>
            <a:endParaRPr lang="en-US" dirty="0"/>
          </a:p>
        </p:txBody>
      </p:sp>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Entity Recognition Tool : Overview</a:t>
            </a:r>
            <a:endParaRPr lang="en-US" b="1"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397474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Entity Recognition Tool : Discriminator</a:t>
            </a:r>
            <a:endParaRPr lang="en-US" b="1" dirty="0">
              <a:latin typeface="Roboto" panose="02000000000000000000" pitchFamily="2" charset="0"/>
              <a:ea typeface="Roboto" panose="02000000000000000000" pitchFamily="2" charset="0"/>
            </a:endParaRP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11430000" cy="4488365"/>
          </a:xfrm>
        </p:spPr>
        <p:txBody>
          <a:bodyPr/>
          <a:lstStyle/>
          <a:p>
            <a:pPr marL="457200" lvl="1" indent="0">
              <a:buNone/>
            </a:pPr>
            <a:endParaRPr lang="en-US" dirty="0"/>
          </a:p>
          <a:p>
            <a:pPr marL="457200" lvl="1" indent="0">
              <a:buNone/>
            </a:pPr>
            <a:endParaRPr lang="en-US" dirty="0"/>
          </a:p>
        </p:txBody>
      </p:sp>
      <p:sp>
        <p:nvSpPr>
          <p:cNvPr id="18" name="TextBox 17">
            <a:extLst>
              <a:ext uri="{FF2B5EF4-FFF2-40B4-BE49-F238E27FC236}">
                <a16:creationId xmlns:a16="http://schemas.microsoft.com/office/drawing/2014/main" id="{E85B2C66-03A9-4BB8-9CE3-462870538BBB}"/>
              </a:ext>
            </a:extLst>
          </p:cNvPr>
          <p:cNvSpPr txBox="1"/>
          <p:nvPr/>
        </p:nvSpPr>
        <p:spPr>
          <a:xfrm>
            <a:off x="249877" y="5146737"/>
            <a:ext cx="9012876" cy="1384995"/>
          </a:xfrm>
          <a:prstGeom prst="rect">
            <a:avLst/>
          </a:prstGeom>
          <a:noFill/>
        </p:spPr>
        <p:txBody>
          <a:bodyPr wrap="square" rtlCol="0">
            <a:spAutoFit/>
          </a:bodyPr>
          <a:lstStyle/>
          <a:p>
            <a:r>
              <a:rPr lang="en-US" sz="1200" b="1" dirty="0"/>
              <a:t>Levenshtein distance</a:t>
            </a:r>
            <a:r>
              <a:rPr lang="en-US" sz="1200" dirty="0"/>
              <a:t>: string relative distance metric that captures the minimum number of single character edits required to change one word into another</a:t>
            </a:r>
          </a:p>
          <a:p>
            <a:endParaRPr lang="en-US" sz="1200" dirty="0"/>
          </a:p>
          <a:p>
            <a:r>
              <a:rPr lang="en-US" sz="1200" b="1" dirty="0"/>
              <a:t>Facebook Resilient Word Embedding: </a:t>
            </a:r>
            <a:r>
              <a:rPr lang="en-US" sz="1200" dirty="0"/>
              <a:t>A method developed by the Facebook AI team to train and query word embeddings in a way to make them more robust to OOV tokens, mis-spellings, common nicknames and other related representation problems</a:t>
            </a:r>
          </a:p>
          <a:p>
            <a:endParaRPr lang="en-US" sz="1200" dirty="0"/>
          </a:p>
          <a:p>
            <a:r>
              <a:rPr lang="en-US" sz="1200" b="1" dirty="0"/>
              <a:t>Aggregation:</a:t>
            </a:r>
            <a:r>
              <a:rPr lang="en-US" sz="1200" dirty="0"/>
              <a:t> Each metric has its own weaknesses. However, when ensembled we arrive at a much more reliable result.</a:t>
            </a:r>
          </a:p>
        </p:txBody>
      </p:sp>
      <p:pic>
        <p:nvPicPr>
          <p:cNvPr id="22" name="Picture 21" descr="Chart&#10;&#10;Description automatically generated">
            <a:extLst>
              <a:ext uri="{FF2B5EF4-FFF2-40B4-BE49-F238E27FC236}">
                <a16:creationId xmlns:a16="http://schemas.microsoft.com/office/drawing/2014/main" id="{BDD1A500-C73D-40E7-A73B-4D52C3986695}"/>
              </a:ext>
            </a:extLst>
          </p:cNvPr>
          <p:cNvPicPr>
            <a:picLocks noChangeAspect="1"/>
          </p:cNvPicPr>
          <p:nvPr/>
        </p:nvPicPr>
        <p:blipFill>
          <a:blip r:embed="rId2"/>
          <a:stretch>
            <a:fillRect/>
          </a:stretch>
        </p:blipFill>
        <p:spPr>
          <a:xfrm>
            <a:off x="0" y="1998306"/>
            <a:ext cx="12192000" cy="2861388"/>
          </a:xfrm>
          <a:prstGeom prst="rect">
            <a:avLst/>
          </a:prstGeom>
        </p:spPr>
      </p:pic>
    </p:spTree>
    <p:extLst>
      <p:ext uri="{BB962C8B-B14F-4D97-AF65-F5344CB8AC3E}">
        <p14:creationId xmlns:p14="http://schemas.microsoft.com/office/powerpoint/2010/main" val="3906035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Data Cleaning: Scraping Missing Data</a:t>
            </a:r>
            <a:endParaRPr lang="en-US" b="1" dirty="0">
              <a:latin typeface="Roboto" panose="02000000000000000000" pitchFamily="2" charset="0"/>
              <a:ea typeface="Roboto" panose="02000000000000000000" pitchFamily="2" charset="0"/>
            </a:endParaRP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11430000" cy="4488365"/>
          </a:xfrm>
        </p:spPr>
        <p:txBody>
          <a:bodyPr/>
          <a:lstStyle/>
          <a:p>
            <a:pPr marL="457200" lvl="1" indent="0">
              <a:buNone/>
            </a:pPr>
            <a:r>
              <a:rPr lang="en-US" dirty="0"/>
              <a:t>Designed custom web scraping tool to locate and replace missing fields athlete age fields.</a:t>
            </a:r>
          </a:p>
          <a:p>
            <a:pPr lvl="2"/>
            <a:r>
              <a:rPr lang="en-US" dirty="0"/>
              <a:t>Scraper utilizes python &amp; selenium to locate athlete records hosted on three large providers of alpine skiing data (FIS &amp; Ski-DB).</a:t>
            </a:r>
          </a:p>
          <a:p>
            <a:pPr lvl="2"/>
            <a:r>
              <a:rPr lang="en-US" dirty="0"/>
              <a:t>Utilized entity generation tool to query a broad list of possible identities for each athlete and website</a:t>
            </a:r>
          </a:p>
          <a:p>
            <a:pPr lvl="2"/>
            <a:r>
              <a:rPr lang="en-US" dirty="0"/>
              <a:t>Searched over 25K total athlete aliases across three websites in just under 72 hours</a:t>
            </a:r>
          </a:p>
          <a:p>
            <a:pPr lvl="2"/>
            <a:r>
              <a:rPr lang="en-US" dirty="0"/>
              <a:t>Utilized entity recognition tool to sort and rank the similarity of scraping results with the incomplete athlete profile we were looking to augment</a:t>
            </a:r>
          </a:p>
          <a:p>
            <a:pPr lvl="2"/>
            <a:r>
              <a:rPr lang="en-US" dirty="0"/>
              <a:t>Successfully filled ~82% of all missing athlete age entries</a:t>
            </a:r>
          </a:p>
          <a:p>
            <a:pPr lvl="2"/>
            <a:endParaRPr lang="en-US" dirty="0"/>
          </a:p>
          <a:p>
            <a:pPr marL="457200" lvl="1" indent="0">
              <a:buNone/>
            </a:pPr>
            <a:endParaRPr lang="en-US" dirty="0"/>
          </a:p>
          <a:p>
            <a:pPr marL="457200" lvl="1" indent="0">
              <a:buNone/>
            </a:pPr>
            <a:endParaRPr lang="en-US" dirty="0"/>
          </a:p>
        </p:txBody>
      </p:sp>
      <p:sp>
        <p:nvSpPr>
          <p:cNvPr id="2" name="Left Brace 1">
            <a:extLst>
              <a:ext uri="{FF2B5EF4-FFF2-40B4-BE49-F238E27FC236}">
                <a16:creationId xmlns:a16="http://schemas.microsoft.com/office/drawing/2014/main" id="{5A35D9B0-C10C-464A-888D-A478BD729D72}"/>
              </a:ext>
            </a:extLst>
          </p:cNvPr>
          <p:cNvSpPr/>
          <p:nvPr/>
        </p:nvSpPr>
        <p:spPr>
          <a:xfrm>
            <a:off x="2986685" y="5186614"/>
            <a:ext cx="249381" cy="885635"/>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1EB46308-9BD6-4BBE-BCA8-61B39B4921DE}"/>
              </a:ext>
            </a:extLst>
          </p:cNvPr>
          <p:cNvSpPr txBox="1"/>
          <p:nvPr/>
        </p:nvSpPr>
        <p:spPr>
          <a:xfrm>
            <a:off x="2986685" y="4832402"/>
            <a:ext cx="1526380" cy="246221"/>
          </a:xfrm>
          <a:prstGeom prst="rect">
            <a:avLst/>
          </a:prstGeom>
          <a:noFill/>
        </p:spPr>
        <p:txBody>
          <a:bodyPr wrap="none" rtlCol="0">
            <a:spAutoFit/>
          </a:bodyPr>
          <a:lstStyle/>
          <a:p>
            <a:pPr algn="ctr"/>
            <a:r>
              <a:rPr lang="en-US" sz="1000" dirty="0"/>
              <a:t>Possible Name Aliases</a:t>
            </a:r>
          </a:p>
        </p:txBody>
      </p:sp>
      <p:sp>
        <p:nvSpPr>
          <p:cNvPr id="7" name="TextBox 6">
            <a:extLst>
              <a:ext uri="{FF2B5EF4-FFF2-40B4-BE49-F238E27FC236}">
                <a16:creationId xmlns:a16="http://schemas.microsoft.com/office/drawing/2014/main" id="{662498FE-ADBF-46E3-8EFD-6DFB208C313F}"/>
              </a:ext>
            </a:extLst>
          </p:cNvPr>
          <p:cNvSpPr txBox="1"/>
          <p:nvPr/>
        </p:nvSpPr>
        <p:spPr>
          <a:xfrm>
            <a:off x="809173" y="4832403"/>
            <a:ext cx="1484702" cy="246221"/>
          </a:xfrm>
          <a:prstGeom prst="rect">
            <a:avLst/>
          </a:prstGeom>
          <a:noFill/>
        </p:spPr>
        <p:txBody>
          <a:bodyPr wrap="none" rtlCol="0">
            <a:spAutoFit/>
          </a:bodyPr>
          <a:lstStyle/>
          <a:p>
            <a:r>
              <a:rPr lang="en-US" sz="1000" dirty="0"/>
              <a:t>Missing Entry Example</a:t>
            </a:r>
          </a:p>
        </p:txBody>
      </p:sp>
      <p:sp>
        <p:nvSpPr>
          <p:cNvPr id="9" name="TextBox 8">
            <a:extLst>
              <a:ext uri="{FF2B5EF4-FFF2-40B4-BE49-F238E27FC236}">
                <a16:creationId xmlns:a16="http://schemas.microsoft.com/office/drawing/2014/main" id="{79EB44A6-395A-42E7-A211-85C98703A932}"/>
              </a:ext>
            </a:extLst>
          </p:cNvPr>
          <p:cNvSpPr txBox="1"/>
          <p:nvPr/>
        </p:nvSpPr>
        <p:spPr>
          <a:xfrm>
            <a:off x="1056535" y="5186615"/>
            <a:ext cx="1055097" cy="830997"/>
          </a:xfrm>
          <a:prstGeom prst="rect">
            <a:avLst/>
          </a:prstGeom>
          <a:noFill/>
        </p:spPr>
        <p:txBody>
          <a:bodyPr wrap="none" rtlCol="0">
            <a:spAutoFit/>
          </a:bodyPr>
          <a:lstStyle/>
          <a:p>
            <a:r>
              <a:rPr lang="en-US" sz="800" dirty="0"/>
              <a:t>Name: Beni Führer</a:t>
            </a:r>
          </a:p>
          <a:p>
            <a:r>
              <a:rPr lang="en-US" sz="800" dirty="0"/>
              <a:t>Country: SUI</a:t>
            </a:r>
          </a:p>
          <a:p>
            <a:r>
              <a:rPr lang="en-US" sz="800" dirty="0"/>
              <a:t>Gender: Male</a:t>
            </a:r>
          </a:p>
          <a:p>
            <a:r>
              <a:rPr lang="en-US" sz="800" dirty="0"/>
              <a:t>Event: Combined</a:t>
            </a:r>
          </a:p>
          <a:p>
            <a:r>
              <a:rPr lang="en-US" sz="800" dirty="0"/>
              <a:t>Age: ?</a:t>
            </a:r>
          </a:p>
          <a:p>
            <a:r>
              <a:rPr lang="en-US" sz="800" dirty="0"/>
              <a:t>Birthdate: ?</a:t>
            </a:r>
          </a:p>
        </p:txBody>
      </p:sp>
      <p:cxnSp>
        <p:nvCxnSpPr>
          <p:cNvPr id="14" name="Straight Arrow Connector 13">
            <a:extLst>
              <a:ext uri="{FF2B5EF4-FFF2-40B4-BE49-F238E27FC236}">
                <a16:creationId xmlns:a16="http://schemas.microsoft.com/office/drawing/2014/main" id="{41E599FA-13AD-45CE-98A3-A01773FAE2B3}"/>
              </a:ext>
            </a:extLst>
          </p:cNvPr>
          <p:cNvCxnSpPr>
            <a:cxnSpLocks/>
          </p:cNvCxnSpPr>
          <p:nvPr/>
        </p:nvCxnSpPr>
        <p:spPr>
          <a:xfrm>
            <a:off x="2185351" y="5569754"/>
            <a:ext cx="75973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1151F933-A3F7-40D5-A3F5-67914D0D990D}"/>
              </a:ext>
            </a:extLst>
          </p:cNvPr>
          <p:cNvSpPr/>
          <p:nvPr/>
        </p:nvSpPr>
        <p:spPr>
          <a:xfrm>
            <a:off x="1056535" y="5186615"/>
            <a:ext cx="989979" cy="8309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B76D683-C93E-4396-B19C-E1A70DDBBC34}"/>
              </a:ext>
            </a:extLst>
          </p:cNvPr>
          <p:cNvSpPr txBox="1"/>
          <p:nvPr/>
        </p:nvSpPr>
        <p:spPr>
          <a:xfrm>
            <a:off x="3343060" y="5135552"/>
            <a:ext cx="946093" cy="1077218"/>
          </a:xfrm>
          <a:prstGeom prst="rect">
            <a:avLst/>
          </a:prstGeom>
          <a:noFill/>
        </p:spPr>
        <p:txBody>
          <a:bodyPr wrap="square" rtlCol="0">
            <a:spAutoFit/>
          </a:bodyPr>
          <a:lstStyle/>
          <a:p>
            <a:r>
              <a:rPr lang="en-US" sz="800" dirty="0"/>
              <a:t>Beni Führer</a:t>
            </a:r>
          </a:p>
          <a:p>
            <a:r>
              <a:rPr lang="en-US" sz="800" dirty="0"/>
              <a:t>Beni Fuhrer</a:t>
            </a:r>
          </a:p>
          <a:p>
            <a:r>
              <a:rPr lang="en-US" sz="800" dirty="0"/>
              <a:t>Benjamin Führer</a:t>
            </a:r>
          </a:p>
          <a:p>
            <a:r>
              <a:rPr lang="en-US" sz="800" dirty="0"/>
              <a:t>Benjamin Fuhrer</a:t>
            </a:r>
          </a:p>
          <a:p>
            <a:r>
              <a:rPr lang="en-US" sz="800" dirty="0"/>
              <a:t>Ben Führer</a:t>
            </a:r>
          </a:p>
          <a:p>
            <a:r>
              <a:rPr lang="en-US" sz="800" dirty="0"/>
              <a:t>Ben Fuhrer</a:t>
            </a:r>
          </a:p>
          <a:p>
            <a:r>
              <a:rPr lang="en-US" sz="800" dirty="0"/>
              <a:t>B. Führer</a:t>
            </a:r>
          </a:p>
          <a:p>
            <a:r>
              <a:rPr lang="en-US" sz="800" dirty="0"/>
              <a:t>…</a:t>
            </a:r>
          </a:p>
        </p:txBody>
      </p:sp>
      <p:sp>
        <p:nvSpPr>
          <p:cNvPr id="17" name="TextBox 16">
            <a:extLst>
              <a:ext uri="{FF2B5EF4-FFF2-40B4-BE49-F238E27FC236}">
                <a16:creationId xmlns:a16="http://schemas.microsoft.com/office/drawing/2014/main" id="{227D8DA3-2091-4BB2-8F50-707172D5DE39}"/>
              </a:ext>
            </a:extLst>
          </p:cNvPr>
          <p:cNvSpPr txBox="1"/>
          <p:nvPr/>
        </p:nvSpPr>
        <p:spPr>
          <a:xfrm>
            <a:off x="5269532" y="5652661"/>
            <a:ext cx="1797132" cy="461665"/>
          </a:xfrm>
          <a:prstGeom prst="rect">
            <a:avLst/>
          </a:prstGeom>
          <a:noFill/>
        </p:spPr>
        <p:txBody>
          <a:bodyPr wrap="square" rtlCol="0">
            <a:spAutoFit/>
          </a:bodyPr>
          <a:lstStyle/>
          <a:p>
            <a:pPr algn="ctr"/>
            <a:r>
              <a:rPr lang="en-US" sz="800" dirty="0"/>
              <a:t>Search each generated name using known country, event, and gender data</a:t>
            </a:r>
          </a:p>
        </p:txBody>
      </p:sp>
      <p:pic>
        <p:nvPicPr>
          <p:cNvPr id="19" name="Picture 18">
            <a:extLst>
              <a:ext uri="{FF2B5EF4-FFF2-40B4-BE49-F238E27FC236}">
                <a16:creationId xmlns:a16="http://schemas.microsoft.com/office/drawing/2014/main" id="{4486DC96-C332-4D50-A11A-7630CEE80BA2}"/>
              </a:ext>
            </a:extLst>
          </p:cNvPr>
          <p:cNvPicPr>
            <a:picLocks noChangeAspect="1"/>
          </p:cNvPicPr>
          <p:nvPr/>
        </p:nvPicPr>
        <p:blipFill>
          <a:blip r:embed="rId2"/>
          <a:stretch>
            <a:fillRect/>
          </a:stretch>
        </p:blipFill>
        <p:spPr>
          <a:xfrm>
            <a:off x="10122727" y="4633060"/>
            <a:ext cx="1461354" cy="445563"/>
          </a:xfrm>
          <a:prstGeom prst="rect">
            <a:avLst/>
          </a:prstGeom>
        </p:spPr>
      </p:pic>
      <p:pic>
        <p:nvPicPr>
          <p:cNvPr id="20" name="Picture 19">
            <a:extLst>
              <a:ext uri="{FF2B5EF4-FFF2-40B4-BE49-F238E27FC236}">
                <a16:creationId xmlns:a16="http://schemas.microsoft.com/office/drawing/2014/main" id="{EB0FDC6D-B756-413D-89A6-53EC28EB0E69}"/>
              </a:ext>
            </a:extLst>
          </p:cNvPr>
          <p:cNvPicPr>
            <a:picLocks noChangeAspect="1"/>
          </p:cNvPicPr>
          <p:nvPr/>
        </p:nvPicPr>
        <p:blipFill>
          <a:blip r:embed="rId3"/>
          <a:stretch>
            <a:fillRect/>
          </a:stretch>
        </p:blipFill>
        <p:spPr>
          <a:xfrm>
            <a:off x="5520581" y="4908530"/>
            <a:ext cx="1295332" cy="670889"/>
          </a:xfrm>
          <a:prstGeom prst="rect">
            <a:avLst/>
          </a:prstGeom>
        </p:spPr>
      </p:pic>
      <p:cxnSp>
        <p:nvCxnSpPr>
          <p:cNvPr id="23" name="Straight Arrow Connector 22">
            <a:extLst>
              <a:ext uri="{FF2B5EF4-FFF2-40B4-BE49-F238E27FC236}">
                <a16:creationId xmlns:a16="http://schemas.microsoft.com/office/drawing/2014/main" id="{77176221-84B4-4ADB-AF29-D2808BC8C529}"/>
              </a:ext>
            </a:extLst>
          </p:cNvPr>
          <p:cNvCxnSpPr/>
          <p:nvPr/>
        </p:nvCxnSpPr>
        <p:spPr>
          <a:xfrm>
            <a:off x="4425538" y="5558479"/>
            <a:ext cx="79168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1CC4C1A3-0990-4FDB-BC57-556781509ECB}"/>
              </a:ext>
            </a:extLst>
          </p:cNvPr>
          <p:cNvCxnSpPr/>
          <p:nvPr/>
        </p:nvCxnSpPr>
        <p:spPr>
          <a:xfrm>
            <a:off x="7265719" y="5510151"/>
            <a:ext cx="62939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026" name="Picture 2">
            <a:extLst>
              <a:ext uri="{FF2B5EF4-FFF2-40B4-BE49-F238E27FC236}">
                <a16:creationId xmlns:a16="http://schemas.microsoft.com/office/drawing/2014/main" id="{1093F9F6-24AF-41F9-911D-301AA4F7D91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725" t="15016" r="29873" b="43722"/>
          <a:stretch/>
        </p:blipFill>
        <p:spPr bwMode="auto">
          <a:xfrm>
            <a:off x="8534133" y="5178709"/>
            <a:ext cx="457446" cy="45590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8C5BC3A1-0FB7-45E5-A35F-FF4E2C9B499C}"/>
              </a:ext>
            </a:extLst>
          </p:cNvPr>
          <p:cNvSpPr txBox="1"/>
          <p:nvPr/>
        </p:nvSpPr>
        <p:spPr>
          <a:xfrm>
            <a:off x="9954838" y="5162240"/>
            <a:ext cx="1797132" cy="338554"/>
          </a:xfrm>
          <a:prstGeom prst="rect">
            <a:avLst/>
          </a:prstGeom>
          <a:noFill/>
        </p:spPr>
        <p:txBody>
          <a:bodyPr wrap="square" rtlCol="0">
            <a:spAutoFit/>
          </a:bodyPr>
          <a:lstStyle/>
          <a:p>
            <a:pPr algn="ctr"/>
            <a:r>
              <a:rPr lang="en-US" sz="800" dirty="0"/>
              <a:t>Entity recognition tool returns closest matching result (if any)</a:t>
            </a:r>
          </a:p>
        </p:txBody>
      </p:sp>
      <p:sp>
        <p:nvSpPr>
          <p:cNvPr id="28" name="TextBox 27">
            <a:extLst>
              <a:ext uri="{FF2B5EF4-FFF2-40B4-BE49-F238E27FC236}">
                <a16:creationId xmlns:a16="http://schemas.microsoft.com/office/drawing/2014/main" id="{E5A05944-78A3-4B25-98BE-DA9C76B2BAA6}"/>
              </a:ext>
            </a:extLst>
          </p:cNvPr>
          <p:cNvSpPr txBox="1"/>
          <p:nvPr/>
        </p:nvSpPr>
        <p:spPr>
          <a:xfrm>
            <a:off x="7902849" y="5729322"/>
            <a:ext cx="1797132" cy="461665"/>
          </a:xfrm>
          <a:prstGeom prst="rect">
            <a:avLst/>
          </a:prstGeom>
          <a:noFill/>
        </p:spPr>
        <p:txBody>
          <a:bodyPr wrap="square" rtlCol="0">
            <a:spAutoFit/>
          </a:bodyPr>
          <a:lstStyle/>
          <a:p>
            <a:pPr algn="ctr"/>
            <a:r>
              <a:rPr lang="en-US" sz="800" dirty="0"/>
              <a:t>Input scraped entities into the entity recognition tool for ranking and sorting</a:t>
            </a:r>
          </a:p>
        </p:txBody>
      </p:sp>
      <p:cxnSp>
        <p:nvCxnSpPr>
          <p:cNvPr id="29" name="Straight Arrow Connector 28">
            <a:extLst>
              <a:ext uri="{FF2B5EF4-FFF2-40B4-BE49-F238E27FC236}">
                <a16:creationId xmlns:a16="http://schemas.microsoft.com/office/drawing/2014/main" id="{1AAFCFB2-D2D4-4A05-93D2-17C0E54E104E}"/>
              </a:ext>
            </a:extLst>
          </p:cNvPr>
          <p:cNvCxnSpPr>
            <a:cxnSpLocks/>
          </p:cNvCxnSpPr>
          <p:nvPr/>
        </p:nvCxnSpPr>
        <p:spPr>
          <a:xfrm flipV="1">
            <a:off x="9195459" y="4995553"/>
            <a:ext cx="704603" cy="2504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10351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Data Cleaning: Reconciling Inconsistent Data</a:t>
            </a:r>
            <a:endParaRPr lang="en-US" b="1" dirty="0">
              <a:latin typeface="Roboto" panose="02000000000000000000" pitchFamily="2" charset="0"/>
              <a:ea typeface="Roboto" panose="02000000000000000000" pitchFamily="2" charset="0"/>
            </a:endParaRP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11430000" cy="4488365"/>
          </a:xfrm>
        </p:spPr>
        <p:txBody>
          <a:bodyPr/>
          <a:lstStyle/>
          <a:p>
            <a:pPr marL="457200" lvl="1" indent="0">
              <a:buNone/>
            </a:pPr>
            <a:r>
              <a:rPr lang="en-US" dirty="0"/>
              <a:t>In addition to merging in the web scraping results generated for the missing data fields, we also realized that we could utilize this scraping and entity recognition framework to reconcile some of the known inconsistencies within the database entries for athlete ages.</a:t>
            </a:r>
          </a:p>
          <a:p>
            <a:pPr marL="457200" lvl="1" indent="0">
              <a:buNone/>
            </a:pPr>
            <a:endParaRPr lang="en-US" dirty="0"/>
          </a:p>
          <a:p>
            <a:pPr marL="457200" lvl="1" indent="0">
              <a:buNone/>
            </a:pPr>
            <a:r>
              <a:rPr lang="en-US" dirty="0"/>
              <a:t>For each athlete we derive a birthdate:</a:t>
            </a:r>
          </a:p>
          <a:p>
            <a:pPr marL="457200" lvl="1" indent="0">
              <a:buNone/>
            </a:pPr>
            <a:r>
              <a:rPr lang="en-US" dirty="0"/>
              <a:t>	birth date = competition date – athlete age (in days)</a:t>
            </a:r>
          </a:p>
          <a:p>
            <a:pPr marL="457200" lvl="1" indent="0">
              <a:buNone/>
            </a:pPr>
            <a:endParaRPr lang="en-US" dirty="0"/>
          </a:p>
          <a:p>
            <a:pPr marL="457200" lvl="1" indent="0">
              <a:buNone/>
            </a:pPr>
            <a:r>
              <a:rPr lang="en-US" dirty="0"/>
              <a:t>If the database was consistent, each athlete would only have one birthdate. However, due to incorrect data entry hundreds of athletes had multiple possible birthdates. </a:t>
            </a:r>
          </a:p>
          <a:p>
            <a:pPr marL="457200" lvl="1" indent="0">
              <a:buNone/>
            </a:pPr>
            <a:endParaRPr lang="en-US" dirty="0"/>
          </a:p>
          <a:p>
            <a:pPr marL="457200" lvl="1" indent="0">
              <a:buNone/>
            </a:pPr>
            <a:endParaRPr lang="en-US" dirty="0"/>
          </a:p>
          <a:p>
            <a:pPr marL="457200" lvl="1" indent="0">
              <a:buNone/>
            </a:pPr>
            <a:endParaRPr lang="en-US" dirty="0"/>
          </a:p>
        </p:txBody>
      </p:sp>
    </p:spTree>
    <p:extLst>
      <p:ext uri="{BB962C8B-B14F-4D97-AF65-F5344CB8AC3E}">
        <p14:creationId xmlns:p14="http://schemas.microsoft.com/office/powerpoint/2010/main" val="2623423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Data Cleaning: Reconciling Inconsistent Data</a:t>
            </a:r>
            <a:endParaRPr lang="en-US" b="1" dirty="0">
              <a:latin typeface="Roboto" panose="02000000000000000000" pitchFamily="2" charset="0"/>
              <a:ea typeface="Roboto" panose="02000000000000000000" pitchFamily="2" charset="0"/>
            </a:endParaRP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11430000" cy="4488365"/>
          </a:xfrm>
        </p:spPr>
        <p:txBody>
          <a:bodyPr/>
          <a:lstStyle/>
          <a:p>
            <a:pPr marL="457200" lvl="1" indent="0">
              <a:buNone/>
            </a:pPr>
            <a:r>
              <a:rPr lang="en-US" dirty="0"/>
              <a:t>In order to solve this problem, we utilized our web scraper to find highly similar athlete birth dates and ages. </a:t>
            </a:r>
          </a:p>
          <a:p>
            <a:pPr marL="457200" lvl="1" indent="0">
              <a:buNone/>
            </a:pPr>
            <a:endParaRPr lang="en-US" dirty="0"/>
          </a:p>
          <a:p>
            <a:pPr lvl="2"/>
            <a:r>
              <a:rPr lang="en-US" dirty="0"/>
              <a:t>Scraped athlete birth date/age information at the event level was concatenated with the existing data</a:t>
            </a:r>
          </a:p>
          <a:p>
            <a:pPr lvl="2"/>
            <a:r>
              <a:rPr lang="en-US" dirty="0"/>
              <a:t>The frequency of each unique birthdate from the concatenated dataset was utilized to determine the resulting athlete’s reconciled birthdate</a:t>
            </a:r>
          </a:p>
          <a:p>
            <a:pPr lvl="2"/>
            <a:r>
              <a:rPr lang="en-US" dirty="0"/>
              <a:t>If the birth date values showed strong unimodality we determined the reconciled entry via the mode operator</a:t>
            </a:r>
          </a:p>
          <a:p>
            <a:pPr lvl="2"/>
            <a:r>
              <a:rPr lang="en-US" dirty="0"/>
              <a:t>If the values showed no indication of unimodality we determined the reconciled entry via the mean operator clipping outliers</a:t>
            </a:r>
          </a:p>
          <a:p>
            <a:pPr lvl="2"/>
            <a:r>
              <a:rPr lang="en-US" dirty="0"/>
              <a:t>Although non-exact, it is likely better than the data was prior. Additionally, since we are interested in viewing age as a variable in the function of performance, we need only use a non-exact reasonable estimate which an unbiased estimator accomplishes. </a:t>
            </a:r>
          </a:p>
          <a:p>
            <a:pPr marL="457200" lvl="1" indent="0">
              <a:buNone/>
            </a:pPr>
            <a:endParaRPr lang="en-US" dirty="0"/>
          </a:p>
          <a:p>
            <a:pPr marL="457200" lvl="1" indent="0">
              <a:buNone/>
            </a:pPr>
            <a:endParaRPr lang="en-US" dirty="0"/>
          </a:p>
        </p:txBody>
      </p:sp>
    </p:spTree>
    <p:extLst>
      <p:ext uri="{BB962C8B-B14F-4D97-AF65-F5344CB8AC3E}">
        <p14:creationId xmlns:p14="http://schemas.microsoft.com/office/powerpoint/2010/main" val="3671665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8F697-EAE8-4186-87E2-7CF06D4BD492}"/>
              </a:ext>
            </a:extLst>
          </p:cNvPr>
          <p:cNvSpPr>
            <a:spLocks noGrp="1"/>
          </p:cNvSpPr>
          <p:nvPr>
            <p:ph type="title"/>
          </p:nvPr>
        </p:nvSpPr>
        <p:spPr/>
        <p:txBody>
          <a:bodyPr/>
          <a:lstStyle/>
          <a:p>
            <a:r>
              <a:rPr lang="en-US" dirty="0"/>
              <a:t>Data Cleaning: Summary</a:t>
            </a:r>
          </a:p>
        </p:txBody>
      </p:sp>
      <p:sp>
        <p:nvSpPr>
          <p:cNvPr id="3" name="Content Placeholder 2">
            <a:extLst>
              <a:ext uri="{FF2B5EF4-FFF2-40B4-BE49-F238E27FC236}">
                <a16:creationId xmlns:a16="http://schemas.microsoft.com/office/drawing/2014/main" id="{232C1263-A8DB-4A4E-B1CF-C498CC563299}"/>
              </a:ext>
            </a:extLst>
          </p:cNvPr>
          <p:cNvSpPr>
            <a:spLocks noGrp="1"/>
          </p:cNvSpPr>
          <p:nvPr>
            <p:ph sz="half" idx="1"/>
          </p:nvPr>
        </p:nvSpPr>
        <p:spPr>
          <a:xfrm>
            <a:off x="379048" y="1215483"/>
            <a:ext cx="11430000" cy="4225652"/>
          </a:xfrm>
        </p:spPr>
        <p:txBody>
          <a:bodyPr>
            <a:normAutofit/>
          </a:bodyPr>
          <a:lstStyle/>
          <a:p>
            <a:pPr marL="0" indent="0">
              <a:buNone/>
            </a:pPr>
            <a:r>
              <a:rPr lang="en-US" dirty="0">
                <a:solidFill>
                  <a:srgbClr val="003057"/>
                </a:solidFill>
              </a:rPr>
              <a:t>To date, all of the data cleaning tasks mentioned have been completed. This process took much longer than anticipated as it was only when working on preliminary modeling that some of these critical data integrity issues were discovered.</a:t>
            </a:r>
          </a:p>
          <a:p>
            <a:pPr marL="0" indent="0">
              <a:buNone/>
            </a:pPr>
            <a:endParaRPr lang="en-US" dirty="0"/>
          </a:p>
          <a:p>
            <a:pPr marL="0" indent="0">
              <a:buNone/>
            </a:pPr>
            <a:r>
              <a:rPr lang="en-US" dirty="0"/>
              <a:t>Although this is subject to change as additional modeling and visualization is completed, we anticipate little or no future data cleaning in the project workflow.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217569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8F697-EAE8-4186-87E2-7CF06D4BD492}"/>
              </a:ext>
            </a:extLst>
          </p:cNvPr>
          <p:cNvSpPr>
            <a:spLocks noGrp="1"/>
          </p:cNvSpPr>
          <p:nvPr>
            <p:ph type="title"/>
          </p:nvPr>
        </p:nvSpPr>
        <p:spPr/>
        <p:txBody>
          <a:bodyPr/>
          <a:lstStyle/>
          <a:p>
            <a:r>
              <a:rPr lang="en-US" dirty="0"/>
              <a:t>Modeling: Overview</a:t>
            </a:r>
          </a:p>
        </p:txBody>
      </p:sp>
      <p:sp>
        <p:nvSpPr>
          <p:cNvPr id="3" name="Content Placeholder 2">
            <a:extLst>
              <a:ext uri="{FF2B5EF4-FFF2-40B4-BE49-F238E27FC236}">
                <a16:creationId xmlns:a16="http://schemas.microsoft.com/office/drawing/2014/main" id="{232C1263-A8DB-4A4E-B1CF-C498CC563299}"/>
              </a:ext>
            </a:extLst>
          </p:cNvPr>
          <p:cNvSpPr>
            <a:spLocks noGrp="1"/>
          </p:cNvSpPr>
          <p:nvPr>
            <p:ph sz="half" idx="1"/>
          </p:nvPr>
        </p:nvSpPr>
        <p:spPr>
          <a:xfrm>
            <a:off x="379048" y="1215483"/>
            <a:ext cx="11430000" cy="4225652"/>
          </a:xfrm>
        </p:spPr>
        <p:txBody>
          <a:bodyPr>
            <a:normAutofit/>
          </a:bodyPr>
          <a:lstStyle/>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8783BC80-7E29-4B65-B73F-A154569CD128}"/>
              </a:ext>
            </a:extLst>
          </p:cNvPr>
          <p:cNvPicPr>
            <a:picLocks noChangeAspect="1"/>
          </p:cNvPicPr>
          <p:nvPr/>
        </p:nvPicPr>
        <p:blipFill>
          <a:blip r:embed="rId2"/>
          <a:stretch>
            <a:fillRect/>
          </a:stretch>
        </p:blipFill>
        <p:spPr>
          <a:xfrm>
            <a:off x="445221" y="1268584"/>
            <a:ext cx="11297653" cy="4169980"/>
          </a:xfrm>
          <a:prstGeom prst="rect">
            <a:avLst/>
          </a:prstGeom>
        </p:spPr>
      </p:pic>
    </p:spTree>
    <p:extLst>
      <p:ext uri="{BB962C8B-B14F-4D97-AF65-F5344CB8AC3E}">
        <p14:creationId xmlns:p14="http://schemas.microsoft.com/office/powerpoint/2010/main" val="2176629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3B7AB-5327-46D2-A385-CC4528E2036D}"/>
              </a:ext>
            </a:extLst>
          </p:cNvPr>
          <p:cNvSpPr>
            <a:spLocks noGrp="1"/>
          </p:cNvSpPr>
          <p:nvPr>
            <p:ph type="title"/>
          </p:nvPr>
        </p:nvSpPr>
        <p:spPr/>
        <p:txBody>
          <a:bodyPr/>
          <a:lstStyle/>
          <a:p>
            <a:r>
              <a:rPr lang="en-US" dirty="0"/>
              <a:t>Modeling: Understanding Age</a:t>
            </a:r>
          </a:p>
        </p:txBody>
      </p:sp>
      <p:sp>
        <p:nvSpPr>
          <p:cNvPr id="3" name="Content Placeholder 2">
            <a:extLst>
              <a:ext uri="{FF2B5EF4-FFF2-40B4-BE49-F238E27FC236}">
                <a16:creationId xmlns:a16="http://schemas.microsoft.com/office/drawing/2014/main" id="{8E5933F5-FEF0-498C-A2E5-B0ABFCFDF5FC}"/>
              </a:ext>
            </a:extLst>
          </p:cNvPr>
          <p:cNvSpPr>
            <a:spLocks noGrp="1"/>
          </p:cNvSpPr>
          <p:nvPr>
            <p:ph sz="half" idx="1"/>
          </p:nvPr>
        </p:nvSpPr>
        <p:spPr>
          <a:xfrm>
            <a:off x="379048" y="1215483"/>
            <a:ext cx="8064308" cy="4741972"/>
          </a:xfrm>
        </p:spPr>
        <p:txBody>
          <a:bodyPr>
            <a:normAutofit fontScale="77500" lnSpcReduction="20000"/>
          </a:bodyPr>
          <a:lstStyle/>
          <a:p>
            <a:pPr marL="0" indent="0">
              <a:buNone/>
            </a:pPr>
            <a:r>
              <a:rPr lang="en-US" dirty="0"/>
              <a:t>In this report, our primary task is to model the impact of age (if any) and nature of this relationship on solo alpine skiing performance. With this task in mind, it makes sense to analyze the distribution of top medaling athletes vs. age.</a:t>
            </a:r>
          </a:p>
          <a:p>
            <a:pPr marL="0" indent="0">
              <a:buNone/>
            </a:pPr>
            <a:endParaRPr lang="en-US" dirty="0"/>
          </a:p>
          <a:p>
            <a:pPr lvl="1"/>
            <a:r>
              <a:rPr lang="en-US" dirty="0"/>
              <a:t>In the extreme case, if age has no impact, we expect a uniform distribution</a:t>
            </a:r>
          </a:p>
          <a:p>
            <a:pPr marL="457200" lvl="1" indent="0">
              <a:buNone/>
            </a:pPr>
            <a:endParaRPr lang="en-US" dirty="0"/>
          </a:p>
          <a:p>
            <a:pPr lvl="1"/>
            <a:r>
              <a:rPr lang="en-US" dirty="0"/>
              <a:t>If age has impact to equal and constant effect on younger and older athletes, we should expect to see a triangular distribution</a:t>
            </a:r>
          </a:p>
          <a:p>
            <a:pPr lvl="1"/>
            <a:endParaRPr lang="en-US" dirty="0"/>
          </a:p>
          <a:p>
            <a:pPr lvl="1"/>
            <a:r>
              <a:rPr lang="en-US" dirty="0"/>
              <a:t>If age has as symmetric, but non-constant impact on younger and older adults, we should expect to see a gaussian-like distribution</a:t>
            </a:r>
          </a:p>
          <a:p>
            <a:pPr marL="457200" lvl="1" indent="0">
              <a:buNone/>
            </a:pPr>
            <a:endParaRPr lang="en-US" dirty="0"/>
          </a:p>
          <a:p>
            <a:pPr lvl="1"/>
            <a:r>
              <a:rPr lang="en-US" dirty="0"/>
              <a:t>If age has as non-symmetric and non-constant impact on younger and older adults, we should expect to see a distribution demonstrating skewness or kurtosis</a:t>
            </a:r>
          </a:p>
          <a:p>
            <a:pPr marL="457200" lvl="1" indent="0">
              <a:buNone/>
            </a:pPr>
            <a:endParaRPr lang="en-US" dirty="0"/>
          </a:p>
        </p:txBody>
      </p:sp>
      <p:pic>
        <p:nvPicPr>
          <p:cNvPr id="6" name="Picture 5" descr="Chart, histogram&#10;&#10;Description automatically generated">
            <a:extLst>
              <a:ext uri="{FF2B5EF4-FFF2-40B4-BE49-F238E27FC236}">
                <a16:creationId xmlns:a16="http://schemas.microsoft.com/office/drawing/2014/main" id="{2705945A-D06B-4297-AE78-C8847B5FDF4D}"/>
              </a:ext>
            </a:extLst>
          </p:cNvPr>
          <p:cNvPicPr>
            <a:picLocks noChangeAspect="1"/>
          </p:cNvPicPr>
          <p:nvPr/>
        </p:nvPicPr>
        <p:blipFill>
          <a:blip r:embed="rId2"/>
          <a:stretch>
            <a:fillRect/>
          </a:stretch>
        </p:blipFill>
        <p:spPr>
          <a:xfrm>
            <a:off x="8985159" y="1215483"/>
            <a:ext cx="2468633" cy="1645755"/>
          </a:xfrm>
          <a:prstGeom prst="rect">
            <a:avLst/>
          </a:prstGeom>
        </p:spPr>
      </p:pic>
      <p:sp>
        <p:nvSpPr>
          <p:cNvPr id="7" name="TextBox 6">
            <a:extLst>
              <a:ext uri="{FF2B5EF4-FFF2-40B4-BE49-F238E27FC236}">
                <a16:creationId xmlns:a16="http://schemas.microsoft.com/office/drawing/2014/main" id="{BC2705DD-3478-4E43-BD9A-80F4D7EB7CE9}"/>
              </a:ext>
            </a:extLst>
          </p:cNvPr>
          <p:cNvSpPr txBox="1"/>
          <p:nvPr/>
        </p:nvSpPr>
        <p:spPr>
          <a:xfrm>
            <a:off x="9222992" y="1076983"/>
            <a:ext cx="1992965" cy="276999"/>
          </a:xfrm>
          <a:prstGeom prst="rect">
            <a:avLst/>
          </a:prstGeom>
          <a:noFill/>
        </p:spPr>
        <p:txBody>
          <a:bodyPr wrap="square" rtlCol="0">
            <a:spAutoFit/>
          </a:bodyPr>
          <a:lstStyle/>
          <a:p>
            <a:pPr algn="ctr"/>
            <a:r>
              <a:rPr lang="en-US" sz="1200" dirty="0"/>
              <a:t>Uniform</a:t>
            </a:r>
          </a:p>
        </p:txBody>
      </p:sp>
      <p:pic>
        <p:nvPicPr>
          <p:cNvPr id="9" name="Picture 8" descr="Chart, line chart&#10;&#10;Description automatically generated">
            <a:extLst>
              <a:ext uri="{FF2B5EF4-FFF2-40B4-BE49-F238E27FC236}">
                <a16:creationId xmlns:a16="http://schemas.microsoft.com/office/drawing/2014/main" id="{F2BF4F2C-F336-404A-96C4-062CA303FF92}"/>
              </a:ext>
            </a:extLst>
          </p:cNvPr>
          <p:cNvPicPr>
            <a:picLocks noChangeAspect="1"/>
          </p:cNvPicPr>
          <p:nvPr/>
        </p:nvPicPr>
        <p:blipFill>
          <a:blip r:embed="rId3"/>
          <a:stretch>
            <a:fillRect/>
          </a:stretch>
        </p:blipFill>
        <p:spPr>
          <a:xfrm>
            <a:off x="8985157" y="3535233"/>
            <a:ext cx="2468633" cy="1645755"/>
          </a:xfrm>
          <a:prstGeom prst="rect">
            <a:avLst/>
          </a:prstGeom>
        </p:spPr>
      </p:pic>
      <p:sp>
        <p:nvSpPr>
          <p:cNvPr id="10" name="TextBox 9">
            <a:extLst>
              <a:ext uri="{FF2B5EF4-FFF2-40B4-BE49-F238E27FC236}">
                <a16:creationId xmlns:a16="http://schemas.microsoft.com/office/drawing/2014/main" id="{758EF8C1-476E-4B1D-9CB4-E147CD84BD8D}"/>
              </a:ext>
            </a:extLst>
          </p:cNvPr>
          <p:cNvSpPr txBox="1"/>
          <p:nvPr/>
        </p:nvSpPr>
        <p:spPr>
          <a:xfrm>
            <a:off x="9222990" y="3396733"/>
            <a:ext cx="1992965" cy="276999"/>
          </a:xfrm>
          <a:prstGeom prst="rect">
            <a:avLst/>
          </a:prstGeom>
          <a:noFill/>
        </p:spPr>
        <p:txBody>
          <a:bodyPr wrap="square" rtlCol="0">
            <a:spAutoFit/>
          </a:bodyPr>
          <a:lstStyle/>
          <a:p>
            <a:pPr algn="ctr"/>
            <a:r>
              <a:rPr lang="en-US" sz="1200" dirty="0"/>
              <a:t>Gaussian</a:t>
            </a:r>
          </a:p>
        </p:txBody>
      </p:sp>
    </p:spTree>
    <p:extLst>
      <p:ext uri="{BB962C8B-B14F-4D97-AF65-F5344CB8AC3E}">
        <p14:creationId xmlns:p14="http://schemas.microsoft.com/office/powerpoint/2010/main" val="1481471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3B7AB-5327-46D2-A385-CC4528E2036D}"/>
              </a:ext>
            </a:extLst>
          </p:cNvPr>
          <p:cNvSpPr>
            <a:spLocks noGrp="1"/>
          </p:cNvSpPr>
          <p:nvPr>
            <p:ph type="title"/>
          </p:nvPr>
        </p:nvSpPr>
        <p:spPr/>
        <p:txBody>
          <a:bodyPr/>
          <a:lstStyle/>
          <a:p>
            <a:r>
              <a:rPr lang="en-US" dirty="0"/>
              <a:t>Modeling: Understanding Age</a:t>
            </a:r>
          </a:p>
        </p:txBody>
      </p:sp>
      <p:sp>
        <p:nvSpPr>
          <p:cNvPr id="3" name="Content Placeholder 2">
            <a:extLst>
              <a:ext uri="{FF2B5EF4-FFF2-40B4-BE49-F238E27FC236}">
                <a16:creationId xmlns:a16="http://schemas.microsoft.com/office/drawing/2014/main" id="{8E5933F5-FEF0-498C-A2E5-B0ABFCFDF5FC}"/>
              </a:ext>
            </a:extLst>
          </p:cNvPr>
          <p:cNvSpPr>
            <a:spLocks noGrp="1"/>
          </p:cNvSpPr>
          <p:nvPr>
            <p:ph sz="half" idx="1"/>
          </p:nvPr>
        </p:nvSpPr>
        <p:spPr>
          <a:xfrm>
            <a:off x="379048" y="1215483"/>
            <a:ext cx="6742969" cy="4741972"/>
          </a:xfrm>
        </p:spPr>
        <p:txBody>
          <a:bodyPr>
            <a:normAutofit fontScale="92500" lnSpcReduction="10000"/>
          </a:bodyPr>
          <a:lstStyle/>
          <a:p>
            <a:pPr marL="0" indent="0">
              <a:buNone/>
            </a:pPr>
            <a:r>
              <a:rPr lang="en-US" dirty="0"/>
              <a:t>We can use several statistical test along with distributional parameters to recognize pre, post, and peak age segments within the age/achievement distribution.</a:t>
            </a:r>
          </a:p>
          <a:p>
            <a:pPr marL="0" indent="0">
              <a:buNone/>
            </a:pPr>
            <a:endParaRPr lang="en-US" dirty="0"/>
          </a:p>
          <a:p>
            <a:pPr lvl="1"/>
            <a:r>
              <a:rPr lang="en-US" dirty="0"/>
              <a:t>Modality: Serves as an indicator of peak (or lack thereof) age range</a:t>
            </a:r>
          </a:p>
          <a:p>
            <a:pPr lvl="1"/>
            <a:r>
              <a:rPr lang="en-US" dirty="0"/>
              <a:t>Mean: Serves as our midpoint for peak age estimation</a:t>
            </a:r>
          </a:p>
          <a:p>
            <a:pPr lvl="1"/>
            <a:r>
              <a:rPr lang="en-US" dirty="0"/>
              <a:t>Skewness &amp; Kurtosis: metrics which inform us about the skewness and “</a:t>
            </a:r>
            <a:r>
              <a:rPr lang="en-US" dirty="0" err="1"/>
              <a:t>tailedness</a:t>
            </a:r>
            <a:r>
              <a:rPr lang="en-US" dirty="0"/>
              <a:t>” of the distribution respectively </a:t>
            </a:r>
          </a:p>
          <a:p>
            <a:pPr lvl="1"/>
            <a:r>
              <a:rPr lang="en-US" dirty="0"/>
              <a:t>Standard deviation: metric to inform our spread of observations</a:t>
            </a:r>
          </a:p>
          <a:p>
            <a:pPr marL="457200" lvl="1" indent="0">
              <a:buNone/>
            </a:pPr>
            <a:endParaRPr lang="en-US" dirty="0"/>
          </a:p>
        </p:txBody>
      </p:sp>
      <p:pic>
        <p:nvPicPr>
          <p:cNvPr id="4" name="Picture 3">
            <a:extLst>
              <a:ext uri="{FF2B5EF4-FFF2-40B4-BE49-F238E27FC236}">
                <a16:creationId xmlns:a16="http://schemas.microsoft.com/office/drawing/2014/main" id="{CCC798B3-23C1-45E4-BB94-4689C9023A69}"/>
              </a:ext>
            </a:extLst>
          </p:cNvPr>
          <p:cNvPicPr>
            <a:picLocks noChangeAspect="1"/>
          </p:cNvPicPr>
          <p:nvPr/>
        </p:nvPicPr>
        <p:blipFill>
          <a:blip r:embed="rId2"/>
          <a:stretch>
            <a:fillRect/>
          </a:stretch>
        </p:blipFill>
        <p:spPr>
          <a:xfrm>
            <a:off x="7782764" y="3586469"/>
            <a:ext cx="3901788" cy="1981683"/>
          </a:xfrm>
          <a:prstGeom prst="rect">
            <a:avLst/>
          </a:prstGeom>
        </p:spPr>
      </p:pic>
      <p:pic>
        <p:nvPicPr>
          <p:cNvPr id="5" name="Picture 4">
            <a:extLst>
              <a:ext uri="{FF2B5EF4-FFF2-40B4-BE49-F238E27FC236}">
                <a16:creationId xmlns:a16="http://schemas.microsoft.com/office/drawing/2014/main" id="{8F26C1BD-AD8E-4E8E-A1FD-BC9957464A4F}"/>
              </a:ext>
            </a:extLst>
          </p:cNvPr>
          <p:cNvPicPr>
            <a:picLocks noChangeAspect="1"/>
          </p:cNvPicPr>
          <p:nvPr/>
        </p:nvPicPr>
        <p:blipFill rotWithShape="1">
          <a:blip r:embed="rId3"/>
          <a:srcRect b="14721"/>
          <a:stretch/>
        </p:blipFill>
        <p:spPr>
          <a:xfrm>
            <a:off x="8304458" y="1391858"/>
            <a:ext cx="2324100" cy="1673314"/>
          </a:xfrm>
          <a:prstGeom prst="rect">
            <a:avLst/>
          </a:prstGeom>
        </p:spPr>
      </p:pic>
    </p:spTree>
    <p:extLst>
      <p:ext uri="{BB962C8B-B14F-4D97-AF65-F5344CB8AC3E}">
        <p14:creationId xmlns:p14="http://schemas.microsoft.com/office/powerpoint/2010/main" val="1806683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Modeling: Achievement Histograms</a:t>
            </a:r>
            <a:endParaRPr lang="en-US" b="1" dirty="0">
              <a:latin typeface="Roboto" panose="02000000000000000000" pitchFamily="2" charset="0"/>
              <a:ea typeface="Roboto" panose="02000000000000000000" pitchFamily="2" charset="0"/>
            </a:endParaRP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8651383" cy="4488365"/>
          </a:xfrm>
        </p:spPr>
        <p:txBody>
          <a:bodyPr>
            <a:normAutofit fontScale="70000" lnSpcReduction="20000"/>
          </a:bodyPr>
          <a:lstStyle/>
          <a:p>
            <a:pPr marL="0" indent="0">
              <a:buNone/>
            </a:pPr>
            <a:r>
              <a:rPr lang="en-US" dirty="0">
                <a:solidFill>
                  <a:srgbClr val="003057"/>
                </a:solidFill>
              </a:rPr>
              <a:t>Since we </a:t>
            </a:r>
            <a:r>
              <a:rPr lang="en-US" dirty="0"/>
              <a:t>do not know the data’s inherent distribution, we must learn it from the data using non-parametric methods. </a:t>
            </a:r>
            <a:r>
              <a:rPr lang="en-US" dirty="0">
                <a:solidFill>
                  <a:srgbClr val="003057"/>
                </a:solidFill>
              </a:rPr>
              <a:t>One of the simplest and most effective ways to accomplish this is through the lens of frequency histograms. </a:t>
            </a:r>
            <a:r>
              <a:rPr lang="en-US" dirty="0"/>
              <a:t>This simple plotting approach yields a clear distributional approximation, but there are several issues with this simple approach:</a:t>
            </a:r>
          </a:p>
          <a:p>
            <a:pPr marL="0" indent="0">
              <a:buNone/>
            </a:pPr>
            <a:endParaRPr lang="en-US" dirty="0">
              <a:solidFill>
                <a:srgbClr val="003057"/>
              </a:solidFill>
            </a:endParaRPr>
          </a:p>
          <a:p>
            <a:pPr lvl="1"/>
            <a:r>
              <a:rPr lang="en-US" dirty="0"/>
              <a:t>Discretization of the continuous variable age is not ideal</a:t>
            </a:r>
          </a:p>
          <a:p>
            <a:pPr lvl="1"/>
            <a:r>
              <a:rPr lang="en-US" dirty="0"/>
              <a:t>Choice of binning hyperparameter introduces complication</a:t>
            </a:r>
          </a:p>
          <a:p>
            <a:pPr lvl="1"/>
            <a:r>
              <a:rPr lang="en-US" dirty="0"/>
              <a:t>Integration and sampling possible, but loses a lot of information depending on the number of bins selected and where starting bin edges are placed</a:t>
            </a:r>
          </a:p>
          <a:p>
            <a:pPr marL="0" indent="0">
              <a:buNone/>
            </a:pPr>
            <a:endParaRPr lang="en-US" dirty="0">
              <a:solidFill>
                <a:srgbClr val="003057"/>
              </a:solidFill>
            </a:endParaRPr>
          </a:p>
          <a:p>
            <a:pPr marL="0" indent="0">
              <a:buNone/>
            </a:pPr>
            <a:r>
              <a:rPr lang="en-US" dirty="0"/>
              <a:t>Is there a way we can improve this analysis approach with these problems in mind?</a:t>
            </a:r>
          </a:p>
          <a:p>
            <a:pPr marL="0" indent="0">
              <a:buNone/>
            </a:pPr>
            <a:endParaRPr lang="en-US" dirty="0"/>
          </a:p>
          <a:p>
            <a:pPr marL="0" indent="0">
              <a:buNone/>
            </a:pPr>
            <a:r>
              <a:rPr lang="en-US" dirty="0"/>
              <a:t>Yes, Kernel density estimation can be thought of as the continuous generalization of these histograms, and gain several advantages to standard histogram modeling and inspection</a:t>
            </a:r>
            <a:endParaRPr lang="en-US" dirty="0">
              <a:solidFill>
                <a:srgbClr val="003057"/>
              </a:solidFill>
            </a:endParaRPr>
          </a:p>
        </p:txBody>
      </p:sp>
      <p:pic>
        <p:nvPicPr>
          <p:cNvPr id="3" name="Picture 2">
            <a:extLst>
              <a:ext uri="{FF2B5EF4-FFF2-40B4-BE49-F238E27FC236}">
                <a16:creationId xmlns:a16="http://schemas.microsoft.com/office/drawing/2014/main" id="{9AE715D5-74A6-4045-B632-F37EA91A1D67}"/>
              </a:ext>
            </a:extLst>
          </p:cNvPr>
          <p:cNvPicPr>
            <a:picLocks noChangeAspect="1"/>
          </p:cNvPicPr>
          <p:nvPr/>
        </p:nvPicPr>
        <p:blipFill>
          <a:blip r:embed="rId2"/>
          <a:stretch>
            <a:fillRect/>
          </a:stretch>
        </p:blipFill>
        <p:spPr>
          <a:xfrm>
            <a:off x="9227542" y="3276534"/>
            <a:ext cx="2380122" cy="1687797"/>
          </a:xfrm>
          <a:prstGeom prst="rect">
            <a:avLst/>
          </a:prstGeom>
        </p:spPr>
      </p:pic>
      <p:pic>
        <p:nvPicPr>
          <p:cNvPr id="7" name="Picture 6">
            <a:extLst>
              <a:ext uri="{FF2B5EF4-FFF2-40B4-BE49-F238E27FC236}">
                <a16:creationId xmlns:a16="http://schemas.microsoft.com/office/drawing/2014/main" id="{29237A15-0B09-45E7-993A-874A1AC96322}"/>
              </a:ext>
            </a:extLst>
          </p:cNvPr>
          <p:cNvPicPr>
            <a:picLocks noChangeAspect="1"/>
          </p:cNvPicPr>
          <p:nvPr/>
        </p:nvPicPr>
        <p:blipFill>
          <a:blip r:embed="rId3"/>
          <a:stretch>
            <a:fillRect/>
          </a:stretch>
        </p:blipFill>
        <p:spPr>
          <a:xfrm>
            <a:off x="9227542" y="1281480"/>
            <a:ext cx="2399319" cy="1687797"/>
          </a:xfrm>
          <a:prstGeom prst="rect">
            <a:avLst/>
          </a:prstGeom>
        </p:spPr>
      </p:pic>
    </p:spTree>
    <p:extLst>
      <p:ext uri="{BB962C8B-B14F-4D97-AF65-F5344CB8AC3E}">
        <p14:creationId xmlns:p14="http://schemas.microsoft.com/office/powerpoint/2010/main" val="237600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Modeling: Kernel Density Estimation</a:t>
            </a:r>
            <a:endParaRPr lang="en-US" b="1" dirty="0">
              <a:latin typeface="Roboto" panose="02000000000000000000" pitchFamily="2" charset="0"/>
              <a:ea typeface="Roboto" panose="02000000000000000000" pitchFamily="2" charset="0"/>
            </a:endParaRP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11430000" cy="4488365"/>
          </a:xfrm>
        </p:spPr>
        <p:txBody>
          <a:bodyPr>
            <a:normAutofit/>
          </a:bodyPr>
          <a:lstStyle/>
          <a:p>
            <a:pPr marL="0" indent="0">
              <a:buNone/>
            </a:pPr>
            <a:r>
              <a:rPr lang="en-US" dirty="0"/>
              <a:t>Kernel density estimation can be thought of as the continuous generalization of histograms and gain several advantages to standard histogram modeling and inspection.</a:t>
            </a:r>
          </a:p>
          <a:p>
            <a:pPr lvl="1"/>
            <a:r>
              <a:rPr lang="en-US" dirty="0"/>
              <a:t>Continuous age variable can be modeled by continuous distribution</a:t>
            </a:r>
          </a:p>
          <a:p>
            <a:pPr lvl="1"/>
            <a:r>
              <a:rPr lang="en-US" dirty="0">
                <a:solidFill>
                  <a:srgbClr val="003057"/>
                </a:solidFill>
              </a:rPr>
              <a:t>Non-parametric </a:t>
            </a:r>
            <a:r>
              <a:rPr lang="en-US" dirty="0"/>
              <a:t>method enables flexible distributional fitting</a:t>
            </a:r>
          </a:p>
          <a:p>
            <a:pPr lvl="1"/>
            <a:r>
              <a:rPr lang="en-US" dirty="0">
                <a:solidFill>
                  <a:srgbClr val="003057"/>
                </a:solidFill>
              </a:rPr>
              <a:t>Bandwidth parameter adds complication, but Silverman’s method is near optimal and will be used to save a hyperparameter search</a:t>
            </a:r>
          </a:p>
          <a:p>
            <a:pPr lvl="1"/>
            <a:r>
              <a:rPr lang="en-US" dirty="0">
                <a:solidFill>
                  <a:srgbClr val="003057"/>
                </a:solidFill>
              </a:rPr>
              <a:t>Easy to generate data samples from the fitted distribution</a:t>
            </a:r>
          </a:p>
          <a:p>
            <a:pPr lvl="1"/>
            <a:r>
              <a:rPr lang="en-US" dirty="0"/>
              <a:t>Can easily integrate with respect to the fitted density function to derive pre, post, and peak ages.</a:t>
            </a:r>
          </a:p>
          <a:p>
            <a:pPr lvl="1"/>
            <a:r>
              <a:rPr lang="en-US" dirty="0">
                <a:solidFill>
                  <a:srgbClr val="003057"/>
                </a:solidFill>
              </a:rPr>
              <a:t>Allows us to conduct statistical tests on the fit distribution.</a:t>
            </a:r>
          </a:p>
          <a:p>
            <a:pPr lvl="1"/>
            <a:endParaRPr lang="en-US" dirty="0">
              <a:solidFill>
                <a:srgbClr val="003057"/>
              </a:solidFill>
            </a:endParaRPr>
          </a:p>
        </p:txBody>
      </p:sp>
    </p:spTree>
    <p:extLst>
      <p:ext uri="{BB962C8B-B14F-4D97-AF65-F5344CB8AC3E}">
        <p14:creationId xmlns:p14="http://schemas.microsoft.com/office/powerpoint/2010/main" val="393934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Modeling: KDE &amp; Statistical Testing (in-progress)</a:t>
            </a:r>
            <a:endParaRPr lang="en-US" b="1" dirty="0">
              <a:latin typeface="Roboto" panose="02000000000000000000" pitchFamily="2" charset="0"/>
              <a:ea typeface="Roboto" panose="02000000000000000000" pitchFamily="2" charset="0"/>
            </a:endParaRP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11430000" cy="4488365"/>
          </a:xfrm>
        </p:spPr>
        <p:txBody>
          <a:bodyPr>
            <a:normAutofit fontScale="70000" lnSpcReduction="20000"/>
          </a:bodyPr>
          <a:lstStyle/>
          <a:p>
            <a:pPr marL="0" indent="0">
              <a:buNone/>
            </a:pPr>
            <a:r>
              <a:rPr lang="en-US" dirty="0"/>
              <a:t>Kernel density estimation alone cannot provide a definitive answer to the question of whether athlete age plays a significant role in Olympic medaling.</a:t>
            </a:r>
          </a:p>
          <a:p>
            <a:pPr marL="0" indent="0">
              <a:buNone/>
            </a:pPr>
            <a:r>
              <a:rPr lang="en-US" dirty="0"/>
              <a:t> </a:t>
            </a:r>
          </a:p>
          <a:p>
            <a:pPr marL="0" indent="0">
              <a:buNone/>
            </a:pPr>
            <a:r>
              <a:rPr lang="en-US" dirty="0"/>
              <a:t>However, KDE models can be used to generate representative samples from our population which in turn can be classified into pre, post, and peak age categories derived earlier. </a:t>
            </a:r>
          </a:p>
          <a:p>
            <a:pPr marL="0" indent="0">
              <a:buNone/>
            </a:pPr>
            <a:endParaRPr lang="en-US" dirty="0"/>
          </a:p>
          <a:p>
            <a:pPr marL="0" indent="0">
              <a:buNone/>
            </a:pPr>
            <a:r>
              <a:rPr lang="en-US" dirty="0"/>
              <a:t>Tracking the relative frequencies of a large number of these generated samples can then be compared to expected categorical frequency via a Chi-Squared test. The results of this Chi-Squared test will inform us about the nature of athlete age and if it is independent from medal achievement</a:t>
            </a:r>
          </a:p>
          <a:p>
            <a:pPr marL="0" indent="0">
              <a:buNone/>
            </a:pPr>
            <a:endParaRPr lang="en-US" dirty="0"/>
          </a:p>
          <a:p>
            <a:pPr marL="0" indent="0">
              <a:buNone/>
            </a:pPr>
            <a:r>
              <a:rPr lang="en-US" dirty="0"/>
              <a:t>Modality tests such as DIP, MAP, &amp; Saddle can inform the presence or absence of distinct age groups within the achievement distribution</a:t>
            </a:r>
          </a:p>
          <a:p>
            <a:pPr marL="0" indent="0">
              <a:buNone/>
            </a:pPr>
            <a:endParaRPr lang="en-US" dirty="0"/>
          </a:p>
          <a:p>
            <a:pPr marL="0" indent="0">
              <a:buNone/>
            </a:pPr>
            <a:r>
              <a:rPr lang="en-US" dirty="0"/>
              <a:t>Country event medaling probabilities can be computed as a function of number of competition athletes scaled by their additional </a:t>
            </a:r>
            <a:r>
              <a:rPr lang="en-US"/>
              <a:t>qualities relative to peak age</a:t>
            </a:r>
            <a:endParaRPr lang="en-US" dirty="0"/>
          </a:p>
          <a:p>
            <a:pPr marL="0" indent="0">
              <a:buNone/>
            </a:pPr>
            <a:endParaRPr lang="en-US" dirty="0"/>
          </a:p>
        </p:txBody>
      </p:sp>
    </p:spTree>
    <p:extLst>
      <p:ext uri="{BB962C8B-B14F-4D97-AF65-F5344CB8AC3E}">
        <p14:creationId xmlns:p14="http://schemas.microsoft.com/office/powerpoint/2010/main" val="3705038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Modeling: Pipeline Creation (in-progress)</a:t>
            </a:r>
            <a:endParaRPr lang="en-US" b="1" dirty="0">
              <a:latin typeface="Roboto" panose="02000000000000000000" pitchFamily="2" charset="0"/>
              <a:ea typeface="Roboto" panose="02000000000000000000" pitchFamily="2" charset="0"/>
            </a:endParaRP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11430000" cy="4488365"/>
          </a:xfrm>
        </p:spPr>
        <p:txBody>
          <a:bodyPr>
            <a:normAutofit/>
          </a:bodyPr>
          <a:lstStyle/>
          <a:p>
            <a:pPr marL="0" indent="0">
              <a:buNone/>
            </a:pPr>
            <a:r>
              <a:rPr lang="en-US" dirty="0"/>
              <a:t>With the question of age importance answered we now need to move onto the task of modeling the pipeline strength of various Olympic teams. We will train a variety of models for this task and are currently prototyping several different methods. </a:t>
            </a:r>
          </a:p>
          <a:p>
            <a:pPr marL="0" indent="0">
              <a:buNone/>
            </a:pPr>
            <a:endParaRPr lang="en-US" dirty="0">
              <a:solidFill>
                <a:srgbClr val="003057"/>
              </a:solidFill>
            </a:endParaRPr>
          </a:p>
          <a:p>
            <a:pPr lvl="1"/>
            <a:r>
              <a:rPr lang="en-US" dirty="0">
                <a:solidFill>
                  <a:srgbClr val="003057"/>
                </a:solidFill>
              </a:rPr>
              <a:t>Aggregate &amp; filter athletes by event, country, and specific Olympics to get an Olympic athlete pipeline for each NOC</a:t>
            </a:r>
          </a:p>
          <a:p>
            <a:pPr lvl="1"/>
            <a:endParaRPr lang="en-US" dirty="0"/>
          </a:p>
          <a:p>
            <a:pPr lvl="1"/>
            <a:endParaRPr lang="en-US" dirty="0">
              <a:solidFill>
                <a:srgbClr val="003057"/>
              </a:solidFill>
            </a:endParaRPr>
          </a:p>
          <a:p>
            <a:pPr lvl="1"/>
            <a:endParaRPr lang="en-US" dirty="0"/>
          </a:p>
          <a:p>
            <a:pPr lvl="1"/>
            <a:endParaRPr lang="en-US" dirty="0">
              <a:solidFill>
                <a:srgbClr val="003057"/>
              </a:solidFill>
            </a:endParaRPr>
          </a:p>
          <a:p>
            <a:pPr lvl="1"/>
            <a:endParaRPr lang="en-US" dirty="0"/>
          </a:p>
          <a:p>
            <a:pPr lvl="1"/>
            <a:endParaRPr lang="en-US" dirty="0">
              <a:solidFill>
                <a:srgbClr val="003057"/>
              </a:solidFill>
            </a:endParaRPr>
          </a:p>
          <a:p>
            <a:pPr lvl="1"/>
            <a:endParaRPr lang="en-US" dirty="0">
              <a:solidFill>
                <a:srgbClr val="003057"/>
              </a:solidFill>
            </a:endParaRPr>
          </a:p>
          <a:p>
            <a:pPr marL="457200" lvl="1" indent="0">
              <a:buNone/>
            </a:pPr>
            <a:endParaRPr lang="en-US" dirty="0">
              <a:solidFill>
                <a:srgbClr val="003057"/>
              </a:solidFill>
            </a:endParaRPr>
          </a:p>
          <a:p>
            <a:pPr marL="457200" lvl="1" indent="0">
              <a:buNone/>
            </a:pPr>
            <a:endParaRPr lang="en-US" dirty="0">
              <a:solidFill>
                <a:srgbClr val="003057"/>
              </a:solidFill>
            </a:endParaRPr>
          </a:p>
        </p:txBody>
      </p:sp>
      <p:pic>
        <p:nvPicPr>
          <p:cNvPr id="4" name="Picture 3">
            <a:extLst>
              <a:ext uri="{FF2B5EF4-FFF2-40B4-BE49-F238E27FC236}">
                <a16:creationId xmlns:a16="http://schemas.microsoft.com/office/drawing/2014/main" id="{719F94E4-5D8C-4BE1-A4D2-39189FAC06F4}"/>
              </a:ext>
            </a:extLst>
          </p:cNvPr>
          <p:cNvPicPr>
            <a:picLocks noChangeAspect="1"/>
          </p:cNvPicPr>
          <p:nvPr/>
        </p:nvPicPr>
        <p:blipFill>
          <a:blip r:embed="rId2"/>
          <a:stretch>
            <a:fillRect/>
          </a:stretch>
        </p:blipFill>
        <p:spPr>
          <a:xfrm>
            <a:off x="2499997" y="5069268"/>
            <a:ext cx="1214252" cy="1167550"/>
          </a:xfrm>
          <a:prstGeom prst="rect">
            <a:avLst/>
          </a:prstGeom>
        </p:spPr>
      </p:pic>
      <p:graphicFrame>
        <p:nvGraphicFramePr>
          <p:cNvPr id="2" name="Table 1">
            <a:extLst>
              <a:ext uri="{FF2B5EF4-FFF2-40B4-BE49-F238E27FC236}">
                <a16:creationId xmlns:a16="http://schemas.microsoft.com/office/drawing/2014/main" id="{BB5D6293-FA02-4E98-99E0-C7309B72F6F1}"/>
              </a:ext>
            </a:extLst>
          </p:cNvPr>
          <p:cNvGraphicFramePr>
            <a:graphicFrameLocks noGrp="1"/>
          </p:cNvGraphicFramePr>
          <p:nvPr>
            <p:extLst>
              <p:ext uri="{D42A27DB-BD31-4B8C-83A1-F6EECF244321}">
                <p14:modId xmlns:p14="http://schemas.microsoft.com/office/powerpoint/2010/main" val="4057559872"/>
              </p:ext>
            </p:extLst>
          </p:nvPr>
        </p:nvGraphicFramePr>
        <p:xfrm>
          <a:off x="4229898" y="4969513"/>
          <a:ext cx="4017212" cy="1315440"/>
        </p:xfrm>
        <a:graphic>
          <a:graphicData uri="http://schemas.openxmlformats.org/drawingml/2006/table">
            <a:tbl>
              <a:tblPr>
                <a:tableStyleId>{5C22544A-7EE6-4342-B048-85BDC9FD1C3A}</a:tableStyleId>
              </a:tblPr>
              <a:tblGrid>
                <a:gridCol w="1004303">
                  <a:extLst>
                    <a:ext uri="{9D8B030D-6E8A-4147-A177-3AD203B41FA5}">
                      <a16:colId xmlns:a16="http://schemas.microsoft.com/office/drawing/2014/main" val="1204712408"/>
                    </a:ext>
                  </a:extLst>
                </a:gridCol>
                <a:gridCol w="1004303">
                  <a:extLst>
                    <a:ext uri="{9D8B030D-6E8A-4147-A177-3AD203B41FA5}">
                      <a16:colId xmlns:a16="http://schemas.microsoft.com/office/drawing/2014/main" val="1314207249"/>
                    </a:ext>
                  </a:extLst>
                </a:gridCol>
                <a:gridCol w="1004303">
                  <a:extLst>
                    <a:ext uri="{9D8B030D-6E8A-4147-A177-3AD203B41FA5}">
                      <a16:colId xmlns:a16="http://schemas.microsoft.com/office/drawing/2014/main" val="1884843772"/>
                    </a:ext>
                  </a:extLst>
                </a:gridCol>
                <a:gridCol w="1004303">
                  <a:extLst>
                    <a:ext uri="{9D8B030D-6E8A-4147-A177-3AD203B41FA5}">
                      <a16:colId xmlns:a16="http://schemas.microsoft.com/office/drawing/2014/main" val="1609337726"/>
                    </a:ext>
                  </a:extLst>
                </a:gridCol>
              </a:tblGrid>
              <a:tr h="262240">
                <a:tc>
                  <a:txBody>
                    <a:bodyPr/>
                    <a:lstStyle/>
                    <a:p>
                      <a:r>
                        <a:rPr lang="en-US" sz="800" dirty="0"/>
                        <a:t>Country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Pre-peak Aged Athletes</a:t>
                      </a:r>
                    </a:p>
                    <a:p>
                      <a:endParaRPr lang="en-US" sz="800" dirty="0"/>
                    </a:p>
                  </a:txBody>
                  <a:tcPr/>
                </a:tc>
                <a:tc>
                  <a:txBody>
                    <a:bodyPr/>
                    <a:lstStyle/>
                    <a:p>
                      <a:r>
                        <a:rPr lang="en-US" sz="800" dirty="0"/>
                        <a:t>Peak Aged Athletes </a:t>
                      </a:r>
                    </a:p>
                  </a:txBody>
                  <a:tcPr/>
                </a:tc>
                <a:tc>
                  <a:txBody>
                    <a:bodyPr/>
                    <a:lstStyle/>
                    <a:p>
                      <a:r>
                        <a:rPr lang="en-US" sz="800" dirty="0"/>
                        <a:t>Post-Peak Aged Athletes</a:t>
                      </a:r>
                    </a:p>
                  </a:txBody>
                  <a:tcPr/>
                </a:tc>
                <a:extLst>
                  <a:ext uri="{0D108BD9-81ED-4DB2-BD59-A6C34878D82A}">
                    <a16:rowId xmlns:a16="http://schemas.microsoft.com/office/drawing/2014/main" val="1111782347"/>
                  </a:ext>
                </a:extLst>
              </a:tr>
              <a:tr h="286080">
                <a:tc>
                  <a:txBody>
                    <a:bodyPr/>
                    <a:lstStyle/>
                    <a:p>
                      <a:pPr algn="l"/>
                      <a:r>
                        <a:rPr lang="en-US" sz="1100" dirty="0"/>
                        <a:t>       USA</a:t>
                      </a:r>
                    </a:p>
                  </a:txBody>
                  <a:tcPr/>
                </a:tc>
                <a:tc>
                  <a:txBody>
                    <a:bodyPr/>
                    <a:lstStyle/>
                    <a:p>
                      <a:pPr algn="ctr"/>
                      <a:r>
                        <a:rPr lang="en-US" sz="1100" dirty="0"/>
                        <a:t>5</a:t>
                      </a:r>
                    </a:p>
                  </a:txBody>
                  <a:tcPr/>
                </a:tc>
                <a:tc>
                  <a:txBody>
                    <a:bodyPr/>
                    <a:lstStyle/>
                    <a:p>
                      <a:pPr algn="ctr"/>
                      <a:r>
                        <a:rPr lang="en-US" sz="1100" dirty="0"/>
                        <a:t>12</a:t>
                      </a:r>
                    </a:p>
                  </a:txBody>
                  <a:tcPr/>
                </a:tc>
                <a:tc>
                  <a:txBody>
                    <a:bodyPr/>
                    <a:lstStyle/>
                    <a:p>
                      <a:pPr algn="ctr"/>
                      <a:r>
                        <a:rPr lang="en-US" sz="1100" dirty="0"/>
                        <a:t>3</a:t>
                      </a:r>
                    </a:p>
                  </a:txBody>
                  <a:tcPr/>
                </a:tc>
                <a:extLst>
                  <a:ext uri="{0D108BD9-81ED-4DB2-BD59-A6C34878D82A}">
                    <a16:rowId xmlns:a16="http://schemas.microsoft.com/office/drawing/2014/main" val="2507566520"/>
                  </a:ext>
                </a:extLst>
              </a:tr>
              <a:tr h="286080">
                <a:tc>
                  <a:txBody>
                    <a:bodyPr/>
                    <a:lstStyle/>
                    <a:p>
                      <a:r>
                        <a:rPr lang="en-US" sz="1100" dirty="0"/>
                        <a:t>       Norway</a:t>
                      </a:r>
                    </a:p>
                  </a:txBody>
                  <a:tcPr/>
                </a:tc>
                <a:tc>
                  <a:txBody>
                    <a:bodyPr/>
                    <a:lstStyle/>
                    <a:p>
                      <a:pPr algn="ctr"/>
                      <a:r>
                        <a:rPr lang="en-US" sz="1100" dirty="0"/>
                        <a:t>3</a:t>
                      </a:r>
                    </a:p>
                  </a:txBody>
                  <a:tcPr/>
                </a:tc>
                <a:tc>
                  <a:txBody>
                    <a:bodyPr/>
                    <a:lstStyle/>
                    <a:p>
                      <a:pPr algn="ctr"/>
                      <a:r>
                        <a:rPr lang="en-US" sz="1100" dirty="0"/>
                        <a:t>7</a:t>
                      </a:r>
                    </a:p>
                  </a:txBody>
                  <a:tcPr/>
                </a:tc>
                <a:tc>
                  <a:txBody>
                    <a:bodyPr/>
                    <a:lstStyle/>
                    <a:p>
                      <a:pPr algn="ctr"/>
                      <a:r>
                        <a:rPr lang="en-US" sz="1100" dirty="0"/>
                        <a:t>0</a:t>
                      </a:r>
                    </a:p>
                  </a:txBody>
                  <a:tcPr/>
                </a:tc>
                <a:extLst>
                  <a:ext uri="{0D108BD9-81ED-4DB2-BD59-A6C34878D82A}">
                    <a16:rowId xmlns:a16="http://schemas.microsoft.com/office/drawing/2014/main" val="38360622"/>
                  </a:ext>
                </a:extLst>
              </a:tr>
              <a:tr h="286080">
                <a:tc>
                  <a:txBody>
                    <a:bodyPr/>
                    <a:lstStyle/>
                    <a:p>
                      <a:r>
                        <a:rPr lang="en-US" sz="1100" dirty="0"/>
                        <a:t>        China</a:t>
                      </a:r>
                    </a:p>
                  </a:txBody>
                  <a:tcPr/>
                </a:tc>
                <a:tc>
                  <a:txBody>
                    <a:bodyPr/>
                    <a:lstStyle/>
                    <a:p>
                      <a:pPr algn="ctr"/>
                      <a:r>
                        <a:rPr lang="en-US" sz="1100" dirty="0"/>
                        <a:t>0</a:t>
                      </a:r>
                    </a:p>
                  </a:txBody>
                  <a:tcPr/>
                </a:tc>
                <a:tc>
                  <a:txBody>
                    <a:bodyPr/>
                    <a:lstStyle/>
                    <a:p>
                      <a:pPr algn="ctr"/>
                      <a:r>
                        <a:rPr lang="en-US" sz="1100" dirty="0"/>
                        <a:t>2</a:t>
                      </a:r>
                    </a:p>
                  </a:txBody>
                  <a:tcPr/>
                </a:tc>
                <a:tc>
                  <a:txBody>
                    <a:bodyPr/>
                    <a:lstStyle/>
                    <a:p>
                      <a:pPr algn="ctr"/>
                      <a:r>
                        <a:rPr lang="en-US" sz="1100" dirty="0"/>
                        <a:t>0</a:t>
                      </a:r>
                    </a:p>
                  </a:txBody>
                  <a:tcPr/>
                </a:tc>
                <a:extLst>
                  <a:ext uri="{0D108BD9-81ED-4DB2-BD59-A6C34878D82A}">
                    <a16:rowId xmlns:a16="http://schemas.microsoft.com/office/drawing/2014/main" val="1866725125"/>
                  </a:ext>
                </a:extLst>
              </a:tr>
            </a:tbl>
          </a:graphicData>
        </a:graphic>
      </p:graphicFrame>
      <p:sp>
        <p:nvSpPr>
          <p:cNvPr id="7" name="TextBox 6">
            <a:extLst>
              <a:ext uri="{FF2B5EF4-FFF2-40B4-BE49-F238E27FC236}">
                <a16:creationId xmlns:a16="http://schemas.microsoft.com/office/drawing/2014/main" id="{C3658EE7-B3A0-4A97-9725-CEFAE4BA30BB}"/>
              </a:ext>
            </a:extLst>
          </p:cNvPr>
          <p:cNvSpPr txBox="1"/>
          <p:nvPr/>
        </p:nvSpPr>
        <p:spPr>
          <a:xfrm>
            <a:off x="4730337" y="4544534"/>
            <a:ext cx="3016333" cy="292388"/>
          </a:xfrm>
          <a:prstGeom prst="rect">
            <a:avLst/>
          </a:prstGeom>
          <a:noFill/>
        </p:spPr>
        <p:txBody>
          <a:bodyPr wrap="square" rtlCol="0">
            <a:spAutoFit/>
          </a:bodyPr>
          <a:lstStyle/>
          <a:p>
            <a:pPr algn="ctr"/>
            <a:r>
              <a:rPr lang="en-US" sz="800" dirty="0"/>
              <a:t>Sochi 2014 Alpine Skiing Athlete Pipelines by Country </a:t>
            </a:r>
          </a:p>
          <a:p>
            <a:pPr algn="ctr"/>
            <a:r>
              <a:rPr lang="en-US" sz="500" dirty="0"/>
              <a:t>(*example data; not representative of final results which are still in progress)</a:t>
            </a:r>
          </a:p>
        </p:txBody>
      </p:sp>
      <p:pic>
        <p:nvPicPr>
          <p:cNvPr id="8" name="Picture 7">
            <a:extLst>
              <a:ext uri="{FF2B5EF4-FFF2-40B4-BE49-F238E27FC236}">
                <a16:creationId xmlns:a16="http://schemas.microsoft.com/office/drawing/2014/main" id="{26AC3C00-4573-4C94-AED0-E176E9CBCCC6}"/>
              </a:ext>
            </a:extLst>
          </p:cNvPr>
          <p:cNvPicPr>
            <a:picLocks noChangeAspect="1"/>
          </p:cNvPicPr>
          <p:nvPr/>
        </p:nvPicPr>
        <p:blipFill>
          <a:blip r:embed="rId3"/>
          <a:stretch>
            <a:fillRect/>
          </a:stretch>
        </p:blipFill>
        <p:spPr>
          <a:xfrm>
            <a:off x="4336717" y="5772293"/>
            <a:ext cx="228279" cy="166358"/>
          </a:xfrm>
          <a:prstGeom prst="rect">
            <a:avLst/>
          </a:prstGeom>
        </p:spPr>
      </p:pic>
      <p:pic>
        <p:nvPicPr>
          <p:cNvPr id="9" name="Picture 8">
            <a:extLst>
              <a:ext uri="{FF2B5EF4-FFF2-40B4-BE49-F238E27FC236}">
                <a16:creationId xmlns:a16="http://schemas.microsoft.com/office/drawing/2014/main" id="{5196CFD9-F89C-4608-89A9-DC4BD199B1E9}"/>
              </a:ext>
            </a:extLst>
          </p:cNvPr>
          <p:cNvPicPr>
            <a:picLocks noChangeAspect="1"/>
          </p:cNvPicPr>
          <p:nvPr/>
        </p:nvPicPr>
        <p:blipFill rotWithShape="1">
          <a:blip r:embed="rId4"/>
          <a:srcRect t="26112" b="24657"/>
          <a:stretch/>
        </p:blipFill>
        <p:spPr>
          <a:xfrm>
            <a:off x="4331130" y="5494705"/>
            <a:ext cx="228279" cy="158338"/>
          </a:xfrm>
          <a:prstGeom prst="rect">
            <a:avLst/>
          </a:prstGeom>
        </p:spPr>
      </p:pic>
      <p:pic>
        <p:nvPicPr>
          <p:cNvPr id="10" name="Picture 9">
            <a:extLst>
              <a:ext uri="{FF2B5EF4-FFF2-40B4-BE49-F238E27FC236}">
                <a16:creationId xmlns:a16="http://schemas.microsoft.com/office/drawing/2014/main" id="{2B05265E-114E-45F1-9929-0252AA80229F}"/>
              </a:ext>
            </a:extLst>
          </p:cNvPr>
          <p:cNvPicPr>
            <a:picLocks noChangeAspect="1"/>
          </p:cNvPicPr>
          <p:nvPr/>
        </p:nvPicPr>
        <p:blipFill>
          <a:blip r:embed="rId5"/>
          <a:stretch>
            <a:fillRect/>
          </a:stretch>
        </p:blipFill>
        <p:spPr>
          <a:xfrm>
            <a:off x="4323404" y="6057901"/>
            <a:ext cx="228279" cy="166358"/>
          </a:xfrm>
          <a:prstGeom prst="rect">
            <a:avLst/>
          </a:prstGeom>
        </p:spPr>
      </p:pic>
    </p:spTree>
    <p:extLst>
      <p:ext uri="{BB962C8B-B14F-4D97-AF65-F5344CB8AC3E}">
        <p14:creationId xmlns:p14="http://schemas.microsoft.com/office/powerpoint/2010/main" val="28355116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C3D67E6-4787-412D-8000-1E6BC410ED29}"/>
              </a:ext>
            </a:extLst>
          </p:cNvPr>
          <p:cNvSpPr>
            <a:spLocks noGrp="1"/>
          </p:cNvSpPr>
          <p:nvPr>
            <p:ph idx="1"/>
          </p:nvPr>
        </p:nvSpPr>
        <p:spPr/>
        <p:txBody>
          <a:bodyPr>
            <a:normAutofit fontScale="85000" lnSpcReduction="10000"/>
          </a:bodyPr>
          <a:lstStyle/>
          <a:p>
            <a:pPr marL="0" indent="0">
              <a:buNone/>
            </a:pPr>
            <a:r>
              <a:rPr lang="en-US" dirty="0"/>
              <a:t>Now that we have country athletic pipelines created, we can utilize this information to make predictions about past and future Olympic medaling outcomes.</a:t>
            </a:r>
          </a:p>
          <a:p>
            <a:pPr marL="0" indent="0">
              <a:buNone/>
            </a:pPr>
            <a:endParaRPr lang="en-US" dirty="0">
              <a:solidFill>
                <a:srgbClr val="003057"/>
              </a:solidFill>
            </a:endParaRPr>
          </a:p>
          <a:p>
            <a:pPr lvl="1"/>
            <a:r>
              <a:rPr lang="en-US" dirty="0">
                <a:solidFill>
                  <a:srgbClr val="003057"/>
                </a:solidFill>
              </a:rPr>
              <a:t>Generate by country &amp; specific </a:t>
            </a:r>
            <a:r>
              <a:rPr lang="en-US" dirty="0"/>
              <a:t>Olympics </a:t>
            </a:r>
            <a:r>
              <a:rPr lang="en-US" dirty="0">
                <a:solidFill>
                  <a:srgbClr val="003057"/>
                </a:solidFill>
              </a:rPr>
              <a:t>medal results to store as the true label (number of medals a country earned)</a:t>
            </a:r>
          </a:p>
          <a:p>
            <a:pPr lvl="1"/>
            <a:endParaRPr lang="en-US" dirty="0">
              <a:solidFill>
                <a:srgbClr val="003057"/>
              </a:solidFill>
            </a:endParaRPr>
          </a:p>
          <a:p>
            <a:pPr lvl="1"/>
            <a:r>
              <a:rPr lang="en-US" dirty="0"/>
              <a:t>Tabulate the number of athletes each country has for each events unique peak age categories</a:t>
            </a:r>
          </a:p>
          <a:p>
            <a:pPr lvl="1"/>
            <a:endParaRPr lang="en-US" dirty="0"/>
          </a:p>
          <a:p>
            <a:pPr lvl="1"/>
            <a:r>
              <a:rPr lang="en-US" dirty="0">
                <a:solidFill>
                  <a:srgbClr val="003057"/>
                </a:solidFill>
              </a:rPr>
              <a:t>Use these peak age category f</a:t>
            </a:r>
            <a:r>
              <a:rPr lang="en-US" dirty="0"/>
              <a:t>requencies as the explanatory modeling variables to predict the number of total country medals earned</a:t>
            </a:r>
          </a:p>
          <a:p>
            <a:pPr lvl="1"/>
            <a:endParaRPr lang="en-US" dirty="0">
              <a:solidFill>
                <a:srgbClr val="003057"/>
              </a:solidFill>
            </a:endParaRPr>
          </a:p>
          <a:p>
            <a:pPr lvl="1"/>
            <a:r>
              <a:rPr lang="en-US" dirty="0">
                <a:solidFill>
                  <a:srgbClr val="003057"/>
                </a:solidFill>
              </a:rPr>
              <a:t>If age is indeed helpful in predicting medaling outcomes our model should demonstrate a reasonably sound out of sample accuracy</a:t>
            </a:r>
          </a:p>
          <a:p>
            <a:pPr marL="0" indent="0">
              <a:buNone/>
            </a:pPr>
            <a:endParaRPr lang="en-US" dirty="0"/>
          </a:p>
        </p:txBody>
      </p:sp>
      <p:sp>
        <p:nvSpPr>
          <p:cNvPr id="2" name="Title 1">
            <a:extLst>
              <a:ext uri="{FF2B5EF4-FFF2-40B4-BE49-F238E27FC236}">
                <a16:creationId xmlns:a16="http://schemas.microsoft.com/office/drawing/2014/main" id="{27D7C185-603B-4989-A25E-346BEEDEB118}"/>
              </a:ext>
            </a:extLst>
          </p:cNvPr>
          <p:cNvSpPr>
            <a:spLocks noGrp="1"/>
          </p:cNvSpPr>
          <p:nvPr>
            <p:ph type="title"/>
          </p:nvPr>
        </p:nvSpPr>
        <p:spPr/>
        <p:txBody>
          <a:bodyPr/>
          <a:lstStyle/>
          <a:p>
            <a:r>
              <a:rPr lang="en-US" dirty="0"/>
              <a:t>Modeling: Prediction (in-progress)</a:t>
            </a:r>
          </a:p>
        </p:txBody>
      </p:sp>
    </p:spTree>
    <p:extLst>
      <p:ext uri="{BB962C8B-B14F-4D97-AF65-F5344CB8AC3E}">
        <p14:creationId xmlns:p14="http://schemas.microsoft.com/office/powerpoint/2010/main" val="30377517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Modeling: Exploratory Analysis &amp; Insights </a:t>
            </a:r>
            <a:endParaRPr lang="en-US" b="1" dirty="0">
              <a:latin typeface="Roboto" panose="02000000000000000000" pitchFamily="2" charset="0"/>
              <a:ea typeface="Roboto" panose="02000000000000000000" pitchFamily="2" charset="0"/>
            </a:endParaRP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6665026" cy="4974407"/>
          </a:xfrm>
        </p:spPr>
        <p:txBody>
          <a:bodyPr>
            <a:normAutofit fontScale="70000" lnSpcReduction="20000"/>
          </a:bodyPr>
          <a:lstStyle/>
          <a:p>
            <a:pPr marL="0" indent="0">
              <a:buNone/>
            </a:pPr>
            <a:r>
              <a:rPr lang="en-US" dirty="0">
                <a:solidFill>
                  <a:srgbClr val="003057"/>
                </a:solidFill>
              </a:rPr>
              <a:t>Throughout the modeling process, a lot of experimentation was done with alternative factors evaluated in their own right as well as with respect to age</a:t>
            </a:r>
          </a:p>
          <a:p>
            <a:pPr marL="0" indent="0">
              <a:buNone/>
            </a:pPr>
            <a:endParaRPr lang="en-US" dirty="0"/>
          </a:p>
          <a:p>
            <a:pPr marL="0" indent="0">
              <a:buNone/>
            </a:pPr>
            <a:r>
              <a:rPr lang="en-US" dirty="0">
                <a:solidFill>
                  <a:srgbClr val="003057"/>
                </a:solidFill>
              </a:rPr>
              <a:t>One of the most significant insights gleaned from this exploration was the impact of far-reaching alpine ski regulations imposed in 2004, and the resulting </a:t>
            </a:r>
            <a:r>
              <a:rPr lang="en-US" dirty="0"/>
              <a:t>impact on peak age</a:t>
            </a:r>
          </a:p>
          <a:p>
            <a:pPr marL="0" indent="0">
              <a:buNone/>
            </a:pPr>
            <a:endParaRPr lang="en-US" dirty="0">
              <a:solidFill>
                <a:srgbClr val="003057"/>
              </a:solidFill>
            </a:endParaRPr>
          </a:p>
          <a:p>
            <a:pPr marL="0" indent="0">
              <a:buNone/>
            </a:pPr>
            <a:r>
              <a:rPr lang="en-US" dirty="0"/>
              <a:t>As we can see from the two KDE models of peak age the distributions of pre-regulation skiing show a younger more distinct peak age. Alternatively, we can see that the post-regulation distribution is less skewed and suggests an older peak age</a:t>
            </a:r>
          </a:p>
          <a:p>
            <a:pPr marL="0" indent="0">
              <a:buNone/>
            </a:pPr>
            <a:endParaRPr lang="en-US" dirty="0"/>
          </a:p>
          <a:p>
            <a:pPr marL="0" indent="0">
              <a:buNone/>
            </a:pPr>
            <a:r>
              <a:rPr lang="en-US" dirty="0"/>
              <a:t>Together these observation which persist across all disciplines and genders show that regulations meant to increase sport safety also led to increased athlete competitiveness with respect to age</a:t>
            </a:r>
          </a:p>
          <a:p>
            <a:pPr marL="0" indent="0">
              <a:buNone/>
            </a:pPr>
            <a:endParaRPr lang="en-US" dirty="0">
              <a:solidFill>
                <a:srgbClr val="003057"/>
              </a:solidFill>
            </a:endParaRPr>
          </a:p>
        </p:txBody>
      </p:sp>
      <p:pic>
        <p:nvPicPr>
          <p:cNvPr id="4" name="Picture 3">
            <a:extLst>
              <a:ext uri="{FF2B5EF4-FFF2-40B4-BE49-F238E27FC236}">
                <a16:creationId xmlns:a16="http://schemas.microsoft.com/office/drawing/2014/main" id="{5F00EE16-7A60-4818-B9C6-862A1407E5B8}"/>
              </a:ext>
            </a:extLst>
          </p:cNvPr>
          <p:cNvPicPr>
            <a:picLocks noChangeAspect="1"/>
          </p:cNvPicPr>
          <p:nvPr/>
        </p:nvPicPr>
        <p:blipFill rotWithShape="1">
          <a:blip r:embed="rId2"/>
          <a:srcRect b="1379"/>
          <a:stretch/>
        </p:blipFill>
        <p:spPr>
          <a:xfrm>
            <a:off x="7716328" y="1080464"/>
            <a:ext cx="3718284" cy="2311920"/>
          </a:xfrm>
          <a:prstGeom prst="rect">
            <a:avLst/>
          </a:prstGeom>
        </p:spPr>
      </p:pic>
      <p:pic>
        <p:nvPicPr>
          <p:cNvPr id="10" name="Picture 9">
            <a:extLst>
              <a:ext uri="{FF2B5EF4-FFF2-40B4-BE49-F238E27FC236}">
                <a16:creationId xmlns:a16="http://schemas.microsoft.com/office/drawing/2014/main" id="{1E9A6FE0-7D28-4DD4-A7CA-39D826F48E2E}"/>
              </a:ext>
            </a:extLst>
          </p:cNvPr>
          <p:cNvPicPr>
            <a:picLocks noChangeAspect="1"/>
          </p:cNvPicPr>
          <p:nvPr/>
        </p:nvPicPr>
        <p:blipFill>
          <a:blip r:embed="rId3"/>
          <a:stretch>
            <a:fillRect/>
          </a:stretch>
        </p:blipFill>
        <p:spPr>
          <a:xfrm>
            <a:off x="7716328" y="3495113"/>
            <a:ext cx="3718284" cy="2348536"/>
          </a:xfrm>
          <a:prstGeom prst="rect">
            <a:avLst/>
          </a:prstGeom>
        </p:spPr>
      </p:pic>
    </p:spTree>
    <p:extLst>
      <p:ext uri="{BB962C8B-B14F-4D97-AF65-F5344CB8AC3E}">
        <p14:creationId xmlns:p14="http://schemas.microsoft.com/office/powerpoint/2010/main" val="1731563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Future Modeling</a:t>
            </a:r>
            <a:endParaRPr lang="en-US" b="1" dirty="0">
              <a:latin typeface="Roboto" panose="02000000000000000000" pitchFamily="2" charset="0"/>
              <a:ea typeface="Roboto" panose="02000000000000000000" pitchFamily="2" charset="0"/>
            </a:endParaRP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11430000" cy="4488365"/>
          </a:xfrm>
        </p:spPr>
        <p:txBody>
          <a:bodyPr>
            <a:normAutofit fontScale="92500" lnSpcReduction="20000"/>
          </a:bodyPr>
          <a:lstStyle/>
          <a:p>
            <a:pPr marL="0" indent="0">
              <a:buNone/>
            </a:pPr>
            <a:r>
              <a:rPr lang="en-US" dirty="0">
                <a:solidFill>
                  <a:srgbClr val="003057"/>
                </a:solidFill>
              </a:rPr>
              <a:t>Although we have made significant progress with respect to modeling there are still several areas where more time will be required mostly in the area of hyperparameter tuning and model selection with respect to pipeline modeling</a:t>
            </a:r>
          </a:p>
          <a:p>
            <a:pPr marL="0" indent="0">
              <a:buNone/>
            </a:pPr>
            <a:endParaRPr lang="en-US" dirty="0"/>
          </a:p>
          <a:p>
            <a:pPr marL="0" indent="0">
              <a:buNone/>
            </a:pPr>
            <a:r>
              <a:rPr lang="en-US" dirty="0">
                <a:solidFill>
                  <a:srgbClr val="003057"/>
                </a:solidFill>
              </a:rPr>
              <a:t>Collectively, we believe that th</a:t>
            </a:r>
            <a:r>
              <a:rPr lang="en-US" dirty="0"/>
              <a:t>e kernel density analysis and accompanying descriptive statistics paired with the overall pipeline medal expectation modeling will provide the USOPC the necessary information to understand the relationship between age and athlete competitiveness both generally and with respect to Team USA’s own athletic pipeline</a:t>
            </a:r>
            <a:endParaRPr lang="en-US" dirty="0">
              <a:solidFill>
                <a:srgbClr val="003057"/>
              </a:solidFill>
            </a:endParaRPr>
          </a:p>
          <a:p>
            <a:pPr marL="0" indent="0">
              <a:buNone/>
            </a:pPr>
            <a:endParaRPr lang="en-US" dirty="0"/>
          </a:p>
          <a:p>
            <a:pPr marL="0" indent="0">
              <a:buNone/>
            </a:pPr>
            <a:r>
              <a:rPr lang="en-US" dirty="0"/>
              <a:t>We remain on track (slightly ahead of schedule) on the modeling front, and time permitting may create and test additional modeling approaches </a:t>
            </a:r>
          </a:p>
        </p:txBody>
      </p:sp>
    </p:spTree>
    <p:extLst>
      <p:ext uri="{BB962C8B-B14F-4D97-AF65-F5344CB8AC3E}">
        <p14:creationId xmlns:p14="http://schemas.microsoft.com/office/powerpoint/2010/main" val="19444939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Future Visualization</a:t>
            </a:r>
            <a:endParaRPr lang="en-US" b="1" dirty="0">
              <a:latin typeface="Roboto" panose="02000000000000000000" pitchFamily="2" charset="0"/>
              <a:ea typeface="Roboto" panose="02000000000000000000" pitchFamily="2" charset="0"/>
            </a:endParaRP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11430000" cy="4488365"/>
          </a:xfrm>
        </p:spPr>
        <p:txBody>
          <a:bodyPr>
            <a:normAutofit lnSpcReduction="10000"/>
          </a:bodyPr>
          <a:lstStyle/>
          <a:p>
            <a:r>
              <a:rPr lang="en-US" dirty="0">
                <a:solidFill>
                  <a:srgbClr val="003057"/>
                </a:solidFill>
              </a:rPr>
              <a:t>At this point in the project, we have not yet started the process of generating visualization beyond the prototype phase</a:t>
            </a:r>
          </a:p>
          <a:p>
            <a:endParaRPr lang="en-US" dirty="0"/>
          </a:p>
          <a:p>
            <a:r>
              <a:rPr lang="en-US" dirty="0">
                <a:solidFill>
                  <a:srgbClr val="003057"/>
                </a:solidFill>
              </a:rPr>
              <a:t>This is however expected based on the schedule we have set</a:t>
            </a:r>
          </a:p>
          <a:p>
            <a:endParaRPr lang="en-US" dirty="0"/>
          </a:p>
          <a:p>
            <a:r>
              <a:rPr lang="en-US" dirty="0">
                <a:solidFill>
                  <a:srgbClr val="003057"/>
                </a:solidFill>
              </a:rPr>
              <a:t>Overall goals remain creating the three dashboard view in Tableau previewed in slide 7</a:t>
            </a:r>
          </a:p>
          <a:p>
            <a:endParaRPr lang="en-US" dirty="0"/>
          </a:p>
          <a:p>
            <a:r>
              <a:rPr lang="en-US" dirty="0">
                <a:solidFill>
                  <a:srgbClr val="003057"/>
                </a:solidFill>
              </a:rPr>
              <a:t>We remain on track to meet the respective deadlines, and may expand our visualization offering based on available time</a:t>
            </a:r>
          </a:p>
        </p:txBody>
      </p:sp>
    </p:spTree>
    <p:extLst>
      <p:ext uri="{BB962C8B-B14F-4D97-AF65-F5344CB8AC3E}">
        <p14:creationId xmlns:p14="http://schemas.microsoft.com/office/powerpoint/2010/main" val="7132547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Conclusion: Review of Key Questions &amp; Insights</a:t>
            </a:r>
            <a:endParaRPr lang="en-US" b="1" dirty="0">
              <a:latin typeface="Roboto" panose="02000000000000000000" pitchFamily="2" charset="0"/>
              <a:ea typeface="Roboto" panose="02000000000000000000" pitchFamily="2" charset="0"/>
            </a:endParaRP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11430000" cy="4488365"/>
          </a:xfrm>
        </p:spPr>
        <p:txBody>
          <a:bodyPr>
            <a:normAutofit fontScale="85000" lnSpcReduction="10000"/>
          </a:bodyPr>
          <a:lstStyle/>
          <a:p>
            <a:pPr marL="0" indent="0">
              <a:buNone/>
            </a:pPr>
            <a:r>
              <a:rPr lang="en-US" dirty="0">
                <a:solidFill>
                  <a:srgbClr val="003057"/>
                </a:solidFill>
              </a:rPr>
              <a:t>At the beginning of this project the client asked us to answer these three central questions. So far in our progress we are confidently able to answer the first two with respect to alpine skiing. With the third pending further analysis.</a:t>
            </a:r>
          </a:p>
          <a:p>
            <a:pPr marL="0" indent="0">
              <a:buNone/>
            </a:pPr>
            <a:endParaRPr lang="en-US" dirty="0">
              <a:solidFill>
                <a:srgbClr val="003057"/>
              </a:solidFill>
            </a:endParaRPr>
          </a:p>
          <a:p>
            <a:pPr marL="971550" lvl="1" indent="-514350">
              <a:buFont typeface="+mj-lt"/>
              <a:buAutoNum type="arabicPeriod"/>
            </a:pPr>
            <a:r>
              <a:rPr lang="en-US" dirty="0">
                <a:solidFill>
                  <a:srgbClr val="003057"/>
                </a:solidFill>
              </a:rPr>
              <a:t>Is age significant in predicting medal achieve</a:t>
            </a:r>
            <a:r>
              <a:rPr lang="en-US" dirty="0"/>
              <a:t>ment?</a:t>
            </a:r>
          </a:p>
          <a:p>
            <a:pPr marL="914400" lvl="2" indent="0">
              <a:buNone/>
            </a:pPr>
            <a:r>
              <a:rPr lang="en-US" dirty="0"/>
              <a:t>- Yes, age plays a significant factor in an athlete’s competitiveness. Chi-squared tests at the event and gender level show that age ranges have distinct impact on medal outcomes. However, it is still uncertain if it is the most significant factor in medal achievement. </a:t>
            </a:r>
          </a:p>
          <a:p>
            <a:pPr marL="971550" lvl="1" indent="-514350">
              <a:buFont typeface="+mj-lt"/>
              <a:buAutoNum type="arabicPeriod"/>
            </a:pPr>
            <a:endParaRPr lang="en-US" dirty="0"/>
          </a:p>
          <a:p>
            <a:pPr marL="971550" lvl="1" indent="-514350">
              <a:buFont typeface="+mj-lt"/>
              <a:buAutoNum type="arabicPeriod"/>
            </a:pPr>
            <a:r>
              <a:rPr lang="en-US" dirty="0">
                <a:solidFill>
                  <a:srgbClr val="003057"/>
                </a:solidFill>
              </a:rPr>
              <a:t>Are </a:t>
            </a:r>
            <a:r>
              <a:rPr lang="en-US" dirty="0"/>
              <a:t>there specific peak age ranges? Do they vary by event and gender?</a:t>
            </a:r>
          </a:p>
          <a:p>
            <a:pPr marL="914400" lvl="2" indent="0">
              <a:buNone/>
            </a:pPr>
            <a:r>
              <a:rPr lang="en-US" dirty="0"/>
              <a:t>- Yes, although somewhat similar, each event and gender combination have distinctly different distributions of medal achievement by age. </a:t>
            </a:r>
          </a:p>
          <a:p>
            <a:pPr marL="971550" lvl="1" indent="-514350">
              <a:buFont typeface="+mj-lt"/>
              <a:buAutoNum type="arabicPeriod"/>
            </a:pPr>
            <a:endParaRPr lang="en-US" dirty="0"/>
          </a:p>
          <a:p>
            <a:pPr marL="971550" lvl="1" indent="-514350">
              <a:buFont typeface="+mj-lt"/>
              <a:buAutoNum type="arabicPeriod"/>
            </a:pPr>
            <a:r>
              <a:rPr lang="en-US" dirty="0"/>
              <a:t>How does Team USA’s athletic pipelines compare to other countries?</a:t>
            </a:r>
          </a:p>
          <a:p>
            <a:pPr marL="914400" lvl="2" indent="0">
              <a:buNone/>
            </a:pPr>
            <a:r>
              <a:rPr lang="en-US" dirty="0"/>
              <a:t>- Pending further research… </a:t>
            </a:r>
          </a:p>
          <a:p>
            <a:pPr marL="971550" lvl="1" indent="-514350">
              <a:buFont typeface="+mj-lt"/>
              <a:buAutoNum type="arabicPeriod"/>
            </a:pPr>
            <a:endParaRPr lang="en-US" dirty="0"/>
          </a:p>
          <a:p>
            <a:pPr marL="971550" lvl="1" indent="-514350">
              <a:buFont typeface="+mj-lt"/>
              <a:buAutoNum type="arabicPeriod"/>
            </a:pPr>
            <a:endParaRPr lang="en-US" dirty="0">
              <a:solidFill>
                <a:srgbClr val="003057"/>
              </a:solidFill>
            </a:endParaRPr>
          </a:p>
        </p:txBody>
      </p:sp>
    </p:spTree>
    <p:extLst>
      <p:ext uri="{BB962C8B-B14F-4D97-AF65-F5344CB8AC3E}">
        <p14:creationId xmlns:p14="http://schemas.microsoft.com/office/powerpoint/2010/main" val="19084214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Acknowledgements &amp; References Cited</a:t>
            </a:r>
            <a:endParaRPr lang="en-US" b="1" dirty="0">
              <a:latin typeface="Roboto" panose="02000000000000000000" pitchFamily="2" charset="0"/>
              <a:ea typeface="Roboto" panose="02000000000000000000" pitchFamily="2" charset="0"/>
            </a:endParaRP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idx="1"/>
          </p:nvPr>
        </p:nvSpPr>
        <p:spPr>
          <a:xfrm>
            <a:off x="381000" y="1323474"/>
            <a:ext cx="11430000" cy="4488365"/>
          </a:xfrm>
        </p:spPr>
        <p:txBody>
          <a:bodyPr>
            <a:noAutofit/>
          </a:bodyPr>
          <a:lstStyle/>
          <a:p>
            <a:r>
              <a:rPr lang="en-US" sz="1800" dirty="0" err="1">
                <a:effectLst/>
              </a:rPr>
              <a:t>Edizel</a:t>
            </a:r>
            <a:r>
              <a:rPr lang="en-US" sz="1800" dirty="0">
                <a:effectLst/>
              </a:rPr>
              <a:t>, Bora, et al. </a:t>
            </a:r>
            <a:r>
              <a:rPr lang="en-US" sz="1800" i="1" dirty="0">
                <a:effectLst/>
              </a:rPr>
              <a:t>Misspelling Oblivious Word Embeddings</a:t>
            </a:r>
            <a:r>
              <a:rPr lang="en-US" sz="1800" dirty="0">
                <a:effectLst/>
              </a:rPr>
              <a:t>. 2019. </a:t>
            </a:r>
            <a:r>
              <a:rPr lang="en-US" sz="1800" i="1" dirty="0">
                <a:effectLst/>
              </a:rPr>
              <a:t>Misspelling Oblivious Word Embeddings</a:t>
            </a:r>
            <a:r>
              <a:rPr lang="en-US" sz="1800" dirty="0">
                <a:effectLst/>
              </a:rPr>
              <a:t>. 2019.</a:t>
            </a:r>
          </a:p>
          <a:p>
            <a:r>
              <a:rPr lang="en-US" sz="1800" dirty="0"/>
              <a:t>Fédération </a:t>
            </a:r>
            <a:r>
              <a:rPr lang="en-US" sz="1800" dirty="0" err="1"/>
              <a:t>Internationale</a:t>
            </a:r>
            <a:r>
              <a:rPr lang="en-US" sz="1800" dirty="0"/>
              <a:t> de Ski, FIS. (February 20, 2022). FIS-Ski, </a:t>
            </a:r>
            <a:r>
              <a:rPr lang="en-US" sz="1800" i="1" dirty="0"/>
              <a:t>Athlete Biographies Database</a:t>
            </a:r>
            <a:r>
              <a:rPr lang="en-US" sz="1800" dirty="0"/>
              <a:t>. </a:t>
            </a:r>
            <a:r>
              <a:rPr lang="en-US" sz="1800" dirty="0">
                <a:hlinkClick r:id="rId2"/>
              </a:rPr>
              <a:t>https://www.fis-ski.com/DB/general/biographies.html</a:t>
            </a:r>
            <a:endParaRPr lang="en-US" sz="1800" dirty="0"/>
          </a:p>
          <a:p>
            <a:r>
              <a:rPr lang="en-US" sz="1800" dirty="0"/>
              <a:t>Fédération </a:t>
            </a:r>
            <a:r>
              <a:rPr lang="en-US" sz="1800" dirty="0" err="1"/>
              <a:t>Internationale</a:t>
            </a:r>
            <a:r>
              <a:rPr lang="en-US" sz="1800" dirty="0"/>
              <a:t> de Ski, FIS. (February 20, 2022). </a:t>
            </a:r>
            <a:r>
              <a:rPr lang="en-US" sz="1800" i="1" dirty="0"/>
              <a:t>International Ski Competition Rules and Regulations.</a:t>
            </a:r>
            <a:r>
              <a:rPr lang="en-US" sz="1800" dirty="0"/>
              <a:t> </a:t>
            </a:r>
            <a:r>
              <a:rPr lang="en-US" sz="1800" dirty="0">
                <a:hlinkClick r:id="rId3"/>
              </a:rPr>
              <a:t>https://assets.fis-ski.com/image/upload/v1593675483/fis-prod/assets/ICR_02072020.pdf</a:t>
            </a:r>
            <a:endParaRPr lang="en-US" sz="1800" dirty="0"/>
          </a:p>
          <a:p>
            <a:r>
              <a:rPr lang="en-US" sz="1800" dirty="0"/>
              <a:t>Novosti, Rio; </a:t>
            </a:r>
            <a:r>
              <a:rPr lang="en-US" sz="1800" dirty="0" err="1"/>
              <a:t>Sputniknews</a:t>
            </a:r>
            <a:r>
              <a:rPr lang="en-US" sz="1800" dirty="0"/>
              <a:t> (February 20, 2020). </a:t>
            </a:r>
            <a:r>
              <a:rPr lang="en-US" sz="1800" i="1" dirty="0"/>
              <a:t>Types of Alpine Skiing </a:t>
            </a:r>
            <a:r>
              <a:rPr lang="en-US" sz="1800" dirty="0"/>
              <a:t>[Computer Graphic] https://sputniknews.com/20120220/171415223.html</a:t>
            </a:r>
          </a:p>
          <a:p>
            <a:r>
              <a:rPr lang="en-US" sz="1800" dirty="0">
                <a:solidFill>
                  <a:srgbClr val="003057"/>
                </a:solidFill>
              </a:rPr>
              <a:t>O'Neill, Kristy &amp; Cotton, Wayne &amp; </a:t>
            </a:r>
            <a:r>
              <a:rPr lang="en-US" sz="1800" dirty="0" err="1">
                <a:solidFill>
                  <a:srgbClr val="003057"/>
                </a:solidFill>
              </a:rPr>
              <a:t>Cuadros</a:t>
            </a:r>
            <a:r>
              <a:rPr lang="en-US" sz="1800" dirty="0">
                <a:solidFill>
                  <a:srgbClr val="003057"/>
                </a:solidFill>
              </a:rPr>
              <a:t>, Juan &amp; O'Connor, Donna. (2016). </a:t>
            </a:r>
            <a:r>
              <a:rPr lang="en-US" sz="1800" i="1" dirty="0">
                <a:solidFill>
                  <a:srgbClr val="003057"/>
                </a:solidFill>
              </a:rPr>
              <a:t>An Investigation of the Relative Age Effect amongst Olympic Athletes. Talent Development and Excellence</a:t>
            </a:r>
            <a:r>
              <a:rPr lang="en-US" sz="1800" dirty="0">
                <a:solidFill>
                  <a:srgbClr val="003057"/>
                </a:solidFill>
              </a:rPr>
              <a:t>. 8. 27-39. Kaggle Dataset</a:t>
            </a:r>
            <a:endParaRPr lang="en-US" sz="1800" dirty="0"/>
          </a:p>
          <a:p>
            <a:r>
              <a:rPr lang="en-US" sz="1800" dirty="0" err="1"/>
              <a:t>Pacor</a:t>
            </a:r>
            <a:r>
              <a:rPr lang="en-US" sz="1800" dirty="0"/>
              <a:t>, Matteo. SKI-DB: Alpine Skiing Database, (February 20, 2022). </a:t>
            </a:r>
            <a:r>
              <a:rPr lang="en-US" sz="1800" i="1" dirty="0"/>
              <a:t>SKI-DB: Alpine Skiing Athlete and Event Database</a:t>
            </a:r>
            <a:r>
              <a:rPr lang="en-US" sz="1800" dirty="0"/>
              <a:t>. https://ski-db.com/</a:t>
            </a:r>
          </a:p>
          <a:p>
            <a:r>
              <a:rPr lang="en-US" sz="1800" dirty="0"/>
              <a:t>United States Olympic and Paralympic Committee, USOPC. (February 20, 2022). </a:t>
            </a:r>
            <a:r>
              <a:rPr lang="en-US" sz="1800" i="1" dirty="0"/>
              <a:t>USOPC Proprietary Database</a:t>
            </a:r>
            <a:r>
              <a:rPr lang="en-US" sz="1800" dirty="0"/>
              <a:t>. </a:t>
            </a:r>
            <a:endParaRPr lang="en-US" sz="1800" dirty="0">
              <a:solidFill>
                <a:srgbClr val="003057"/>
              </a:solidFill>
            </a:endParaRPr>
          </a:p>
          <a:p>
            <a:endParaRPr lang="en-US" sz="1800" dirty="0">
              <a:solidFill>
                <a:srgbClr val="003057"/>
              </a:solidFill>
            </a:endParaRPr>
          </a:p>
        </p:txBody>
      </p:sp>
    </p:spTree>
    <p:extLst>
      <p:ext uri="{BB962C8B-B14F-4D97-AF65-F5344CB8AC3E}">
        <p14:creationId xmlns:p14="http://schemas.microsoft.com/office/powerpoint/2010/main" val="1515340085"/>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ATech_PPTtemplate_2021_wide" id="{E85096BA-033B-D848-B268-A76C8AE5D2A4}" vid="{1C4A0A5B-2267-F04A-B00C-3FCDF7CFA02E}"/>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Tech_PPTtemplate_2021_wide" id="{E85096BA-033B-D848-B268-A76C8AE5D2A4}" vid="{C86BDF43-62E5-5C4C-BBB8-C9F54843079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Evan_Jones_USOPC_Midterm_Report</Template>
  <TotalTime>2317</TotalTime>
  <Words>3418</Words>
  <Application>Microsoft Office PowerPoint</Application>
  <PresentationFormat>Widescreen</PresentationFormat>
  <Paragraphs>338</Paragraphs>
  <Slides>32</Slides>
  <Notes>0</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32</vt:i4>
      </vt:variant>
    </vt:vector>
  </HeadingPairs>
  <TitlesOfParts>
    <vt:vector size="38" baseType="lpstr">
      <vt:lpstr>Arial</vt:lpstr>
      <vt:lpstr>Calibri</vt:lpstr>
      <vt:lpstr>Roboto</vt:lpstr>
      <vt:lpstr>Custom Design</vt:lpstr>
      <vt:lpstr>1_Custom Design</vt:lpstr>
      <vt:lpstr>Document</vt:lpstr>
      <vt:lpstr>United States Olympic &amp; Paralympic Committee Practicum Midterm Report</vt:lpstr>
      <vt:lpstr>Project Motivation</vt:lpstr>
      <vt:lpstr>Project Purpose</vt:lpstr>
      <vt:lpstr>Project Overview</vt:lpstr>
      <vt:lpstr>Project Overview</vt:lpstr>
      <vt:lpstr>Project Overview</vt:lpstr>
      <vt:lpstr>Project Overview</vt:lpstr>
      <vt:lpstr>Project Plan</vt:lpstr>
      <vt:lpstr>Data Cleaning: Key Challenges</vt:lpstr>
      <vt:lpstr>Data Cleaning: Process Overview</vt:lpstr>
      <vt:lpstr>Data Cleaning: Fixing the Schema</vt:lpstr>
      <vt:lpstr>Data Cleaning: General Cleaning &amp; Pruning</vt:lpstr>
      <vt:lpstr>Data Cleaning: Entity Recognition Tool</vt:lpstr>
      <vt:lpstr>Entity Recognition Tool : Overview</vt:lpstr>
      <vt:lpstr>Entity Recognition Tool : Discriminator</vt:lpstr>
      <vt:lpstr>Data Cleaning: Scraping Missing Data</vt:lpstr>
      <vt:lpstr>Data Cleaning: Reconciling Inconsistent Data</vt:lpstr>
      <vt:lpstr>Data Cleaning: Reconciling Inconsistent Data</vt:lpstr>
      <vt:lpstr>Data Cleaning: Summary</vt:lpstr>
      <vt:lpstr>Modeling: Overview</vt:lpstr>
      <vt:lpstr>Modeling: Understanding Age</vt:lpstr>
      <vt:lpstr>Modeling: Understanding Age</vt:lpstr>
      <vt:lpstr>Modeling: Achievement Histograms</vt:lpstr>
      <vt:lpstr>Modeling: Kernel Density Estimation</vt:lpstr>
      <vt:lpstr>Modeling: KDE &amp; Statistical Testing (in-progress)</vt:lpstr>
      <vt:lpstr>Modeling: Pipeline Creation (in-progress)</vt:lpstr>
      <vt:lpstr>Modeling: Prediction (in-progress)</vt:lpstr>
      <vt:lpstr>Modeling: Exploratory Analysis &amp; Insights </vt:lpstr>
      <vt:lpstr>Future Modeling</vt:lpstr>
      <vt:lpstr>Future Visualization</vt:lpstr>
      <vt:lpstr>Conclusion: Review of Key Questions &amp; Insights</vt:lpstr>
      <vt:lpstr>Acknowledgements &amp; References Cited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Presentation Here</dc:title>
  <dc:creator>Jones, Evan A</dc:creator>
  <cp:lastModifiedBy>Jones, Evan A</cp:lastModifiedBy>
  <cp:revision>15</cp:revision>
  <dcterms:created xsi:type="dcterms:W3CDTF">2022-02-17T22:41:00Z</dcterms:created>
  <dcterms:modified xsi:type="dcterms:W3CDTF">2022-04-21T03:29:16Z</dcterms:modified>
</cp:coreProperties>
</file>