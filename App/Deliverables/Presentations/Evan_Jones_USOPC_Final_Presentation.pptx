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0" r:id="rId1"/>
    <p:sldMasterId id="2147483683" r:id="rId2"/>
  </p:sldMasterIdLst>
  <p:handoutMasterIdLst>
    <p:handoutMasterId r:id="rId32"/>
  </p:handoutMasterIdLst>
  <p:sldIdLst>
    <p:sldId id="256" r:id="rId3"/>
    <p:sldId id="276" r:id="rId4"/>
    <p:sldId id="296" r:id="rId5"/>
    <p:sldId id="277" r:id="rId6"/>
    <p:sldId id="297" r:id="rId7"/>
    <p:sldId id="278" r:id="rId8"/>
    <p:sldId id="279" r:id="rId9"/>
    <p:sldId id="298" r:id="rId10"/>
    <p:sldId id="299" r:id="rId11"/>
    <p:sldId id="301" r:id="rId12"/>
    <p:sldId id="281" r:id="rId13"/>
    <p:sldId id="282" r:id="rId14"/>
    <p:sldId id="283" r:id="rId15"/>
    <p:sldId id="302" r:id="rId16"/>
    <p:sldId id="303" r:id="rId17"/>
    <p:sldId id="284" r:id="rId18"/>
    <p:sldId id="286" r:id="rId19"/>
    <p:sldId id="287" r:id="rId20"/>
    <p:sldId id="288" r:id="rId21"/>
    <p:sldId id="285" r:id="rId22"/>
    <p:sldId id="289" r:id="rId23"/>
    <p:sldId id="304" r:id="rId24"/>
    <p:sldId id="291" r:id="rId25"/>
    <p:sldId id="292" r:id="rId26"/>
    <p:sldId id="305" r:id="rId27"/>
    <p:sldId id="293" r:id="rId28"/>
    <p:sldId id="295" r:id="rId29"/>
    <p:sldId id="294" r:id="rId30"/>
    <p:sldId id="27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3" userDrawn="1">
          <p15:clr>
            <a:srgbClr val="A4A3A4"/>
          </p15:clr>
        </p15:guide>
        <p15:guide id="2" pos="24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8792"/>
    <a:srgbClr val="857437"/>
    <a:srgbClr val="A7934B"/>
    <a:srgbClr val="003057"/>
    <a:srgbClr val="262626"/>
    <a:srgbClr val="EEB21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F8B7C3-D70B-451B-9DBE-81AB91B68803}" v="14" dt="2022-02-22T18:34:58.4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3" autoAdjust="0"/>
    <p:restoredTop sz="96327"/>
  </p:normalViewPr>
  <p:slideViewPr>
    <p:cSldViewPr snapToGrid="0" snapToObjects="1">
      <p:cViewPr varScale="1">
        <p:scale>
          <a:sx n="161" d="100"/>
          <a:sy n="161" d="100"/>
        </p:scale>
        <p:origin x="348" y="100"/>
      </p:cViewPr>
      <p:guideLst>
        <p:guide orient="horz" pos="773"/>
        <p:guide pos="244"/>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n" userId="74fe0a6f-3dcd-44be-86e7-63ef83898d21" providerId="ADAL" clId="{3568F778-B01A-4926-B624-8FAC0DF7B7FE}"/>
    <pc:docChg chg="undo custSel modSld">
      <pc:chgData name="Evan" userId="74fe0a6f-3dcd-44be-86e7-63ef83898d21" providerId="ADAL" clId="{3568F778-B01A-4926-B624-8FAC0DF7B7FE}" dt="2022-02-22T01:02:05.829" v="1021" actId="20577"/>
      <pc:docMkLst>
        <pc:docMk/>
      </pc:docMkLst>
      <pc:sldChg chg="modSp mod">
        <pc:chgData name="Evan" userId="74fe0a6f-3dcd-44be-86e7-63ef83898d21" providerId="ADAL" clId="{3568F778-B01A-4926-B624-8FAC0DF7B7FE}" dt="2022-02-22T00:51:05.471" v="777" actId="20577"/>
        <pc:sldMkLst>
          <pc:docMk/>
          <pc:sldMk cId="3670729195" sldId="261"/>
        </pc:sldMkLst>
        <pc:spChg chg="mod">
          <ac:chgData name="Evan" userId="74fe0a6f-3dcd-44be-86e7-63ef83898d21" providerId="ADAL" clId="{3568F778-B01A-4926-B624-8FAC0DF7B7FE}" dt="2022-02-22T00:51:05.471" v="777" actId="20577"/>
          <ac:spMkLst>
            <pc:docMk/>
            <pc:sldMk cId="3670729195" sldId="261"/>
            <ac:spMk id="6" creationId="{64921231-F76F-9C4D-85F8-96525AB6710F}"/>
          </ac:spMkLst>
        </pc:spChg>
      </pc:sldChg>
      <pc:sldChg chg="modSp mod">
        <pc:chgData name="Evan" userId="74fe0a6f-3dcd-44be-86e7-63ef83898d21" providerId="ADAL" clId="{3568F778-B01A-4926-B624-8FAC0DF7B7FE}" dt="2022-02-22T00:59:50.975" v="808" actId="20577"/>
        <pc:sldMkLst>
          <pc:docMk/>
          <pc:sldMk cId="23760057" sldId="265"/>
        </pc:sldMkLst>
        <pc:spChg chg="mod">
          <ac:chgData name="Evan" userId="74fe0a6f-3dcd-44be-86e7-63ef83898d21" providerId="ADAL" clId="{3568F778-B01A-4926-B624-8FAC0DF7B7FE}" dt="2022-02-22T00:59:50.975" v="808" actId="20577"/>
          <ac:spMkLst>
            <pc:docMk/>
            <pc:sldMk cId="23760057" sldId="265"/>
            <ac:spMk id="6" creationId="{64921231-F76F-9C4D-85F8-96525AB6710F}"/>
          </ac:spMkLst>
        </pc:spChg>
      </pc:sldChg>
      <pc:sldChg chg="modSp mod">
        <pc:chgData name="Evan" userId="74fe0a6f-3dcd-44be-86e7-63ef83898d21" providerId="ADAL" clId="{3568F778-B01A-4926-B624-8FAC0DF7B7FE}" dt="2022-02-22T00:48:59.537" v="706" actId="20577"/>
        <pc:sldMkLst>
          <pc:docMk/>
          <pc:sldMk cId="3995190380" sldId="266"/>
        </pc:sldMkLst>
        <pc:spChg chg="mod">
          <ac:chgData name="Evan" userId="74fe0a6f-3dcd-44be-86e7-63ef83898d21" providerId="ADAL" clId="{3568F778-B01A-4926-B624-8FAC0DF7B7FE}" dt="2022-02-22T00:48:59.537" v="706" actId="20577"/>
          <ac:spMkLst>
            <pc:docMk/>
            <pc:sldMk cId="3995190380" sldId="266"/>
            <ac:spMk id="2" creationId="{A9D83C39-0196-4736-AA9F-09B16212EDCF}"/>
          </ac:spMkLst>
        </pc:spChg>
      </pc:sldChg>
      <pc:sldChg chg="modSp mod">
        <pc:chgData name="Evan" userId="74fe0a6f-3dcd-44be-86e7-63ef83898d21" providerId="ADAL" clId="{3568F778-B01A-4926-B624-8FAC0DF7B7FE}" dt="2022-02-22T00:48:14.219" v="704" actId="27636"/>
        <pc:sldMkLst>
          <pc:docMk/>
          <pc:sldMk cId="1152549613" sldId="268"/>
        </pc:sldMkLst>
        <pc:spChg chg="mod">
          <ac:chgData name="Evan" userId="74fe0a6f-3dcd-44be-86e7-63ef83898d21" providerId="ADAL" clId="{3568F778-B01A-4926-B624-8FAC0DF7B7FE}" dt="2022-02-22T00:48:14.219" v="704" actId="27636"/>
          <ac:spMkLst>
            <pc:docMk/>
            <pc:sldMk cId="1152549613" sldId="268"/>
            <ac:spMk id="5" creationId="{34202EF4-BE1D-8146-9846-177F3B789037}"/>
          </ac:spMkLst>
        </pc:spChg>
      </pc:sldChg>
      <pc:sldChg chg="modSp mod">
        <pc:chgData name="Evan" userId="74fe0a6f-3dcd-44be-86e7-63ef83898d21" providerId="ADAL" clId="{3568F778-B01A-4926-B624-8FAC0DF7B7FE}" dt="2022-02-20T23:17:35.402" v="701" actId="114"/>
        <pc:sldMkLst>
          <pc:docMk/>
          <pc:sldMk cId="1515340085" sldId="275"/>
        </pc:sldMkLst>
        <pc:spChg chg="mod">
          <ac:chgData name="Evan" userId="74fe0a6f-3dcd-44be-86e7-63ef83898d21" providerId="ADAL" clId="{3568F778-B01A-4926-B624-8FAC0DF7B7FE}" dt="2022-02-20T23:17:35.402" v="701" actId="114"/>
          <ac:spMkLst>
            <pc:docMk/>
            <pc:sldMk cId="1515340085" sldId="275"/>
            <ac:spMk id="6" creationId="{64921231-F76F-9C4D-85F8-96525AB6710F}"/>
          </ac:spMkLst>
        </pc:spChg>
      </pc:sldChg>
      <pc:sldChg chg="modSp mod">
        <pc:chgData name="Evan" userId="74fe0a6f-3dcd-44be-86e7-63ef83898d21" providerId="ADAL" clId="{3568F778-B01A-4926-B624-8FAC0DF7B7FE}" dt="2022-02-22T00:53:29.001" v="800" actId="20577"/>
        <pc:sldMkLst>
          <pc:docMk/>
          <pc:sldMk cId="1610351194" sldId="277"/>
        </pc:sldMkLst>
        <pc:spChg chg="mod">
          <ac:chgData name="Evan" userId="74fe0a6f-3dcd-44be-86e7-63ef83898d21" providerId="ADAL" clId="{3568F778-B01A-4926-B624-8FAC0DF7B7FE}" dt="2022-02-22T00:53:29.001" v="800" actId="20577"/>
          <ac:spMkLst>
            <pc:docMk/>
            <pc:sldMk cId="1610351194" sldId="277"/>
            <ac:spMk id="6" creationId="{64921231-F76F-9C4D-85F8-96525AB6710F}"/>
          </ac:spMkLst>
        </pc:spChg>
      </pc:sldChg>
      <pc:sldChg chg="addSp delSp modSp mod">
        <pc:chgData name="Evan" userId="74fe0a6f-3dcd-44be-86e7-63ef83898d21" providerId="ADAL" clId="{3568F778-B01A-4926-B624-8FAC0DF7B7FE}" dt="2022-02-22T00:58:46.970" v="804" actId="1076"/>
        <pc:sldMkLst>
          <pc:docMk/>
          <pc:sldMk cId="2176629390" sldId="289"/>
        </pc:sldMkLst>
        <pc:picChg chg="add mod">
          <ac:chgData name="Evan" userId="74fe0a6f-3dcd-44be-86e7-63ef83898d21" providerId="ADAL" clId="{3568F778-B01A-4926-B624-8FAC0DF7B7FE}" dt="2022-02-22T00:58:46.970" v="804" actId="1076"/>
          <ac:picMkLst>
            <pc:docMk/>
            <pc:sldMk cId="2176629390" sldId="289"/>
            <ac:picMk id="5" creationId="{8783BC80-7E29-4B65-B73F-A154569CD128}"/>
          </ac:picMkLst>
        </pc:picChg>
        <pc:picChg chg="del">
          <ac:chgData name="Evan" userId="74fe0a6f-3dcd-44be-86e7-63ef83898d21" providerId="ADAL" clId="{3568F778-B01A-4926-B624-8FAC0DF7B7FE}" dt="2022-02-22T00:58:08.461" v="801" actId="478"/>
          <ac:picMkLst>
            <pc:docMk/>
            <pc:sldMk cId="2176629390" sldId="289"/>
            <ac:picMk id="6" creationId="{90EDD394-7174-426B-94EF-035DA45D034A}"/>
          </ac:picMkLst>
        </pc:picChg>
      </pc:sldChg>
      <pc:sldChg chg="modSp mod">
        <pc:chgData name="Evan" userId="74fe0a6f-3dcd-44be-86e7-63ef83898d21" providerId="ADAL" clId="{3568F778-B01A-4926-B624-8FAC0DF7B7FE}" dt="2022-02-22T01:02:05.829" v="1021" actId="20577"/>
        <pc:sldMkLst>
          <pc:docMk/>
          <pc:sldMk cId="3705038431" sldId="291"/>
        </pc:sldMkLst>
        <pc:spChg chg="mod">
          <ac:chgData name="Evan" userId="74fe0a6f-3dcd-44be-86e7-63ef83898d21" providerId="ADAL" clId="{3568F778-B01A-4926-B624-8FAC0DF7B7FE}" dt="2022-02-22T01:02:05.829" v="1021" actId="20577"/>
          <ac:spMkLst>
            <pc:docMk/>
            <pc:sldMk cId="3705038431" sldId="291"/>
            <ac:spMk id="6" creationId="{64921231-F76F-9C4D-85F8-96525AB6710F}"/>
          </ac:spMkLst>
        </pc:spChg>
      </pc:sldChg>
    </pc:docChg>
  </pc:docChgLst>
  <pc:docChgLst>
    <pc:chgData name="Jones, Evan A" userId="74fe0a6f-3dcd-44be-86e7-63ef83898d21" providerId="ADAL" clId="{78F8B7C3-D70B-451B-9DBE-81AB91B68803}"/>
    <pc:docChg chg="undo custSel addSld delSld modSld">
      <pc:chgData name="Jones, Evan A" userId="74fe0a6f-3dcd-44be-86e7-63ef83898d21" providerId="ADAL" clId="{78F8B7C3-D70B-451B-9DBE-81AB91B68803}" dt="2022-04-21T03:29:07.922" v="4161" actId="47"/>
      <pc:docMkLst>
        <pc:docMk/>
      </pc:docMkLst>
      <pc:sldChg chg="modSp mod">
        <pc:chgData name="Jones, Evan A" userId="74fe0a6f-3dcd-44be-86e7-63ef83898d21" providerId="ADAL" clId="{78F8B7C3-D70B-451B-9DBE-81AB91B68803}" dt="2022-02-21T22:52:43.072" v="3233" actId="20577"/>
        <pc:sldMkLst>
          <pc:docMk/>
          <pc:sldMk cId="2789775945" sldId="256"/>
        </pc:sldMkLst>
        <pc:spChg chg="mod">
          <ac:chgData name="Jones, Evan A" userId="74fe0a6f-3dcd-44be-86e7-63ef83898d21" providerId="ADAL" clId="{78F8B7C3-D70B-451B-9DBE-81AB91B68803}" dt="2022-02-21T22:52:43.072" v="3233" actId="20577"/>
          <ac:spMkLst>
            <pc:docMk/>
            <pc:sldMk cId="2789775945" sldId="256"/>
            <ac:spMk id="3" creationId="{B7E66134-3B68-CA46-9583-81F439EB81A2}"/>
          </ac:spMkLst>
        </pc:spChg>
      </pc:sldChg>
      <pc:sldChg chg="modSp mod">
        <pc:chgData name="Jones, Evan A" userId="74fe0a6f-3dcd-44be-86e7-63ef83898d21" providerId="ADAL" clId="{78F8B7C3-D70B-451B-9DBE-81AB91B68803}" dt="2022-02-21T20:19:58.146" v="118" actId="27636"/>
        <pc:sldMkLst>
          <pc:docMk/>
          <pc:sldMk cId="2016116046" sldId="257"/>
        </pc:sldMkLst>
        <pc:spChg chg="mod">
          <ac:chgData name="Jones, Evan A" userId="74fe0a6f-3dcd-44be-86e7-63ef83898d21" providerId="ADAL" clId="{78F8B7C3-D70B-451B-9DBE-81AB91B68803}" dt="2022-02-21T20:19:58.146" v="118" actId="27636"/>
          <ac:spMkLst>
            <pc:docMk/>
            <pc:sldMk cId="2016116046" sldId="257"/>
            <ac:spMk id="5" creationId="{34202EF4-BE1D-8146-9846-177F3B789037}"/>
          </ac:spMkLst>
        </pc:spChg>
      </pc:sldChg>
      <pc:sldChg chg="modSp mod">
        <pc:chgData name="Jones, Evan A" userId="74fe0a6f-3dcd-44be-86e7-63ef83898d21" providerId="ADAL" clId="{78F8B7C3-D70B-451B-9DBE-81AB91B68803}" dt="2022-02-22T18:25:29.612" v="3264" actId="20577"/>
        <pc:sldMkLst>
          <pc:docMk/>
          <pc:sldMk cId="4201212122" sldId="258"/>
        </pc:sldMkLst>
        <pc:spChg chg="mod">
          <ac:chgData name="Jones, Evan A" userId="74fe0a6f-3dcd-44be-86e7-63ef83898d21" providerId="ADAL" clId="{78F8B7C3-D70B-451B-9DBE-81AB91B68803}" dt="2022-02-22T18:25:29.612" v="3264" actId="20577"/>
          <ac:spMkLst>
            <pc:docMk/>
            <pc:sldMk cId="4201212122" sldId="258"/>
            <ac:spMk id="6" creationId="{64921231-F76F-9C4D-85F8-96525AB6710F}"/>
          </ac:spMkLst>
        </pc:spChg>
      </pc:sldChg>
      <pc:sldChg chg="modSp mod">
        <pc:chgData name="Jones, Evan A" userId="74fe0a6f-3dcd-44be-86e7-63ef83898d21" providerId="ADAL" clId="{78F8B7C3-D70B-451B-9DBE-81AB91B68803}" dt="2022-02-22T18:31:02.801" v="3381" actId="20577"/>
        <pc:sldMkLst>
          <pc:docMk/>
          <pc:sldMk cId="23760057" sldId="265"/>
        </pc:sldMkLst>
        <pc:spChg chg="mod">
          <ac:chgData name="Jones, Evan A" userId="74fe0a6f-3dcd-44be-86e7-63ef83898d21" providerId="ADAL" clId="{78F8B7C3-D70B-451B-9DBE-81AB91B68803}" dt="2022-02-22T18:31:02.801" v="3381" actId="20577"/>
          <ac:spMkLst>
            <pc:docMk/>
            <pc:sldMk cId="23760057" sldId="265"/>
            <ac:spMk id="6" creationId="{64921231-F76F-9C4D-85F8-96525AB6710F}"/>
          </ac:spMkLst>
        </pc:spChg>
      </pc:sldChg>
      <pc:sldChg chg="modSp mod">
        <pc:chgData name="Jones, Evan A" userId="74fe0a6f-3dcd-44be-86e7-63ef83898d21" providerId="ADAL" clId="{78F8B7C3-D70B-451B-9DBE-81AB91B68803}" dt="2022-02-23T17:20:06.613" v="3463" actId="20577"/>
        <pc:sldMkLst>
          <pc:docMk/>
          <pc:sldMk cId="3995190380" sldId="266"/>
        </pc:sldMkLst>
        <pc:spChg chg="mod">
          <ac:chgData name="Jones, Evan A" userId="74fe0a6f-3dcd-44be-86e7-63ef83898d21" providerId="ADAL" clId="{78F8B7C3-D70B-451B-9DBE-81AB91B68803}" dt="2022-02-23T17:20:06.613" v="3463" actId="20577"/>
          <ac:spMkLst>
            <pc:docMk/>
            <pc:sldMk cId="3995190380" sldId="266"/>
            <ac:spMk id="2" creationId="{A9D83C39-0196-4736-AA9F-09B16212EDCF}"/>
          </ac:spMkLst>
        </pc:spChg>
      </pc:sldChg>
      <pc:sldChg chg="modSp mod">
        <pc:chgData name="Jones, Evan A" userId="74fe0a6f-3dcd-44be-86e7-63ef83898d21" providerId="ADAL" clId="{78F8B7C3-D70B-451B-9DBE-81AB91B68803}" dt="2022-02-22T18:27:08.500" v="3323" actId="20577"/>
        <pc:sldMkLst>
          <pc:docMk/>
          <pc:sldMk cId="1495993352" sldId="267"/>
        </pc:sldMkLst>
        <pc:spChg chg="mod">
          <ac:chgData name="Jones, Evan A" userId="74fe0a6f-3dcd-44be-86e7-63ef83898d21" providerId="ADAL" clId="{78F8B7C3-D70B-451B-9DBE-81AB91B68803}" dt="2022-02-22T18:27:08.500" v="3323" actId="20577"/>
          <ac:spMkLst>
            <pc:docMk/>
            <pc:sldMk cId="1495993352" sldId="267"/>
            <ac:spMk id="5" creationId="{34202EF4-BE1D-8146-9846-177F3B789037}"/>
          </ac:spMkLst>
        </pc:spChg>
      </pc:sldChg>
      <pc:sldChg chg="addSp delSp modSp mod">
        <pc:chgData name="Jones, Evan A" userId="74fe0a6f-3dcd-44be-86e7-63ef83898d21" providerId="ADAL" clId="{78F8B7C3-D70B-451B-9DBE-81AB91B68803}" dt="2022-02-21T20:20:37.013" v="129" actId="1076"/>
        <pc:sldMkLst>
          <pc:docMk/>
          <pc:sldMk cId="1152549613" sldId="268"/>
        </pc:sldMkLst>
        <pc:spChg chg="mod">
          <ac:chgData name="Jones, Evan A" userId="74fe0a6f-3dcd-44be-86e7-63ef83898d21" providerId="ADAL" clId="{78F8B7C3-D70B-451B-9DBE-81AB91B68803}" dt="2022-02-21T20:20:10.052" v="123" actId="5793"/>
          <ac:spMkLst>
            <pc:docMk/>
            <pc:sldMk cId="1152549613" sldId="268"/>
            <ac:spMk id="5" creationId="{34202EF4-BE1D-8146-9846-177F3B789037}"/>
          </ac:spMkLst>
        </pc:spChg>
        <pc:picChg chg="add mod">
          <ac:chgData name="Jones, Evan A" userId="74fe0a6f-3dcd-44be-86e7-63ef83898d21" providerId="ADAL" clId="{78F8B7C3-D70B-451B-9DBE-81AB91B68803}" dt="2022-02-21T20:20:37.013" v="129" actId="1076"/>
          <ac:picMkLst>
            <pc:docMk/>
            <pc:sldMk cId="1152549613" sldId="268"/>
            <ac:picMk id="3" creationId="{91CBBC3C-A524-4CF0-B95F-E06F55302882}"/>
          </ac:picMkLst>
        </pc:picChg>
        <pc:picChg chg="del">
          <ac:chgData name="Jones, Evan A" userId="74fe0a6f-3dcd-44be-86e7-63ef83898d21" providerId="ADAL" clId="{78F8B7C3-D70B-451B-9DBE-81AB91B68803}" dt="2022-02-21T20:20:06.302" v="119" actId="478"/>
          <ac:picMkLst>
            <pc:docMk/>
            <pc:sldMk cId="1152549613" sldId="268"/>
            <ac:picMk id="6" creationId="{7C7BA201-0C53-4915-B828-B360A37ACEC1}"/>
          </ac:picMkLst>
        </pc:picChg>
      </pc:sldChg>
      <pc:sldChg chg="modSp mod">
        <pc:chgData name="Jones, Evan A" userId="74fe0a6f-3dcd-44be-86e7-63ef83898d21" providerId="ADAL" clId="{78F8B7C3-D70B-451B-9DBE-81AB91B68803}" dt="2022-02-21T20:51:54.758" v="337" actId="20577"/>
        <pc:sldMkLst>
          <pc:docMk/>
          <pc:sldMk cId="1515635738" sldId="269"/>
        </pc:sldMkLst>
        <pc:graphicFrameChg chg="modGraphic">
          <ac:chgData name="Jones, Evan A" userId="74fe0a6f-3dcd-44be-86e7-63ef83898d21" providerId="ADAL" clId="{78F8B7C3-D70B-451B-9DBE-81AB91B68803}" dt="2022-02-21T20:51:54.758" v="337" actId="20577"/>
          <ac:graphicFrameMkLst>
            <pc:docMk/>
            <pc:sldMk cId="1515635738" sldId="269"/>
            <ac:graphicFrameMk id="24" creationId="{8DC24C8A-5E9F-4101-939C-16A7E1161496}"/>
          </ac:graphicFrameMkLst>
        </pc:graphicFrameChg>
      </pc:sldChg>
      <pc:sldChg chg="modSp mod">
        <pc:chgData name="Jones, Evan A" userId="74fe0a6f-3dcd-44be-86e7-63ef83898d21" providerId="ADAL" clId="{78F8B7C3-D70B-451B-9DBE-81AB91B68803}" dt="2022-02-21T20:56:49.174" v="710" actId="20577"/>
        <pc:sldMkLst>
          <pc:docMk/>
          <pc:sldMk cId="1908421479" sldId="273"/>
        </pc:sldMkLst>
        <pc:spChg chg="mod">
          <ac:chgData name="Jones, Evan A" userId="74fe0a6f-3dcd-44be-86e7-63ef83898d21" providerId="ADAL" clId="{78F8B7C3-D70B-451B-9DBE-81AB91B68803}" dt="2022-02-21T20:54:10.209" v="365" actId="20577"/>
          <ac:spMkLst>
            <pc:docMk/>
            <pc:sldMk cId="1908421479" sldId="273"/>
            <ac:spMk id="5" creationId="{B95DAEA5-6545-964C-9D5B-E32F4428480C}"/>
          </ac:spMkLst>
        </pc:spChg>
        <pc:spChg chg="mod">
          <ac:chgData name="Jones, Evan A" userId="74fe0a6f-3dcd-44be-86e7-63ef83898d21" providerId="ADAL" clId="{78F8B7C3-D70B-451B-9DBE-81AB91B68803}" dt="2022-02-21T20:56:49.174" v="710" actId="20577"/>
          <ac:spMkLst>
            <pc:docMk/>
            <pc:sldMk cId="1908421479" sldId="273"/>
            <ac:spMk id="6" creationId="{64921231-F76F-9C4D-85F8-96525AB6710F}"/>
          </ac:spMkLst>
        </pc:spChg>
      </pc:sldChg>
      <pc:sldChg chg="modSp mod">
        <pc:chgData name="Jones, Evan A" userId="74fe0a6f-3dcd-44be-86e7-63ef83898d21" providerId="ADAL" clId="{78F8B7C3-D70B-451B-9DBE-81AB91B68803}" dt="2022-02-22T18:35:00.554" v="3396" actId="20577"/>
        <pc:sldMkLst>
          <pc:docMk/>
          <pc:sldMk cId="1515340085" sldId="275"/>
        </pc:sldMkLst>
        <pc:spChg chg="mod">
          <ac:chgData name="Jones, Evan A" userId="74fe0a6f-3dcd-44be-86e7-63ef83898d21" providerId="ADAL" clId="{78F8B7C3-D70B-451B-9DBE-81AB91B68803}" dt="2022-02-22T18:35:00.554" v="3396" actId="20577"/>
          <ac:spMkLst>
            <pc:docMk/>
            <pc:sldMk cId="1515340085" sldId="275"/>
            <ac:spMk id="6" creationId="{64921231-F76F-9C4D-85F8-96525AB6710F}"/>
          </ac:spMkLst>
        </pc:spChg>
      </pc:sldChg>
      <pc:sldChg chg="addSp delSp modSp mod">
        <pc:chgData name="Jones, Evan A" userId="74fe0a6f-3dcd-44be-86e7-63ef83898d21" providerId="ADAL" clId="{78F8B7C3-D70B-451B-9DBE-81AB91B68803}" dt="2022-02-21T20:24:08.289" v="132" actId="27614"/>
        <pc:sldMkLst>
          <pc:docMk/>
          <pc:sldMk cId="2978012584" sldId="279"/>
        </pc:sldMkLst>
        <pc:picChg chg="add mod">
          <ac:chgData name="Jones, Evan A" userId="74fe0a6f-3dcd-44be-86e7-63ef83898d21" providerId="ADAL" clId="{78F8B7C3-D70B-451B-9DBE-81AB91B68803}" dt="2022-02-21T20:24:08.289" v="132" actId="27614"/>
          <ac:picMkLst>
            <pc:docMk/>
            <pc:sldMk cId="2978012584" sldId="279"/>
            <ac:picMk id="3" creationId="{9D680C11-A929-4341-BAB3-14400932B700}"/>
          </ac:picMkLst>
        </pc:picChg>
        <pc:picChg chg="del">
          <ac:chgData name="Jones, Evan A" userId="74fe0a6f-3dcd-44be-86e7-63ef83898d21" providerId="ADAL" clId="{78F8B7C3-D70B-451B-9DBE-81AB91B68803}" dt="2022-02-21T20:23:46.294" v="130" actId="478"/>
          <ac:picMkLst>
            <pc:docMk/>
            <pc:sldMk cId="2978012584" sldId="279"/>
            <ac:picMk id="9" creationId="{B908D1DE-41F2-40DB-B39C-BA976B680D16}"/>
          </ac:picMkLst>
        </pc:picChg>
      </pc:sldChg>
      <pc:sldChg chg="del">
        <pc:chgData name="Jones, Evan A" userId="74fe0a6f-3dcd-44be-86e7-63ef83898d21" providerId="ADAL" clId="{78F8B7C3-D70B-451B-9DBE-81AB91B68803}" dt="2022-04-21T03:29:07.922" v="4161" actId="47"/>
        <pc:sldMkLst>
          <pc:docMk/>
          <pc:sldMk cId="4285930360" sldId="281"/>
        </pc:sldMkLst>
      </pc:sldChg>
      <pc:sldChg chg="modSp mod">
        <pc:chgData name="Jones, Evan A" userId="74fe0a6f-3dcd-44be-86e7-63ef83898d21" providerId="ADAL" clId="{78F8B7C3-D70B-451B-9DBE-81AB91B68803}" dt="2022-02-21T20:42:27.889" v="179" actId="20577"/>
        <pc:sldMkLst>
          <pc:docMk/>
          <pc:sldMk cId="3906035467" sldId="282"/>
        </pc:sldMkLst>
        <pc:spChg chg="mod">
          <ac:chgData name="Jones, Evan A" userId="74fe0a6f-3dcd-44be-86e7-63ef83898d21" providerId="ADAL" clId="{78F8B7C3-D70B-451B-9DBE-81AB91B68803}" dt="2022-02-21T20:42:27.889" v="179" actId="20577"/>
          <ac:spMkLst>
            <pc:docMk/>
            <pc:sldMk cId="3906035467" sldId="282"/>
            <ac:spMk id="18" creationId="{E85B2C66-03A9-4BB8-9CE3-462870538BBB}"/>
          </ac:spMkLst>
        </pc:spChg>
      </pc:sldChg>
      <pc:sldChg chg="modSp mod">
        <pc:chgData name="Jones, Evan A" userId="74fe0a6f-3dcd-44be-86e7-63ef83898d21" providerId="ADAL" clId="{78F8B7C3-D70B-451B-9DBE-81AB91B68803}" dt="2022-02-21T23:47:53.091" v="3236" actId="27636"/>
        <pc:sldMkLst>
          <pc:docMk/>
          <pc:sldMk cId="2397474520" sldId="283"/>
        </pc:sldMkLst>
        <pc:spChg chg="mod">
          <ac:chgData name="Jones, Evan A" userId="74fe0a6f-3dcd-44be-86e7-63ef83898d21" providerId="ADAL" clId="{78F8B7C3-D70B-451B-9DBE-81AB91B68803}" dt="2022-02-21T23:47:53.091" v="3236" actId="27636"/>
          <ac:spMkLst>
            <pc:docMk/>
            <pc:sldMk cId="2397474520" sldId="283"/>
            <ac:spMk id="10" creationId="{986E5C8B-2923-446C-8D2A-B4E6383C14B9}"/>
          </ac:spMkLst>
        </pc:spChg>
      </pc:sldChg>
      <pc:sldChg chg="addSp modSp mod">
        <pc:chgData name="Jones, Evan A" userId="74fe0a6f-3dcd-44be-86e7-63ef83898d21" providerId="ADAL" clId="{78F8B7C3-D70B-451B-9DBE-81AB91B68803}" dt="2022-02-23T17:21:54.074" v="3629" actId="1076"/>
        <pc:sldMkLst>
          <pc:docMk/>
          <pc:sldMk cId="2835511684" sldId="285"/>
        </pc:sldMkLst>
        <pc:spChg chg="mod">
          <ac:chgData name="Jones, Evan A" userId="74fe0a6f-3dcd-44be-86e7-63ef83898d21" providerId="ADAL" clId="{78F8B7C3-D70B-451B-9DBE-81AB91B68803}" dt="2022-02-21T21:00:40.092" v="732" actId="20577"/>
          <ac:spMkLst>
            <pc:docMk/>
            <pc:sldMk cId="2835511684" sldId="285"/>
            <ac:spMk id="5" creationId="{B95DAEA5-6545-964C-9D5B-E32F4428480C}"/>
          </ac:spMkLst>
        </pc:spChg>
        <pc:spChg chg="mod">
          <ac:chgData name="Jones, Evan A" userId="74fe0a6f-3dcd-44be-86e7-63ef83898d21" providerId="ADAL" clId="{78F8B7C3-D70B-451B-9DBE-81AB91B68803}" dt="2022-02-23T17:21:32.380" v="3621" actId="20577"/>
          <ac:spMkLst>
            <pc:docMk/>
            <pc:sldMk cId="2835511684" sldId="285"/>
            <ac:spMk id="6" creationId="{64921231-F76F-9C4D-85F8-96525AB6710F}"/>
          </ac:spMkLst>
        </pc:spChg>
        <pc:spChg chg="mod">
          <ac:chgData name="Jones, Evan A" userId="74fe0a6f-3dcd-44be-86e7-63ef83898d21" providerId="ADAL" clId="{78F8B7C3-D70B-451B-9DBE-81AB91B68803}" dt="2022-02-23T17:21:54.074" v="3629" actId="1076"/>
          <ac:spMkLst>
            <pc:docMk/>
            <pc:sldMk cId="2835511684" sldId="285"/>
            <ac:spMk id="7" creationId="{C3658EE7-B3A0-4A97-9725-CEFAE4BA30BB}"/>
          </ac:spMkLst>
        </pc:spChg>
        <pc:graphicFrameChg chg="mod modGraphic">
          <ac:chgData name="Jones, Evan A" userId="74fe0a6f-3dcd-44be-86e7-63ef83898d21" providerId="ADAL" clId="{78F8B7C3-D70B-451B-9DBE-81AB91B68803}" dt="2022-02-23T17:21:40.206" v="3623" actId="1076"/>
          <ac:graphicFrameMkLst>
            <pc:docMk/>
            <pc:sldMk cId="2835511684" sldId="285"/>
            <ac:graphicFrameMk id="2" creationId="{BB5D6293-FA02-4E98-99E0-C7309B72F6F1}"/>
          </ac:graphicFrameMkLst>
        </pc:graphicFrameChg>
        <pc:picChg chg="mod">
          <ac:chgData name="Jones, Evan A" userId="74fe0a6f-3dcd-44be-86e7-63ef83898d21" providerId="ADAL" clId="{78F8B7C3-D70B-451B-9DBE-81AB91B68803}" dt="2022-02-23T17:21:49.709" v="3628" actId="1076"/>
          <ac:picMkLst>
            <pc:docMk/>
            <pc:sldMk cId="2835511684" sldId="285"/>
            <ac:picMk id="4" creationId="{719F94E4-5D8C-4BE1-A4D2-39189FAC06F4}"/>
          </ac:picMkLst>
        </pc:picChg>
        <pc:picChg chg="add mod">
          <ac:chgData name="Jones, Evan A" userId="74fe0a6f-3dcd-44be-86e7-63ef83898d21" providerId="ADAL" clId="{78F8B7C3-D70B-451B-9DBE-81AB91B68803}" dt="2022-02-23T17:21:46.823" v="3627" actId="1076"/>
          <ac:picMkLst>
            <pc:docMk/>
            <pc:sldMk cId="2835511684" sldId="285"/>
            <ac:picMk id="8" creationId="{26AC3C00-4573-4C94-AED0-E176E9CBCCC6}"/>
          </ac:picMkLst>
        </pc:picChg>
        <pc:picChg chg="add mod">
          <ac:chgData name="Jones, Evan A" userId="74fe0a6f-3dcd-44be-86e7-63ef83898d21" providerId="ADAL" clId="{78F8B7C3-D70B-451B-9DBE-81AB91B68803}" dt="2022-02-23T17:21:41.963" v="3624" actId="1076"/>
          <ac:picMkLst>
            <pc:docMk/>
            <pc:sldMk cId="2835511684" sldId="285"/>
            <ac:picMk id="9" creationId="{5196CFD9-F89C-4608-89A9-DC4BD199B1E9}"/>
          </ac:picMkLst>
        </pc:picChg>
        <pc:picChg chg="add mod">
          <ac:chgData name="Jones, Evan A" userId="74fe0a6f-3dcd-44be-86e7-63ef83898d21" providerId="ADAL" clId="{78F8B7C3-D70B-451B-9DBE-81AB91B68803}" dt="2022-02-23T17:21:44.747" v="3626" actId="1076"/>
          <ac:picMkLst>
            <pc:docMk/>
            <pc:sldMk cId="2835511684" sldId="285"/>
            <ac:picMk id="10" creationId="{2B05265E-114E-45F1-9929-0252AA80229F}"/>
          </ac:picMkLst>
        </pc:picChg>
      </pc:sldChg>
      <pc:sldChg chg="modSp mod">
        <pc:chgData name="Jones, Evan A" userId="74fe0a6f-3dcd-44be-86e7-63ef83898d21" providerId="ADAL" clId="{78F8B7C3-D70B-451B-9DBE-81AB91B68803}" dt="2022-02-23T17:24:55.907" v="4160" actId="20577"/>
        <pc:sldMkLst>
          <pc:docMk/>
          <pc:sldMk cId="1944493996" sldId="286"/>
        </pc:sldMkLst>
        <pc:spChg chg="mod">
          <ac:chgData name="Jones, Evan A" userId="74fe0a6f-3dcd-44be-86e7-63ef83898d21" providerId="ADAL" clId="{78F8B7C3-D70B-451B-9DBE-81AB91B68803}" dt="2022-02-23T17:24:55.907" v="4160" actId="20577"/>
          <ac:spMkLst>
            <pc:docMk/>
            <pc:sldMk cId="1944493996" sldId="286"/>
            <ac:spMk id="6" creationId="{64921231-F76F-9C4D-85F8-96525AB6710F}"/>
          </ac:spMkLst>
        </pc:spChg>
      </pc:sldChg>
      <pc:sldChg chg="modSp mod">
        <pc:chgData name="Jones, Evan A" userId="74fe0a6f-3dcd-44be-86e7-63ef83898d21" providerId="ADAL" clId="{78F8B7C3-D70B-451B-9DBE-81AB91B68803}" dt="2022-02-21T21:00:43.729" v="734" actId="20577"/>
        <pc:sldMkLst>
          <pc:docMk/>
          <pc:sldMk cId="3037751779" sldId="287"/>
        </pc:sldMkLst>
        <pc:spChg chg="mod">
          <ac:chgData name="Jones, Evan A" userId="74fe0a6f-3dcd-44be-86e7-63ef83898d21" providerId="ADAL" clId="{78F8B7C3-D70B-451B-9DBE-81AB91B68803}" dt="2022-02-21T21:00:43.729" v="734" actId="20577"/>
          <ac:spMkLst>
            <pc:docMk/>
            <pc:sldMk cId="3037751779" sldId="287"/>
            <ac:spMk id="2" creationId="{27D7C185-603B-4989-A25E-346BEEDEB118}"/>
          </ac:spMkLst>
        </pc:spChg>
      </pc:sldChg>
      <pc:sldChg chg="modSp mod">
        <pc:chgData name="Jones, Evan A" userId="74fe0a6f-3dcd-44be-86e7-63ef83898d21" providerId="ADAL" clId="{78F8B7C3-D70B-451B-9DBE-81AB91B68803}" dt="2022-02-21T22:24:37.651" v="2881" actId="313"/>
        <pc:sldMkLst>
          <pc:docMk/>
          <pc:sldMk cId="393934714" sldId="290"/>
        </pc:sldMkLst>
        <pc:spChg chg="mod">
          <ac:chgData name="Jones, Evan A" userId="74fe0a6f-3dcd-44be-86e7-63ef83898d21" providerId="ADAL" clId="{78F8B7C3-D70B-451B-9DBE-81AB91B68803}" dt="2022-02-21T22:24:37.651" v="2881" actId="313"/>
          <ac:spMkLst>
            <pc:docMk/>
            <pc:sldMk cId="393934714" sldId="290"/>
            <ac:spMk id="6" creationId="{64921231-F76F-9C4D-85F8-96525AB6710F}"/>
          </ac:spMkLst>
        </pc:spChg>
      </pc:sldChg>
      <pc:sldChg chg="modSp mod">
        <pc:chgData name="Jones, Evan A" userId="74fe0a6f-3dcd-44be-86e7-63ef83898d21" providerId="ADAL" clId="{78F8B7C3-D70B-451B-9DBE-81AB91B68803}" dt="2022-02-21T22:26:46.068" v="3107" actId="20577"/>
        <pc:sldMkLst>
          <pc:docMk/>
          <pc:sldMk cId="3705038431" sldId="291"/>
        </pc:sldMkLst>
        <pc:spChg chg="mod">
          <ac:chgData name="Jones, Evan A" userId="74fe0a6f-3dcd-44be-86e7-63ef83898d21" providerId="ADAL" clId="{78F8B7C3-D70B-451B-9DBE-81AB91B68803}" dt="2022-02-21T22:25:09.189" v="2893" actId="20577"/>
          <ac:spMkLst>
            <pc:docMk/>
            <pc:sldMk cId="3705038431" sldId="291"/>
            <ac:spMk id="5" creationId="{B95DAEA5-6545-964C-9D5B-E32F4428480C}"/>
          </ac:spMkLst>
        </pc:spChg>
        <pc:spChg chg="mod">
          <ac:chgData name="Jones, Evan A" userId="74fe0a6f-3dcd-44be-86e7-63ef83898d21" providerId="ADAL" clId="{78F8B7C3-D70B-451B-9DBE-81AB91B68803}" dt="2022-02-21T22:26:46.068" v="3107" actId="20577"/>
          <ac:spMkLst>
            <pc:docMk/>
            <pc:sldMk cId="3705038431" sldId="291"/>
            <ac:spMk id="6" creationId="{64921231-F76F-9C4D-85F8-96525AB6710F}"/>
          </ac:spMkLst>
        </pc:spChg>
      </pc:sldChg>
      <pc:sldChg chg="addSp delSp modSp new mod">
        <pc:chgData name="Jones, Evan A" userId="74fe0a6f-3dcd-44be-86e7-63ef83898d21" providerId="ADAL" clId="{78F8B7C3-D70B-451B-9DBE-81AB91B68803}" dt="2022-02-21T22:51:50.113" v="3229" actId="20577"/>
        <pc:sldMkLst>
          <pc:docMk/>
          <pc:sldMk cId="1481471891" sldId="292"/>
        </pc:sldMkLst>
        <pc:spChg chg="mod">
          <ac:chgData name="Jones, Evan A" userId="74fe0a6f-3dcd-44be-86e7-63ef83898d21" providerId="ADAL" clId="{78F8B7C3-D70B-451B-9DBE-81AB91B68803}" dt="2022-02-21T22:14:46.437" v="1922" actId="20577"/>
          <ac:spMkLst>
            <pc:docMk/>
            <pc:sldMk cId="1481471891" sldId="292"/>
            <ac:spMk id="2" creationId="{B943B7AB-5327-46D2-A385-CC4528E2036D}"/>
          </ac:spMkLst>
        </pc:spChg>
        <pc:spChg chg="mod">
          <ac:chgData name="Jones, Evan A" userId="74fe0a6f-3dcd-44be-86e7-63ef83898d21" providerId="ADAL" clId="{78F8B7C3-D70B-451B-9DBE-81AB91B68803}" dt="2022-02-21T22:32:41.813" v="3187" actId="20577"/>
          <ac:spMkLst>
            <pc:docMk/>
            <pc:sldMk cId="1481471891" sldId="292"/>
            <ac:spMk id="3" creationId="{8E5933F5-FEF0-498C-A2E5-B0ABFCFDF5FC}"/>
          </ac:spMkLst>
        </pc:spChg>
        <pc:spChg chg="del">
          <ac:chgData name="Jones, Evan A" userId="74fe0a6f-3dcd-44be-86e7-63ef83898d21" providerId="ADAL" clId="{78F8B7C3-D70B-451B-9DBE-81AB91B68803}" dt="2022-02-21T21:33:43.003" v="782" actId="478"/>
          <ac:spMkLst>
            <pc:docMk/>
            <pc:sldMk cId="1481471891" sldId="292"/>
            <ac:spMk id="4" creationId="{16E3CF2A-8C59-4E9B-B007-D65B0FA125F9}"/>
          </ac:spMkLst>
        </pc:spChg>
        <pc:spChg chg="add mod">
          <ac:chgData name="Jones, Evan A" userId="74fe0a6f-3dcd-44be-86e7-63ef83898d21" providerId="ADAL" clId="{78F8B7C3-D70B-451B-9DBE-81AB91B68803}" dt="2022-02-21T22:50:58.534" v="3210" actId="1076"/>
          <ac:spMkLst>
            <pc:docMk/>
            <pc:sldMk cId="1481471891" sldId="292"/>
            <ac:spMk id="7" creationId="{BC2705DD-3478-4E43-BD9A-80F4D7EB7CE9}"/>
          </ac:spMkLst>
        </pc:spChg>
        <pc:spChg chg="add mod">
          <ac:chgData name="Jones, Evan A" userId="74fe0a6f-3dcd-44be-86e7-63ef83898d21" providerId="ADAL" clId="{78F8B7C3-D70B-451B-9DBE-81AB91B68803}" dt="2022-02-21T22:51:50.113" v="3229" actId="20577"/>
          <ac:spMkLst>
            <pc:docMk/>
            <pc:sldMk cId="1481471891" sldId="292"/>
            <ac:spMk id="10" creationId="{758EF8C1-476E-4B1D-9CB4-E147CD84BD8D}"/>
          </ac:spMkLst>
        </pc:spChg>
        <pc:picChg chg="add mod">
          <ac:chgData name="Jones, Evan A" userId="74fe0a6f-3dcd-44be-86e7-63ef83898d21" providerId="ADAL" clId="{78F8B7C3-D70B-451B-9DBE-81AB91B68803}" dt="2022-02-21T22:50:27.400" v="3195" actId="1076"/>
          <ac:picMkLst>
            <pc:docMk/>
            <pc:sldMk cId="1481471891" sldId="292"/>
            <ac:picMk id="6" creationId="{2705945A-D06B-4297-AE78-C8847B5FDF4D}"/>
          </ac:picMkLst>
        </pc:picChg>
        <pc:picChg chg="add mod">
          <ac:chgData name="Jones, Evan A" userId="74fe0a6f-3dcd-44be-86e7-63ef83898d21" providerId="ADAL" clId="{78F8B7C3-D70B-451B-9DBE-81AB91B68803}" dt="2022-02-21T22:51:33.385" v="3219" actId="1076"/>
          <ac:picMkLst>
            <pc:docMk/>
            <pc:sldMk cId="1481471891" sldId="292"/>
            <ac:picMk id="9" creationId="{F2BF4F2C-F336-404A-96C4-062CA303FF92}"/>
          </ac:picMkLst>
        </pc:picChg>
      </pc:sldChg>
      <pc:sldChg chg="new del">
        <pc:chgData name="Jones, Evan A" userId="74fe0a6f-3dcd-44be-86e7-63ef83898d21" providerId="ADAL" clId="{78F8B7C3-D70B-451B-9DBE-81AB91B68803}" dt="2022-02-21T21:33:10.153" v="736" actId="680"/>
        <pc:sldMkLst>
          <pc:docMk/>
          <pc:sldMk cId="3587415892" sldId="292"/>
        </pc:sldMkLst>
      </pc:sldChg>
      <pc:sldChg chg="addSp modSp add mod">
        <pc:chgData name="Jones, Evan A" userId="74fe0a6f-3dcd-44be-86e7-63ef83898d21" providerId="ADAL" clId="{78F8B7C3-D70B-451B-9DBE-81AB91B68803}" dt="2022-02-21T22:30:31.134" v="3118" actId="1076"/>
        <pc:sldMkLst>
          <pc:docMk/>
          <pc:sldMk cId="1806683591" sldId="293"/>
        </pc:sldMkLst>
        <pc:spChg chg="mod">
          <ac:chgData name="Jones, Evan A" userId="74fe0a6f-3dcd-44be-86e7-63ef83898d21" providerId="ADAL" clId="{78F8B7C3-D70B-451B-9DBE-81AB91B68803}" dt="2022-02-21T22:28:01.701" v="3113" actId="27636"/>
          <ac:spMkLst>
            <pc:docMk/>
            <pc:sldMk cId="1806683591" sldId="293"/>
            <ac:spMk id="3" creationId="{8E5933F5-FEF0-498C-A2E5-B0ABFCFDF5FC}"/>
          </ac:spMkLst>
        </pc:spChg>
        <pc:picChg chg="add mod">
          <ac:chgData name="Jones, Evan A" userId="74fe0a6f-3dcd-44be-86e7-63ef83898d21" providerId="ADAL" clId="{78F8B7C3-D70B-451B-9DBE-81AB91B68803}" dt="2022-02-21T22:28:05.438" v="3114" actId="1076"/>
          <ac:picMkLst>
            <pc:docMk/>
            <pc:sldMk cId="1806683591" sldId="293"/>
            <ac:picMk id="4" creationId="{CCC798B3-23C1-45E4-BB94-4689C9023A69}"/>
          </ac:picMkLst>
        </pc:picChg>
        <pc:picChg chg="add mod modCrop">
          <ac:chgData name="Jones, Evan A" userId="74fe0a6f-3dcd-44be-86e7-63ef83898d21" providerId="ADAL" clId="{78F8B7C3-D70B-451B-9DBE-81AB91B68803}" dt="2022-02-21T22:30:31.134" v="3118" actId="1076"/>
          <ac:picMkLst>
            <pc:docMk/>
            <pc:sldMk cId="1806683591" sldId="293"/>
            <ac:picMk id="5" creationId="{8F26C1BD-AD8E-4E8E-A1FD-BC9957464A4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6E295-2078-3A4C-9B3B-128821A97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03100D-CACA-0F41-B537-339726C6A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7CCEE-F6A5-9F4C-8CE3-50501077053A}" type="datetimeFigureOut">
              <a:rPr lang="en-US" smtClean="0"/>
              <a:t>4/27/2022</a:t>
            </a:fld>
            <a:endParaRPr lang="en-US"/>
          </a:p>
        </p:txBody>
      </p:sp>
      <p:sp>
        <p:nvSpPr>
          <p:cNvPr id="4" name="Footer Placeholder 3">
            <a:extLst>
              <a:ext uri="{FF2B5EF4-FFF2-40B4-BE49-F238E27FC236}">
                <a16:creationId xmlns:a16="http://schemas.microsoft.com/office/drawing/2014/main" id="{1518C585-FF88-2E4D-AADE-9C9529D2F7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F8045-3A37-824A-8710-57C502BDE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957D50-C692-A448-91EE-4B0FAD320CD6}" type="slidenum">
              <a:rPr lang="en-US" smtClean="0"/>
              <a:t>‹#›</a:t>
            </a:fld>
            <a:endParaRPr lang="en-US"/>
          </a:p>
        </p:txBody>
      </p:sp>
    </p:spTree>
    <p:extLst>
      <p:ext uri="{BB962C8B-B14F-4D97-AF65-F5344CB8AC3E}">
        <p14:creationId xmlns:p14="http://schemas.microsoft.com/office/powerpoint/2010/main" val="128509397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17EE9D9-49A7-AE42-84D1-352EBEE407C2}"/>
              </a:ext>
            </a:extLst>
          </p:cNvPr>
          <p:cNvSpPr>
            <a:spLocks noGrp="1"/>
          </p:cNvSpPr>
          <p:nvPr>
            <p:ph type="ctrTitle"/>
          </p:nvPr>
        </p:nvSpPr>
        <p:spPr>
          <a:xfrm>
            <a:off x="2955684" y="1149178"/>
            <a:ext cx="6795912" cy="2643890"/>
          </a:xfrm>
          <a:prstGeom prst="rect">
            <a:avLst/>
          </a:prstGeom>
        </p:spPr>
        <p:txBody>
          <a:bodyPr anchor="b" anchorCtr="0">
            <a:normAutofit/>
          </a:bodyPr>
          <a:lstStyle>
            <a:lvl1pPr algn="l">
              <a:lnSpc>
                <a:spcPts val="4800"/>
              </a:lnSpc>
              <a:defRPr sz="4200" b="1" i="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r>
              <a:rPr lang="en-US"/>
              <a:t>Click to edit Master title style</a:t>
            </a:r>
            <a:endParaRPr lang="en-US" dirty="0"/>
          </a:p>
        </p:txBody>
      </p:sp>
      <p:sp>
        <p:nvSpPr>
          <p:cNvPr id="3" name="Subtitle 2"/>
          <p:cNvSpPr>
            <a:spLocks noGrp="1"/>
          </p:cNvSpPr>
          <p:nvPr>
            <p:ph type="subTitle" idx="1"/>
          </p:nvPr>
        </p:nvSpPr>
        <p:spPr>
          <a:xfrm>
            <a:off x="2955682" y="3793068"/>
            <a:ext cx="6795913" cy="1684868"/>
          </a:xfrm>
          <a:prstGeom prst="rect">
            <a:avLst/>
          </a:prstGeom>
        </p:spPr>
        <p:txBody>
          <a:bodyPr>
            <a:noAutofit/>
          </a:bodyPr>
          <a:lstStyle>
            <a:lvl1pPr marL="0" indent="0" algn="l">
              <a:lnSpc>
                <a:spcPts val="3600"/>
              </a:lnSpc>
              <a:buNone/>
              <a:defRPr sz="1800" b="0" cap="none" spc="0" baseline="0">
                <a:solidFill>
                  <a:srgbClr val="857437"/>
                </a:solidFill>
                <a:latin typeface="Roboto" panose="02000000000000000000" pitchFamily="2" charset="0"/>
                <a:ea typeface="Roboto" panose="02000000000000000000" pitchFamily="2" charset="0"/>
                <a:cs typeface="Roboto" panose="02000000000000000000"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027251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5" name="Footer Placeholder 4">
            <a:extLst>
              <a:ext uri="{FF2B5EF4-FFF2-40B4-BE49-F238E27FC236}">
                <a16:creationId xmlns:a16="http://schemas.microsoft.com/office/drawing/2014/main" id="{3B7E5600-2DCC-EB44-9203-121C72C9B7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571505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6" name="Footer Placeholder 5">
            <a:extLst>
              <a:ext uri="{FF2B5EF4-FFF2-40B4-BE49-F238E27FC236}">
                <a16:creationId xmlns:a16="http://schemas.microsoft.com/office/drawing/2014/main" id="{23752637-104D-064E-9B91-0BC72B6E10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661298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8" name="Footer Placeholder 7">
            <a:extLst>
              <a:ext uri="{FF2B5EF4-FFF2-40B4-BE49-F238E27FC236}">
                <a16:creationId xmlns:a16="http://schemas.microsoft.com/office/drawing/2014/main" id="{9DE79E3B-E843-6343-9ECC-916F6A2E3E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204609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5170-396F-CE4F-A0AB-300CE9708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A6F2CA-2DD1-AF41-91EF-4D055700CA01}"/>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4" name="Footer Placeholder 3">
            <a:extLst>
              <a:ext uri="{FF2B5EF4-FFF2-40B4-BE49-F238E27FC236}">
                <a16:creationId xmlns:a16="http://schemas.microsoft.com/office/drawing/2014/main" id="{07635E81-A1AE-8442-89DE-148AC4FCDA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7583BD-E195-8D45-B88C-3F15BB700766}"/>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420620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3" name="Footer Placeholder 2">
            <a:extLst>
              <a:ext uri="{FF2B5EF4-FFF2-40B4-BE49-F238E27FC236}">
                <a16:creationId xmlns:a16="http://schemas.microsoft.com/office/drawing/2014/main" id="{C4F02ABE-49F8-8E43-8B96-1F432917E9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39050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313768" y="457201"/>
            <a:ext cx="749723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6" name="Footer Placeholder 5">
            <a:extLst>
              <a:ext uri="{FF2B5EF4-FFF2-40B4-BE49-F238E27FC236}">
                <a16:creationId xmlns:a16="http://schemas.microsoft.com/office/drawing/2014/main" id="{E99ABCA5-3B76-9E47-892E-A475FC83C7B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4003491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313768" y="457201"/>
            <a:ext cx="7497233"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6" name="Footer Placeholder 5">
            <a:extLst>
              <a:ext uri="{FF2B5EF4-FFF2-40B4-BE49-F238E27FC236}">
                <a16:creationId xmlns:a16="http://schemas.microsoft.com/office/drawing/2014/main" id="{57F10CDF-1139-2249-8F5E-3E7043CC18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07745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886C1-1209-CD40-86E4-C72B7974BE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157BF9-8D1A-FD41-A037-BF729754D18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A231DA-AB5C-C240-9332-9CC3D46A81BD}"/>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5" name="Footer Placeholder 4">
            <a:extLst>
              <a:ext uri="{FF2B5EF4-FFF2-40B4-BE49-F238E27FC236}">
                <a16:creationId xmlns:a16="http://schemas.microsoft.com/office/drawing/2014/main" id="{3067AB74-A3C5-CF45-A5A3-124A94D150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83F40-6572-9341-AE1A-0342450A98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391563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DA8079-4F60-D34B-96A4-C32E3C6A4A6C}"/>
              </a:ext>
            </a:extLst>
          </p:cNvPr>
          <p:cNvSpPr>
            <a:spLocks noGrp="1"/>
          </p:cNvSpPr>
          <p:nvPr>
            <p:ph type="title" orient="vert"/>
          </p:nvPr>
        </p:nvSpPr>
        <p:spPr>
          <a:xfrm>
            <a:off x="9182101"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0213FC5-8FDB-D640-8F18-46D09DD7FDA5}"/>
              </a:ext>
            </a:extLst>
          </p:cNvPr>
          <p:cNvSpPr>
            <a:spLocks noGrp="1"/>
          </p:cNvSpPr>
          <p:nvPr>
            <p:ph type="body" orient="vert" idx="1"/>
          </p:nvPr>
        </p:nvSpPr>
        <p:spPr>
          <a:xfrm>
            <a:off x="381001" y="365125"/>
            <a:ext cx="88011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89F9D1-30A5-3C44-9E01-F570121CC3F9}"/>
              </a:ext>
            </a:extLst>
          </p:cNvPr>
          <p:cNvSpPr>
            <a:spLocks noGrp="1"/>
          </p:cNvSpPr>
          <p:nvPr>
            <p:ph type="dt" sz="half" idx="10"/>
          </p:nvPr>
        </p:nvSpPr>
        <p:spPr/>
        <p:txBody>
          <a:bodyPr/>
          <a:lstStyle/>
          <a:p>
            <a:fld id="{016554A5-B4DD-7045-B047-B7DA6D1E70A4}" type="datetimeFigureOut">
              <a:rPr lang="en-US" smtClean="0"/>
              <a:t>4/27/2022</a:t>
            </a:fld>
            <a:endParaRPr lang="en-US"/>
          </a:p>
        </p:txBody>
      </p:sp>
      <p:sp>
        <p:nvSpPr>
          <p:cNvPr id="5" name="Footer Placeholder 4">
            <a:extLst>
              <a:ext uri="{FF2B5EF4-FFF2-40B4-BE49-F238E27FC236}">
                <a16:creationId xmlns:a16="http://schemas.microsoft.com/office/drawing/2014/main" id="{F4AC5DF8-E50D-1745-97C5-A23C0E511C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D20E1-9670-8A49-9442-60CC23074B66}"/>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998614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2.png"/><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981321"/>
      </p:ext>
    </p:extLst>
  </p:cSld>
  <p:clrMap bg1="lt1" tx1="dk1" bg2="lt2" tx2="dk2" accent1="accent1" accent2="accent2" accent3="accent3" accent4="accent4" accent5="accent5" accent6="accent6" hlink="hlink" folHlink="folHlink"/>
  <p:sldLayoutIdLst>
    <p:sldLayoutId id="2147483681" r:id="rId1"/>
  </p:sldLayoutIdLst>
  <p:txStyles>
    <p:titleStyle>
      <a:lvl1pPr algn="l" defTabSz="342900" rtl="0" eaLnBrk="1" latinLnBrk="0" hangingPunct="1">
        <a:spcBef>
          <a:spcPct val="0"/>
        </a:spcBef>
        <a:buNone/>
        <a:defRPr sz="3600" b="1" kern="1200">
          <a:solidFill>
            <a:srgbClr val="857437"/>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30000" cy="42256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381000" y="544113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6554A5-B4DD-7045-B047-B7DA6D1E70A4}" type="datetimeFigureOut">
              <a:rPr lang="en-US" smtClean="0"/>
              <a:t>4/27/2022</a:t>
            </a:fld>
            <a:endParaRPr lang="en-US"/>
          </a:p>
        </p:txBody>
      </p:sp>
      <p:sp>
        <p:nvSpPr>
          <p:cNvPr id="5" name="Footer Placeholder 4">
            <a:extLst>
              <a:ext uri="{FF2B5EF4-FFF2-40B4-BE49-F238E27FC236}">
                <a16:creationId xmlns:a16="http://schemas.microsoft.com/office/drawing/2014/main" id="{BE9B8B9A-12D6-EA40-AB29-6918054B5DA5}"/>
              </a:ext>
            </a:extLst>
          </p:cNvPr>
          <p:cNvSpPr>
            <a:spLocks noGrp="1"/>
          </p:cNvSpPr>
          <p:nvPr>
            <p:ph type="ftr" sz="quarter" idx="3"/>
          </p:nvPr>
        </p:nvSpPr>
        <p:spPr>
          <a:xfrm>
            <a:off x="3126154" y="5441135"/>
            <a:ext cx="594164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9067800" y="544113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78206-0642-9F48-9727-6B519CB285FA}" type="slidenum">
              <a:rPr lang="en-US" smtClean="0"/>
              <a:t>‹#›</a:t>
            </a:fld>
            <a:endParaRPr lang="en-US" dirty="0"/>
          </a:p>
        </p:txBody>
      </p:sp>
    </p:spTree>
    <p:extLst>
      <p:ext uri="{BB962C8B-B14F-4D97-AF65-F5344CB8AC3E}">
        <p14:creationId xmlns:p14="http://schemas.microsoft.com/office/powerpoint/2010/main" val="2871032842"/>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95FB-AFDA-C24E-BDC1-87184FFF62A0}"/>
              </a:ext>
            </a:extLst>
          </p:cNvPr>
          <p:cNvSpPr>
            <a:spLocks noGrp="1"/>
          </p:cNvSpPr>
          <p:nvPr>
            <p:ph type="ctrTitle"/>
          </p:nvPr>
        </p:nvSpPr>
        <p:spPr>
          <a:xfrm>
            <a:off x="2998851" y="926757"/>
            <a:ext cx="5564381" cy="2866311"/>
          </a:xfrm>
          <a:prstGeom prst="rect">
            <a:avLst/>
          </a:prstGeom>
        </p:spPr>
        <p:txBody>
          <a:bodyPr wrap="square">
            <a:normAutofit/>
          </a:bodyPr>
          <a:lstStyle/>
          <a:p>
            <a:r>
              <a:rPr lang="en-US" b="1" dirty="0">
                <a:solidFill>
                  <a:srgbClr val="003057"/>
                </a:solidFill>
                <a:latin typeface="Roboto" panose="02000000000000000000" pitchFamily="2" charset="0"/>
                <a:ea typeface="Roboto" panose="02000000000000000000" pitchFamily="2" charset="0"/>
              </a:rPr>
              <a:t>United States Olympic &amp; Paralympic Committee Practicum</a:t>
            </a:r>
            <a:br>
              <a:rPr lang="en-US" b="1" dirty="0">
                <a:solidFill>
                  <a:srgbClr val="003057"/>
                </a:solidFill>
                <a:latin typeface="Roboto" panose="02000000000000000000" pitchFamily="2" charset="0"/>
                <a:ea typeface="Roboto" panose="02000000000000000000" pitchFamily="2" charset="0"/>
              </a:rPr>
            </a:br>
            <a:r>
              <a:rPr lang="en-US" b="1" dirty="0">
                <a:solidFill>
                  <a:srgbClr val="003057"/>
                </a:solidFill>
                <a:latin typeface="Roboto" panose="02000000000000000000" pitchFamily="2" charset="0"/>
                <a:ea typeface="Roboto" panose="02000000000000000000" pitchFamily="2" charset="0"/>
              </a:rPr>
              <a:t>Final Presentation</a:t>
            </a:r>
          </a:p>
        </p:txBody>
      </p:sp>
      <p:sp>
        <p:nvSpPr>
          <p:cNvPr id="3" name="Subtitle 2">
            <a:extLst>
              <a:ext uri="{FF2B5EF4-FFF2-40B4-BE49-F238E27FC236}">
                <a16:creationId xmlns:a16="http://schemas.microsoft.com/office/drawing/2014/main" id="{B7E66134-3B68-CA46-9583-81F439EB81A2}"/>
              </a:ext>
            </a:extLst>
          </p:cNvPr>
          <p:cNvSpPr>
            <a:spLocks noGrp="1"/>
          </p:cNvSpPr>
          <p:nvPr>
            <p:ph type="subTitle" idx="1"/>
          </p:nvPr>
        </p:nvSpPr>
        <p:spPr>
          <a:xfrm>
            <a:off x="2998850" y="3913388"/>
            <a:ext cx="6795913" cy="1684868"/>
          </a:xfrm>
        </p:spPr>
        <p:txBody>
          <a:bodyPr/>
          <a:lstStyle/>
          <a:p>
            <a:pPr>
              <a:lnSpc>
                <a:spcPct val="100000"/>
              </a:lnSpc>
            </a:pPr>
            <a:r>
              <a:rPr lang="en-US" sz="1800" dirty="0">
                <a:solidFill>
                  <a:srgbClr val="857437"/>
                </a:solidFill>
                <a:latin typeface="Roboto" panose="02000000000000000000" pitchFamily="2" charset="0"/>
                <a:ea typeface="Roboto" panose="02000000000000000000" pitchFamily="2" charset="0"/>
                <a:cs typeface="Roboto" panose="02000000000000000000" pitchFamily="2" charset="0"/>
              </a:rPr>
              <a:t>Evan Jones</a:t>
            </a:r>
          </a:p>
          <a:p>
            <a:pPr>
              <a:lnSpc>
                <a:spcPct val="100000"/>
              </a:lnSpc>
            </a:pPr>
            <a:r>
              <a:rPr lang="en-US" sz="1800" dirty="0">
                <a:solidFill>
                  <a:srgbClr val="857437"/>
                </a:solidFill>
                <a:latin typeface="Roboto" panose="02000000000000000000" pitchFamily="2" charset="0"/>
                <a:ea typeface="Roboto" panose="02000000000000000000" pitchFamily="2" charset="0"/>
                <a:cs typeface="Roboto" panose="02000000000000000000" pitchFamily="2" charset="0"/>
              </a:rPr>
              <a:t>April </a:t>
            </a:r>
            <a:r>
              <a:rPr lang="en-US" dirty="0"/>
              <a:t>27</a:t>
            </a:r>
            <a:r>
              <a:rPr lang="en-US" sz="1800" baseline="30000" dirty="0">
                <a:solidFill>
                  <a:srgbClr val="857437"/>
                </a:solidFill>
                <a:latin typeface="Roboto" panose="02000000000000000000" pitchFamily="2" charset="0"/>
                <a:ea typeface="Roboto" panose="02000000000000000000" pitchFamily="2" charset="0"/>
                <a:cs typeface="Roboto" panose="02000000000000000000" pitchFamily="2" charset="0"/>
              </a:rPr>
              <a:t>th</a:t>
            </a:r>
            <a:r>
              <a:rPr lang="en-US" sz="1800" dirty="0">
                <a:solidFill>
                  <a:srgbClr val="857437"/>
                </a:solidFill>
                <a:latin typeface="Roboto" panose="02000000000000000000" pitchFamily="2" charset="0"/>
                <a:ea typeface="Roboto" panose="02000000000000000000" pitchFamily="2" charset="0"/>
                <a:cs typeface="Roboto" panose="02000000000000000000" pitchFamily="2" charset="0"/>
              </a:rPr>
              <a:t>, 2022</a:t>
            </a:r>
          </a:p>
        </p:txBody>
      </p:sp>
    </p:spTree>
    <p:extLst>
      <p:ext uri="{BB962C8B-B14F-4D97-AF65-F5344CB8AC3E}">
        <p14:creationId xmlns:p14="http://schemas.microsoft.com/office/powerpoint/2010/main" val="2789775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381000" y="1215485"/>
            <a:ext cx="8423694" cy="4225650"/>
          </a:xfrm>
        </p:spPr>
        <p:txBody>
          <a:bodyPr/>
          <a:lstStyle/>
          <a:p>
            <a:pPr marL="0" indent="0">
              <a:buNone/>
            </a:pPr>
            <a:r>
              <a:rPr lang="en-US" dirty="0">
                <a:solidFill>
                  <a:srgbClr val="003057"/>
                </a:solidFill>
              </a:rPr>
              <a:t>The United States Olympic &amp; Paralympic Committee (USOPC) is a non-profit corporation with limited capital resources. It is the committee’s mission to utilize these funds as effectively as possible to maximize Team USA’s medal achievement. </a:t>
            </a:r>
          </a:p>
          <a:p>
            <a:pPr marL="0" indent="0">
              <a:buNone/>
            </a:pPr>
            <a:endParaRPr lang="en-US" dirty="0"/>
          </a:p>
          <a:p>
            <a:pPr marL="0" indent="0">
              <a:buNone/>
            </a:pPr>
            <a:r>
              <a:rPr lang="en-US" dirty="0">
                <a:solidFill>
                  <a:srgbClr val="003057"/>
                </a:solidFill>
              </a:rPr>
              <a:t>The USOPC </a:t>
            </a:r>
            <a:r>
              <a:rPr lang="en-US" dirty="0"/>
              <a:t>must decide when, how, and by what amount to fund promising athletes to maximize the athlete’s and Team USA’s potential for success</a:t>
            </a:r>
            <a:endParaRPr lang="en-US" dirty="0">
              <a:solidFill>
                <a:srgbClr val="003057"/>
              </a:solidFill>
            </a:endParaRPr>
          </a:p>
          <a:p>
            <a:pPr marL="0" indent="0">
              <a:buNone/>
            </a:pPr>
            <a:endParaRPr lang="en-US" dirty="0">
              <a:solidFill>
                <a:srgbClr val="003057"/>
              </a:solidFill>
            </a:endParaRPr>
          </a:p>
          <a:p>
            <a:pPr marL="0" indent="0">
              <a:buNone/>
            </a:pPr>
            <a:endParaRPr lang="en-US" dirty="0"/>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Project Motivation</a:t>
            </a:r>
          </a:p>
        </p:txBody>
      </p:sp>
      <p:pic>
        <p:nvPicPr>
          <p:cNvPr id="5" name="Picture 4">
            <a:extLst>
              <a:ext uri="{FF2B5EF4-FFF2-40B4-BE49-F238E27FC236}">
                <a16:creationId xmlns:a16="http://schemas.microsoft.com/office/drawing/2014/main" id="{910964B7-1472-4A6D-ACF7-A86DE8E5DA53}"/>
              </a:ext>
            </a:extLst>
          </p:cNvPr>
          <p:cNvPicPr>
            <a:picLocks noChangeAspect="1"/>
          </p:cNvPicPr>
          <p:nvPr/>
        </p:nvPicPr>
        <p:blipFill rotWithShape="1">
          <a:blip r:embed="rId2"/>
          <a:srcRect l="1291" t="19462" r="968" b="22797"/>
          <a:stretch/>
        </p:blipFill>
        <p:spPr>
          <a:xfrm>
            <a:off x="9830744" y="1277331"/>
            <a:ext cx="1871154" cy="1105401"/>
          </a:xfrm>
          <a:prstGeom prst="rect">
            <a:avLst/>
          </a:prstGeom>
        </p:spPr>
      </p:pic>
      <p:pic>
        <p:nvPicPr>
          <p:cNvPr id="6" name="Picture 5">
            <a:extLst>
              <a:ext uri="{FF2B5EF4-FFF2-40B4-BE49-F238E27FC236}">
                <a16:creationId xmlns:a16="http://schemas.microsoft.com/office/drawing/2014/main" id="{E89124E3-F88F-4630-BB08-7770FF241A39}"/>
              </a:ext>
            </a:extLst>
          </p:cNvPr>
          <p:cNvPicPr>
            <a:picLocks noChangeAspect="1"/>
          </p:cNvPicPr>
          <p:nvPr/>
        </p:nvPicPr>
        <p:blipFill>
          <a:blip r:embed="rId3"/>
          <a:stretch>
            <a:fillRect/>
          </a:stretch>
        </p:blipFill>
        <p:spPr>
          <a:xfrm>
            <a:off x="9891366" y="2619219"/>
            <a:ext cx="1856050" cy="1856050"/>
          </a:xfrm>
          <a:prstGeom prst="rect">
            <a:avLst/>
          </a:prstGeom>
        </p:spPr>
      </p:pic>
    </p:spTree>
    <p:extLst>
      <p:ext uri="{BB962C8B-B14F-4D97-AF65-F5344CB8AC3E}">
        <p14:creationId xmlns:p14="http://schemas.microsoft.com/office/powerpoint/2010/main" val="1661011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Project Purpose</a:t>
            </a:r>
          </a:p>
        </p:txBody>
      </p:sp>
      <p:sp>
        <p:nvSpPr>
          <p:cNvPr id="2" name="Content Placeholder 1">
            <a:extLst>
              <a:ext uri="{FF2B5EF4-FFF2-40B4-BE49-F238E27FC236}">
                <a16:creationId xmlns:a16="http://schemas.microsoft.com/office/drawing/2014/main" id="{D24555C0-18D9-4887-953D-5EA5DBA3FB4F}"/>
              </a:ext>
            </a:extLst>
          </p:cNvPr>
          <p:cNvSpPr>
            <a:spLocks noGrp="1"/>
          </p:cNvSpPr>
          <p:nvPr>
            <p:ph sz="half" idx="1"/>
          </p:nvPr>
        </p:nvSpPr>
        <p:spPr/>
        <p:txBody>
          <a:bodyPr>
            <a:normAutofit fontScale="92500" lnSpcReduction="10000"/>
          </a:bodyPr>
          <a:lstStyle/>
          <a:p>
            <a:pPr marL="0" indent="0">
              <a:buNone/>
            </a:pPr>
            <a:r>
              <a:rPr lang="en-US" dirty="0">
                <a:solidFill>
                  <a:srgbClr val="003057"/>
                </a:solidFill>
              </a:rPr>
              <a:t>The USOPC given their limited capital </a:t>
            </a:r>
            <a:r>
              <a:rPr lang="en-US" dirty="0"/>
              <a:t>must decide when, how, and by what amount to fund promising athletes to maximize both the athlete’s and Team USA’s potential for medal achievement. </a:t>
            </a:r>
          </a:p>
          <a:p>
            <a:pPr marL="0" indent="0">
              <a:buNone/>
            </a:pPr>
            <a:endParaRPr lang="en-US" dirty="0"/>
          </a:p>
          <a:p>
            <a:pPr marL="0" indent="0">
              <a:buNone/>
            </a:pPr>
            <a:r>
              <a:rPr lang="en-US" dirty="0"/>
              <a:t>In achieving this the USOPC aims to gain </a:t>
            </a:r>
            <a:r>
              <a:rPr lang="en-US" dirty="0">
                <a:solidFill>
                  <a:srgbClr val="003057"/>
                </a:solidFill>
              </a:rPr>
              <a:t>understanding with respect to the role athlete age impacts medaling achievement in various sports/events. </a:t>
            </a:r>
          </a:p>
          <a:p>
            <a:pPr marL="0" indent="0">
              <a:buNone/>
            </a:pPr>
            <a:endParaRPr lang="en-US" dirty="0"/>
          </a:p>
          <a:p>
            <a:endParaRPr lang="en-US" dirty="0">
              <a:solidFill>
                <a:srgbClr val="003057"/>
              </a:solidFill>
            </a:endParaRPr>
          </a:p>
          <a:p>
            <a:pPr marL="0" indent="0">
              <a:buNone/>
            </a:pPr>
            <a:endParaRPr lang="en-US" dirty="0"/>
          </a:p>
          <a:p>
            <a:pPr marL="0" indent="0">
              <a:buNone/>
            </a:pPr>
            <a:endParaRPr lang="en-US" dirty="0"/>
          </a:p>
          <a:p>
            <a:pPr marL="0" indent="0">
              <a:buNone/>
            </a:pPr>
            <a:endParaRPr lang="en-US" dirty="0">
              <a:solidFill>
                <a:srgbClr val="003057"/>
              </a:solidFill>
            </a:endParaRPr>
          </a:p>
          <a:p>
            <a:pPr marL="0" indent="0">
              <a:buNone/>
            </a:pPr>
            <a:endParaRPr lang="en-US" dirty="0">
              <a:solidFill>
                <a:srgbClr val="003057"/>
              </a:solidFill>
            </a:endParaRPr>
          </a:p>
          <a:p>
            <a:pPr marL="0" indent="0">
              <a:buNone/>
            </a:pPr>
            <a:endParaRPr lang="en-US" dirty="0"/>
          </a:p>
        </p:txBody>
      </p:sp>
      <p:sp>
        <p:nvSpPr>
          <p:cNvPr id="4" name="Content Placeholder 3">
            <a:extLst>
              <a:ext uri="{FF2B5EF4-FFF2-40B4-BE49-F238E27FC236}">
                <a16:creationId xmlns:a16="http://schemas.microsoft.com/office/drawing/2014/main" id="{CF63AB58-6F7E-428C-B8CC-B2FC60640C56}"/>
              </a:ext>
            </a:extLst>
          </p:cNvPr>
          <p:cNvSpPr>
            <a:spLocks noGrp="1"/>
          </p:cNvSpPr>
          <p:nvPr>
            <p:ph sz="half" idx="2"/>
          </p:nvPr>
        </p:nvSpPr>
        <p:spPr>
          <a:xfrm>
            <a:off x="6197600" y="1215483"/>
            <a:ext cx="5613400" cy="4604472"/>
          </a:xfrm>
        </p:spPr>
        <p:txBody>
          <a:bodyPr>
            <a:normAutofit fontScale="92500" lnSpcReduction="10000"/>
          </a:bodyPr>
          <a:lstStyle/>
          <a:p>
            <a:pPr marL="0" indent="0">
              <a:buNone/>
            </a:pPr>
            <a:r>
              <a:rPr lang="en-US" dirty="0"/>
              <a:t>Such an analysis would improve the USOPC’s ability to:</a:t>
            </a:r>
          </a:p>
          <a:p>
            <a:r>
              <a:rPr lang="en-US" sz="2600" dirty="0"/>
              <a:t>More effectively gauge their competitive potential</a:t>
            </a:r>
          </a:p>
          <a:p>
            <a:r>
              <a:rPr lang="en-US" sz="2600" dirty="0"/>
              <a:t>Better understand drivers of medal achievement both from both an aggregate and event specific view</a:t>
            </a:r>
          </a:p>
          <a:p>
            <a:r>
              <a:rPr lang="en-US" sz="2600" dirty="0"/>
              <a:t>Make better informed funding decisions to ensure athletes are funded at the right time</a:t>
            </a:r>
          </a:p>
          <a:p>
            <a:r>
              <a:rPr lang="en-US" sz="2600" dirty="0"/>
              <a:t>Identify weak and strong areas in Team USA’s pipeline</a:t>
            </a:r>
          </a:p>
        </p:txBody>
      </p:sp>
    </p:spTree>
    <p:extLst>
      <p:ext uri="{BB962C8B-B14F-4D97-AF65-F5344CB8AC3E}">
        <p14:creationId xmlns:p14="http://schemas.microsoft.com/office/powerpoint/2010/main" val="43097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a:xfrm>
            <a:off x="381000" y="200722"/>
            <a:ext cx="11430000" cy="1014761"/>
          </a:xfrm>
        </p:spPr>
        <p:txBody>
          <a:bodyPr anchor="ctr">
            <a:normAutofit/>
          </a:bodyPr>
          <a:lstStyle/>
          <a:p>
            <a:r>
              <a:rPr lang="en-US" dirty="0"/>
              <a:t>Project Focus</a:t>
            </a:r>
          </a:p>
        </p:txBody>
      </p:sp>
      <p:pic>
        <p:nvPicPr>
          <p:cNvPr id="4" name="Picture 3" descr="Diagram&#10;&#10;Description automatically generated">
            <a:extLst>
              <a:ext uri="{FF2B5EF4-FFF2-40B4-BE49-F238E27FC236}">
                <a16:creationId xmlns:a16="http://schemas.microsoft.com/office/drawing/2014/main" id="{E5518394-25A9-42F2-8D7B-83A5B9C9D345}"/>
              </a:ext>
            </a:extLst>
          </p:cNvPr>
          <p:cNvPicPr>
            <a:picLocks noChangeAspect="1"/>
          </p:cNvPicPr>
          <p:nvPr/>
        </p:nvPicPr>
        <p:blipFill>
          <a:blip r:embed="rId2"/>
          <a:stretch>
            <a:fillRect/>
          </a:stretch>
        </p:blipFill>
        <p:spPr>
          <a:xfrm>
            <a:off x="8797073" y="1316174"/>
            <a:ext cx="2767802" cy="4225652"/>
          </a:xfrm>
          <a:prstGeom prst="rect">
            <a:avLst/>
          </a:prstGeom>
          <a:noFill/>
        </p:spPr>
      </p:pic>
      <p:sp>
        <p:nvSpPr>
          <p:cNvPr id="20" name="Content Placeholder 3">
            <a:extLst>
              <a:ext uri="{FF2B5EF4-FFF2-40B4-BE49-F238E27FC236}">
                <a16:creationId xmlns:a16="http://schemas.microsoft.com/office/drawing/2014/main" id="{4E274B9C-ECCE-E6E8-48EA-853A564F769E}"/>
              </a:ext>
            </a:extLst>
          </p:cNvPr>
          <p:cNvSpPr>
            <a:spLocks noGrp="1"/>
          </p:cNvSpPr>
          <p:nvPr>
            <p:ph sz="half" idx="2"/>
          </p:nvPr>
        </p:nvSpPr>
        <p:spPr>
          <a:xfrm>
            <a:off x="482599" y="1215483"/>
            <a:ext cx="7700993" cy="4225652"/>
          </a:xfrm>
        </p:spPr>
        <p:txBody>
          <a:bodyPr/>
          <a:lstStyle/>
          <a:p>
            <a:pPr marL="0" indent="0">
              <a:buNone/>
            </a:pPr>
            <a:r>
              <a:rPr lang="en-US" sz="2400" dirty="0"/>
              <a:t>For this project, we will be focusing on the Winter Olympic solo disciplines of Alpine Skiing which includes 5 events for both male &amp; female athletes</a:t>
            </a:r>
          </a:p>
          <a:p>
            <a:pPr marL="0" indent="0">
              <a:buNone/>
            </a:pPr>
            <a:endParaRPr lang="en-US" sz="1000" dirty="0"/>
          </a:p>
          <a:p>
            <a:r>
              <a:rPr lang="en-US" sz="1800" dirty="0"/>
              <a:t>Slalom</a:t>
            </a:r>
          </a:p>
          <a:p>
            <a:r>
              <a:rPr lang="en-US" sz="1800" dirty="0"/>
              <a:t>Giant Slalom</a:t>
            </a:r>
          </a:p>
          <a:p>
            <a:r>
              <a:rPr lang="en-US" sz="1800" dirty="0"/>
              <a:t>Super Giant Slalom (Super G)</a:t>
            </a:r>
          </a:p>
          <a:p>
            <a:r>
              <a:rPr lang="en-US" sz="1800" dirty="0"/>
              <a:t>Downhill</a:t>
            </a:r>
          </a:p>
          <a:p>
            <a:r>
              <a:rPr lang="en-US" sz="1800" dirty="0"/>
              <a:t>Super Combined (1x Downhill + 2x Slalom)</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41216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a:xfrm>
            <a:off x="381000" y="200722"/>
            <a:ext cx="11430000" cy="1014761"/>
          </a:xfrm>
        </p:spPr>
        <p:txBody>
          <a:bodyPr anchor="ctr">
            <a:normAutofit/>
          </a:bodyPr>
          <a:lstStyle/>
          <a:p>
            <a:r>
              <a:rPr lang="en-US" dirty="0"/>
              <a:t>Alpine Skiing Background</a:t>
            </a:r>
          </a:p>
        </p:txBody>
      </p:sp>
      <p:sp>
        <p:nvSpPr>
          <p:cNvPr id="20" name="Content Placeholder 3">
            <a:extLst>
              <a:ext uri="{FF2B5EF4-FFF2-40B4-BE49-F238E27FC236}">
                <a16:creationId xmlns:a16="http://schemas.microsoft.com/office/drawing/2014/main" id="{4E274B9C-ECCE-E6E8-48EA-853A564F769E}"/>
              </a:ext>
            </a:extLst>
          </p:cNvPr>
          <p:cNvSpPr>
            <a:spLocks noGrp="1"/>
          </p:cNvSpPr>
          <p:nvPr>
            <p:ph sz="half" idx="2"/>
          </p:nvPr>
        </p:nvSpPr>
        <p:spPr>
          <a:xfrm>
            <a:off x="482599" y="1215483"/>
            <a:ext cx="10961778" cy="4225652"/>
          </a:xfrm>
        </p:spPr>
        <p:txBody>
          <a:bodyPr/>
          <a:lstStyle/>
          <a:p>
            <a:pPr marL="0" indent="0">
              <a:buNone/>
            </a:pPr>
            <a:r>
              <a:rPr lang="en-US" sz="1800" dirty="0"/>
              <a:t>All sports have unique characteristics that define them. Alpine skiing is no different, and because our analysis recognizes these unique aspects here are some important considerations about alpine skiing to keep in mind: </a:t>
            </a:r>
          </a:p>
          <a:p>
            <a:r>
              <a:rPr lang="en-US" sz="1800" dirty="0"/>
              <a:t>The five alpine events can be loosely ordered by course length &amp; density of technical elements with Slalom being the shortest but most precise and Downhill being the longest, but with a greater flexibility in precision. </a:t>
            </a:r>
          </a:p>
          <a:p>
            <a:r>
              <a:rPr lang="en-US" sz="1800" dirty="0"/>
              <a:t>Alpine skiing especially in events like Downhill is hard on knees and is generally injury prone.</a:t>
            </a:r>
          </a:p>
          <a:p>
            <a:r>
              <a:rPr lang="en-US" sz="1800" dirty="0"/>
              <a:t>Alpine skiing solo races are run sequentially one after the other</a:t>
            </a:r>
          </a:p>
          <a:p>
            <a:r>
              <a:rPr lang="en-US" sz="1800" dirty="0"/>
              <a:t>Weather and snow condition vary over the event and can play crucial roles in given run</a:t>
            </a:r>
          </a:p>
          <a:p>
            <a:r>
              <a:rPr lang="en-US" sz="1800" dirty="0"/>
              <a:t>Ski slope change in composition year to year so times may not be directly comparable over time</a:t>
            </a:r>
          </a:p>
          <a:p>
            <a:r>
              <a:rPr lang="en-US" sz="1800" dirty="0"/>
              <a:t>In events with multiple runs, inability to make a “gate” results in immediate disqualification</a:t>
            </a:r>
          </a:p>
          <a:p>
            <a:r>
              <a:rPr lang="en-US" sz="1800" dirty="0"/>
              <a:t>The International Ski Federation (FIS) is the regulatory body and host of alpine events (outside Olympic games)</a:t>
            </a:r>
            <a:endParaRPr lang="en-US" sz="14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45266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p:txBody>
          <a:bodyPr>
            <a:normAutofit fontScale="85000" lnSpcReduction="20000"/>
          </a:bodyPr>
          <a:lstStyle/>
          <a:p>
            <a:pPr marL="0" indent="0" algn="l">
              <a:buNone/>
            </a:pPr>
            <a:r>
              <a:rPr lang="en-US" sz="2400" b="0" i="0" u="none" strike="noStrike" baseline="0" dirty="0">
                <a:latin typeface="NimbusRomNo9L-Regu"/>
              </a:rPr>
              <a:t>1) How does the health of Team USA’s pipeline compare to other top medal winning countries through the primary lens of age?</a:t>
            </a:r>
          </a:p>
          <a:p>
            <a:pPr marL="457200" indent="-457200" algn="l">
              <a:buAutoNum type="arabicParenR"/>
            </a:pPr>
            <a:endParaRPr lang="en-US" sz="2400" b="0" i="0" u="none" strike="noStrike" baseline="0" dirty="0">
              <a:latin typeface="NimbusRomNo9L-Regu"/>
            </a:endParaRPr>
          </a:p>
          <a:p>
            <a:pPr marL="0" indent="0" algn="l">
              <a:buNone/>
            </a:pPr>
            <a:r>
              <a:rPr lang="en-US" sz="2400" b="0" i="0" u="none" strike="noStrike" baseline="0" dirty="0">
                <a:latin typeface="NimbusRomNo9L-Regu"/>
              </a:rPr>
              <a:t>2) Can a country’s percentage of athletes competing at an Olympic games while in their peak age ranges in their</a:t>
            </a:r>
            <a:r>
              <a:rPr lang="en-US" sz="2400" dirty="0">
                <a:latin typeface="NimbusRomNo9L-Regu"/>
              </a:rPr>
              <a:t> </a:t>
            </a:r>
            <a:r>
              <a:rPr lang="en-US" sz="2400" b="0" i="0" u="none" strike="noStrike" baseline="0" dirty="0">
                <a:latin typeface="NimbusRomNo9L-Regu"/>
              </a:rPr>
              <a:t>respective sports predict medal success?</a:t>
            </a:r>
          </a:p>
          <a:p>
            <a:pPr marL="0" indent="0" algn="l">
              <a:buNone/>
            </a:pPr>
            <a:endParaRPr lang="en-US" sz="2400" b="0" i="0" u="none" strike="noStrike" baseline="0" dirty="0">
              <a:latin typeface="NimbusRomNo9L-Regu"/>
            </a:endParaRPr>
          </a:p>
          <a:p>
            <a:pPr marL="0" indent="0" algn="l">
              <a:buNone/>
            </a:pPr>
            <a:r>
              <a:rPr lang="en-US" sz="2400" b="0" i="0" u="none" strike="noStrike" baseline="0" dirty="0">
                <a:latin typeface="NimbusRomNo9L-Regu"/>
              </a:rPr>
              <a:t>3) Which athletes who competed in Beijing 2022 will be hitting their peak age in their respective sports in Milan 2026?</a:t>
            </a:r>
          </a:p>
          <a:p>
            <a:pPr marL="0" indent="0" algn="l">
              <a:buNone/>
            </a:pPr>
            <a:endParaRPr lang="en-US" sz="2400" b="0" i="0" u="none" strike="noStrike" baseline="0" dirty="0">
              <a:latin typeface="NimbusRomNo9L-Regu"/>
            </a:endParaRPr>
          </a:p>
          <a:p>
            <a:pPr marL="0" indent="0" algn="l">
              <a:buNone/>
            </a:pPr>
            <a:r>
              <a:rPr lang="en-US" sz="2400" b="0" i="0" u="none" strike="noStrike" baseline="0" dirty="0">
                <a:latin typeface="NimbusRomNo9L-Regu"/>
              </a:rPr>
              <a:t>4) Can the number of young, ”pre-peak” athletes that competed in Beijing predict medal success for their countries in Milan 2026?</a:t>
            </a:r>
          </a:p>
          <a:p>
            <a:pPr marL="0" indent="0" algn="l">
              <a:buNone/>
            </a:pPr>
            <a:endParaRPr lang="en-US" sz="2400" b="0" i="0" u="none" strike="noStrike" baseline="0" dirty="0">
              <a:latin typeface="NimbusRomNo9L-Regu"/>
            </a:endParaRPr>
          </a:p>
          <a:p>
            <a:pPr marL="0" indent="0" algn="l">
              <a:buNone/>
            </a:pPr>
            <a:r>
              <a:rPr lang="en-US" sz="2400" b="0" i="0" u="none" strike="noStrike" baseline="0" dirty="0">
                <a:latin typeface="NimbusRomNo9L-Regu"/>
              </a:rPr>
              <a:t>5) How many promising athletes who did not compete in Beijing, but will reach peak age in Milan does Team USA and other countries have in their pipeline?</a:t>
            </a:r>
            <a:endParaRPr lang="en-US" sz="3600" dirty="0"/>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Central Questions</a:t>
            </a:r>
          </a:p>
        </p:txBody>
      </p:sp>
    </p:spTree>
    <p:extLst>
      <p:ext uri="{BB962C8B-B14F-4D97-AF65-F5344CB8AC3E}">
        <p14:creationId xmlns:p14="http://schemas.microsoft.com/office/powerpoint/2010/main" val="257266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p:txBody>
          <a:bodyPr>
            <a:normAutofit fontScale="77500" lnSpcReduction="20000"/>
          </a:bodyPr>
          <a:lstStyle/>
          <a:p>
            <a:pPr marL="514350" indent="-514350">
              <a:buAutoNum type="arabicParenR"/>
            </a:pPr>
            <a:r>
              <a:rPr lang="en-US" dirty="0"/>
              <a:t>Evaluate the impact of age from an individual perspective considering what age the athlete “peaks” by event.</a:t>
            </a:r>
          </a:p>
          <a:p>
            <a:pPr marL="514350" indent="-514350">
              <a:buAutoNum type="arabicParenR"/>
            </a:pPr>
            <a:endParaRPr lang="en-US" dirty="0"/>
          </a:p>
          <a:p>
            <a:pPr marL="514350" indent="-514350">
              <a:buAutoNum type="arabicParenR"/>
            </a:pPr>
            <a:r>
              <a:rPr lang="en-US" dirty="0"/>
              <a:t>Evaluate the impact of age at the event level considering if different events have different age</a:t>
            </a:r>
          </a:p>
          <a:p>
            <a:pPr marL="514350" indent="-514350">
              <a:buAutoNum type="arabicParenR"/>
            </a:pPr>
            <a:endParaRPr lang="en-US" dirty="0"/>
          </a:p>
          <a:p>
            <a:pPr marL="514350" indent="-514350">
              <a:buAutoNum type="arabicParenR"/>
            </a:pPr>
            <a:r>
              <a:rPr lang="en-US" dirty="0"/>
              <a:t>Using prior insights about age, evaluate country athlete pipelines and competitiveness at the event and gender levels through the lens of age </a:t>
            </a:r>
          </a:p>
          <a:p>
            <a:pPr marL="514350" indent="-514350">
              <a:buAutoNum type="arabicParenR"/>
            </a:pPr>
            <a:endParaRPr lang="en-US" dirty="0"/>
          </a:p>
          <a:p>
            <a:pPr marL="514350" indent="-514350">
              <a:buAutoNum type="arabicParenR"/>
            </a:pPr>
            <a:r>
              <a:rPr lang="en-US" dirty="0"/>
              <a:t>Given information about a country’s pipeline composition and relative strength, create a model to predict medal achievement</a:t>
            </a:r>
          </a:p>
          <a:p>
            <a:pPr marL="514350" indent="-514350">
              <a:buAutoNum type="arabicParenR"/>
            </a:pPr>
            <a:endParaRPr lang="en-US" dirty="0"/>
          </a:p>
          <a:p>
            <a:pPr marL="514350" indent="-514350">
              <a:buAutoNum type="arabicParenR"/>
            </a:pPr>
            <a:r>
              <a:rPr lang="en-US" dirty="0"/>
              <a:t>Present our findings and relevant visualizations via web application</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Project Overview</a:t>
            </a:r>
          </a:p>
        </p:txBody>
      </p:sp>
    </p:spTree>
    <p:extLst>
      <p:ext uri="{BB962C8B-B14F-4D97-AF65-F5344CB8AC3E}">
        <p14:creationId xmlns:p14="http://schemas.microsoft.com/office/powerpoint/2010/main" val="1315796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53DA-4237-40FE-B354-BDEF15807B13}"/>
              </a:ext>
            </a:extLst>
          </p:cNvPr>
          <p:cNvSpPr>
            <a:spLocks noGrp="1"/>
          </p:cNvSpPr>
          <p:nvPr>
            <p:ph type="title"/>
          </p:nvPr>
        </p:nvSpPr>
        <p:spPr/>
        <p:txBody>
          <a:bodyPr/>
          <a:lstStyle/>
          <a:p>
            <a:r>
              <a:rPr lang="en-US" dirty="0"/>
              <a:t>Modeling Overview</a:t>
            </a:r>
          </a:p>
        </p:txBody>
      </p:sp>
      <p:pic>
        <p:nvPicPr>
          <p:cNvPr id="8" name="Picture 7" descr="Graphical user interface&#10;&#10;Description automatically generated">
            <a:extLst>
              <a:ext uri="{FF2B5EF4-FFF2-40B4-BE49-F238E27FC236}">
                <a16:creationId xmlns:a16="http://schemas.microsoft.com/office/drawing/2014/main" id="{9EA889AC-BBA7-457A-A361-D5071549A2AE}"/>
              </a:ext>
            </a:extLst>
          </p:cNvPr>
          <p:cNvPicPr>
            <a:picLocks noChangeAspect="1"/>
          </p:cNvPicPr>
          <p:nvPr/>
        </p:nvPicPr>
        <p:blipFill>
          <a:blip r:embed="rId2"/>
          <a:stretch>
            <a:fillRect/>
          </a:stretch>
        </p:blipFill>
        <p:spPr>
          <a:xfrm>
            <a:off x="1080930" y="1530969"/>
            <a:ext cx="10030140" cy="3796062"/>
          </a:xfrm>
          <a:prstGeom prst="rect">
            <a:avLst/>
          </a:prstGeom>
        </p:spPr>
      </p:pic>
    </p:spTree>
    <p:extLst>
      <p:ext uri="{BB962C8B-B14F-4D97-AF65-F5344CB8AC3E}">
        <p14:creationId xmlns:p14="http://schemas.microsoft.com/office/powerpoint/2010/main" val="2401480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53DA-4237-40FE-B354-BDEF15807B13}"/>
              </a:ext>
            </a:extLst>
          </p:cNvPr>
          <p:cNvSpPr>
            <a:spLocks noGrp="1"/>
          </p:cNvSpPr>
          <p:nvPr>
            <p:ph type="title"/>
          </p:nvPr>
        </p:nvSpPr>
        <p:spPr/>
        <p:txBody>
          <a:bodyPr/>
          <a:lstStyle/>
          <a:p>
            <a:r>
              <a:rPr lang="en-US" dirty="0"/>
              <a:t>Individual Perspective Age Modeling</a:t>
            </a:r>
          </a:p>
        </p:txBody>
      </p:sp>
      <p:sp>
        <p:nvSpPr>
          <p:cNvPr id="4" name="Content Placeholder 1">
            <a:extLst>
              <a:ext uri="{FF2B5EF4-FFF2-40B4-BE49-F238E27FC236}">
                <a16:creationId xmlns:a16="http://schemas.microsoft.com/office/drawing/2014/main" id="{24DCA430-E279-4341-AA8E-4F03E08FDD63}"/>
              </a:ext>
            </a:extLst>
          </p:cNvPr>
          <p:cNvSpPr>
            <a:spLocks noGrp="1"/>
          </p:cNvSpPr>
          <p:nvPr>
            <p:ph idx="1"/>
          </p:nvPr>
        </p:nvSpPr>
        <p:spPr>
          <a:xfrm>
            <a:off x="381000" y="1215485"/>
            <a:ext cx="11430000" cy="4225650"/>
          </a:xfrm>
        </p:spPr>
        <p:txBody>
          <a:bodyPr/>
          <a:lstStyle/>
          <a:p>
            <a:pPr marL="0" indent="0">
              <a:buNone/>
            </a:pPr>
            <a:r>
              <a:rPr lang="en-US" dirty="0"/>
              <a:t>Modeling medal achievement at the individual level is equivalent to asking when does the athlete reach peak performance?</a:t>
            </a:r>
          </a:p>
          <a:p>
            <a:pPr marL="0" indent="0">
              <a:buNone/>
            </a:pPr>
            <a:endParaRPr lang="en-US" dirty="0"/>
          </a:p>
          <a:p>
            <a:pPr marL="0" indent="0">
              <a:buNone/>
            </a:pPr>
            <a:r>
              <a:rPr lang="en-US" dirty="0"/>
              <a:t>Different ways to measure peak performance:</a:t>
            </a:r>
          </a:p>
          <a:p>
            <a:r>
              <a:rPr lang="en-US" dirty="0"/>
              <a:t>Age at athlete’s best all-time finishing position</a:t>
            </a:r>
          </a:p>
          <a:p>
            <a:r>
              <a:rPr lang="en-US" dirty="0"/>
              <a:t>Age at athlete’s best recorded world ranking</a:t>
            </a:r>
          </a:p>
          <a:p>
            <a:r>
              <a:rPr lang="en-US" dirty="0"/>
              <a:t>Age at athlete’s maximal smoothed ranking curve</a:t>
            </a:r>
          </a:p>
          <a:p>
            <a:r>
              <a:rPr lang="en-US" dirty="0"/>
              <a:t>Age at athlete’s peak performance adjusted by competition difficulty</a:t>
            </a:r>
          </a:p>
        </p:txBody>
      </p:sp>
    </p:spTree>
    <p:extLst>
      <p:ext uri="{BB962C8B-B14F-4D97-AF65-F5344CB8AC3E}">
        <p14:creationId xmlns:p14="http://schemas.microsoft.com/office/powerpoint/2010/main" val="1088501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53DA-4237-40FE-B354-BDEF15807B13}"/>
              </a:ext>
            </a:extLst>
          </p:cNvPr>
          <p:cNvSpPr>
            <a:spLocks noGrp="1"/>
          </p:cNvSpPr>
          <p:nvPr>
            <p:ph type="title"/>
          </p:nvPr>
        </p:nvSpPr>
        <p:spPr/>
        <p:txBody>
          <a:bodyPr/>
          <a:lstStyle/>
          <a:p>
            <a:r>
              <a:rPr lang="en-US" dirty="0"/>
              <a:t>Individual Perspective Age Modeling</a:t>
            </a:r>
          </a:p>
        </p:txBody>
      </p:sp>
      <p:sp>
        <p:nvSpPr>
          <p:cNvPr id="4" name="Content Placeholder 1">
            <a:extLst>
              <a:ext uri="{FF2B5EF4-FFF2-40B4-BE49-F238E27FC236}">
                <a16:creationId xmlns:a16="http://schemas.microsoft.com/office/drawing/2014/main" id="{24DCA430-E279-4341-AA8E-4F03E08FDD63}"/>
              </a:ext>
            </a:extLst>
          </p:cNvPr>
          <p:cNvSpPr>
            <a:spLocks noGrp="1"/>
          </p:cNvSpPr>
          <p:nvPr>
            <p:ph idx="1"/>
          </p:nvPr>
        </p:nvSpPr>
        <p:spPr>
          <a:xfrm>
            <a:off x="381000" y="1215485"/>
            <a:ext cx="11430000" cy="4225650"/>
          </a:xfrm>
        </p:spPr>
        <p:txBody>
          <a:bodyPr>
            <a:normAutofit fontScale="92500" lnSpcReduction="20000"/>
          </a:bodyPr>
          <a:lstStyle/>
          <a:p>
            <a:pPr marL="0" indent="0">
              <a:buNone/>
            </a:pPr>
            <a:r>
              <a:rPr lang="en-US" sz="3000" dirty="0"/>
              <a:t>Only the approaches of rank and world rank analysis were successful. Both approaches took the following structure:</a:t>
            </a:r>
          </a:p>
          <a:p>
            <a:pPr marL="0" indent="0">
              <a:buNone/>
            </a:pPr>
            <a:endParaRPr lang="en-US" dirty="0"/>
          </a:p>
          <a:p>
            <a:pPr marL="0" indent="0">
              <a:buNone/>
            </a:pPr>
            <a:r>
              <a:rPr lang="en-US" sz="2400" dirty="0"/>
              <a:t>1) Identify peak age for individuals as the earliest age at which they finished the best for each sport they compete in (scaled or unscaled).</a:t>
            </a:r>
          </a:p>
          <a:p>
            <a:pPr marL="0" indent="0">
              <a:buNone/>
            </a:pPr>
            <a:endParaRPr lang="en-US" sz="2400" dirty="0"/>
          </a:p>
          <a:p>
            <a:pPr marL="0" indent="0">
              <a:buNone/>
            </a:pPr>
            <a:r>
              <a:rPr lang="en-US" sz="2400" dirty="0"/>
              <a:t>2) Aggregate all these peak ages by event and gender and fit a KDE model</a:t>
            </a:r>
          </a:p>
          <a:p>
            <a:pPr marL="0" indent="0">
              <a:buNone/>
            </a:pPr>
            <a:endParaRPr lang="en-US" sz="2400" dirty="0"/>
          </a:p>
          <a:p>
            <a:pPr marL="0" indent="0">
              <a:buNone/>
            </a:pPr>
            <a:r>
              <a:rPr lang="en-US" sz="2400" dirty="0"/>
              <a:t>3) Evaluate the distribution shape and identify potential modality</a:t>
            </a:r>
          </a:p>
          <a:p>
            <a:pPr marL="0" indent="0">
              <a:buNone/>
            </a:pPr>
            <a:endParaRPr lang="en-US" sz="2400" dirty="0"/>
          </a:p>
          <a:p>
            <a:pPr marL="0" indent="0">
              <a:buNone/>
            </a:pPr>
            <a:r>
              <a:rPr lang="en-US" sz="2400" dirty="0"/>
              <a:t>4) If age and peak individual performance not related, we should see uniform distribution otherwise they are related. If related identify potential peak age range.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2831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Individual Peak Rank Modeling</a:t>
            </a:r>
          </a:p>
        </p:txBody>
      </p:sp>
      <p:pic>
        <p:nvPicPr>
          <p:cNvPr id="10" name="Picture 9" descr="Graphical user interface, application&#10;&#10;Description automatically generated">
            <a:extLst>
              <a:ext uri="{FF2B5EF4-FFF2-40B4-BE49-F238E27FC236}">
                <a16:creationId xmlns:a16="http://schemas.microsoft.com/office/drawing/2014/main" id="{A6F50370-59A9-41BA-B725-EE71E38E2980}"/>
              </a:ext>
            </a:extLst>
          </p:cNvPr>
          <p:cNvPicPr>
            <a:picLocks noChangeAspect="1"/>
          </p:cNvPicPr>
          <p:nvPr/>
        </p:nvPicPr>
        <p:blipFill>
          <a:blip r:embed="rId2"/>
          <a:stretch>
            <a:fillRect/>
          </a:stretch>
        </p:blipFill>
        <p:spPr>
          <a:xfrm>
            <a:off x="265790" y="3761529"/>
            <a:ext cx="5943905" cy="2895749"/>
          </a:xfrm>
          <a:prstGeom prst="rect">
            <a:avLst/>
          </a:prstGeom>
        </p:spPr>
      </p:pic>
      <p:pic>
        <p:nvPicPr>
          <p:cNvPr id="13" name="Picture 12" descr="Chart&#10;&#10;Description automatically generated">
            <a:extLst>
              <a:ext uri="{FF2B5EF4-FFF2-40B4-BE49-F238E27FC236}">
                <a16:creationId xmlns:a16="http://schemas.microsoft.com/office/drawing/2014/main" id="{93EA04F5-E43E-452B-85C7-D3094B9CF0F2}"/>
              </a:ext>
            </a:extLst>
          </p:cNvPr>
          <p:cNvPicPr>
            <a:picLocks noChangeAspect="1"/>
          </p:cNvPicPr>
          <p:nvPr/>
        </p:nvPicPr>
        <p:blipFill rotWithShape="1">
          <a:blip r:embed="rId3"/>
          <a:srcRect r="37337"/>
          <a:stretch/>
        </p:blipFill>
        <p:spPr>
          <a:xfrm>
            <a:off x="1666065" y="1099353"/>
            <a:ext cx="5100190" cy="2160546"/>
          </a:xfrm>
          <a:prstGeom prst="rect">
            <a:avLst/>
          </a:prstGeom>
        </p:spPr>
      </p:pic>
      <p:sp>
        <p:nvSpPr>
          <p:cNvPr id="14" name="TextBox 13">
            <a:extLst>
              <a:ext uri="{FF2B5EF4-FFF2-40B4-BE49-F238E27FC236}">
                <a16:creationId xmlns:a16="http://schemas.microsoft.com/office/drawing/2014/main" id="{02E36566-B53A-4F68-85F9-EFCB138EA6BE}"/>
              </a:ext>
            </a:extLst>
          </p:cNvPr>
          <p:cNvSpPr txBox="1"/>
          <p:nvPr/>
        </p:nvSpPr>
        <p:spPr>
          <a:xfrm>
            <a:off x="8051320" y="1215483"/>
            <a:ext cx="3759679" cy="2585323"/>
          </a:xfrm>
          <a:prstGeom prst="rect">
            <a:avLst/>
          </a:prstGeom>
          <a:noFill/>
        </p:spPr>
        <p:txBody>
          <a:bodyPr wrap="square" rtlCol="0">
            <a:spAutoFit/>
          </a:bodyPr>
          <a:lstStyle/>
          <a:p>
            <a:r>
              <a:rPr lang="en-US" dirty="0"/>
              <a:t>Conducted process of KDE modeling and age range identification for all event and gender pairs.</a:t>
            </a:r>
          </a:p>
          <a:p>
            <a:endParaRPr lang="en-US" dirty="0"/>
          </a:p>
          <a:p>
            <a:r>
              <a:rPr lang="en-US" dirty="0"/>
              <a:t>All KDE distributions were clearly non-uniform, age has some relation to when athlete’s “peak”</a:t>
            </a:r>
          </a:p>
          <a:p>
            <a:endParaRPr lang="en-US" dirty="0"/>
          </a:p>
        </p:txBody>
      </p:sp>
      <p:pic>
        <p:nvPicPr>
          <p:cNvPr id="16" name="Picture 15" descr="Graphical user interface, chart&#10;&#10;Description automatically generated">
            <a:extLst>
              <a:ext uri="{FF2B5EF4-FFF2-40B4-BE49-F238E27FC236}">
                <a16:creationId xmlns:a16="http://schemas.microsoft.com/office/drawing/2014/main" id="{C87B3ADF-5246-46E7-BDCC-32ED7DABC266}"/>
              </a:ext>
            </a:extLst>
          </p:cNvPr>
          <p:cNvPicPr>
            <a:picLocks noChangeAspect="1"/>
          </p:cNvPicPr>
          <p:nvPr/>
        </p:nvPicPr>
        <p:blipFill>
          <a:blip r:embed="rId4"/>
          <a:stretch>
            <a:fillRect/>
          </a:stretch>
        </p:blipFill>
        <p:spPr>
          <a:xfrm>
            <a:off x="6410804" y="3761529"/>
            <a:ext cx="2720669" cy="2996263"/>
          </a:xfrm>
          <a:prstGeom prst="rect">
            <a:avLst/>
          </a:prstGeom>
        </p:spPr>
      </p:pic>
      <p:sp>
        <p:nvSpPr>
          <p:cNvPr id="17" name="TextBox 16">
            <a:extLst>
              <a:ext uri="{FF2B5EF4-FFF2-40B4-BE49-F238E27FC236}">
                <a16:creationId xmlns:a16="http://schemas.microsoft.com/office/drawing/2014/main" id="{DAE78400-E6D5-4F75-9141-D6110F63EB85}"/>
              </a:ext>
            </a:extLst>
          </p:cNvPr>
          <p:cNvSpPr txBox="1"/>
          <p:nvPr/>
        </p:nvSpPr>
        <p:spPr>
          <a:xfrm>
            <a:off x="2546850" y="3102511"/>
            <a:ext cx="4013513" cy="246221"/>
          </a:xfrm>
          <a:prstGeom prst="rect">
            <a:avLst/>
          </a:prstGeom>
          <a:noFill/>
        </p:spPr>
        <p:txBody>
          <a:bodyPr wrap="square" rtlCol="0">
            <a:spAutoFit/>
          </a:bodyPr>
          <a:lstStyle/>
          <a:p>
            <a:r>
              <a:rPr lang="en-US" sz="1000" i="1" dirty="0"/>
              <a:t>Example KDE of Individual peak rank for men's’ downhill</a:t>
            </a:r>
          </a:p>
        </p:txBody>
      </p:sp>
    </p:spTree>
    <p:extLst>
      <p:ext uri="{BB962C8B-B14F-4D97-AF65-F5344CB8AC3E}">
        <p14:creationId xmlns:p14="http://schemas.microsoft.com/office/powerpoint/2010/main" val="4271189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Individual Peak World Rank Modeling</a:t>
            </a:r>
          </a:p>
        </p:txBody>
      </p:sp>
      <p:pic>
        <p:nvPicPr>
          <p:cNvPr id="5" name="Picture 4" descr="A picture containing histogram&#10;&#10;Description automatically generated">
            <a:extLst>
              <a:ext uri="{FF2B5EF4-FFF2-40B4-BE49-F238E27FC236}">
                <a16:creationId xmlns:a16="http://schemas.microsoft.com/office/drawing/2014/main" id="{E2B20E1E-B8BA-4CAD-8020-AF733049691E}"/>
              </a:ext>
            </a:extLst>
          </p:cNvPr>
          <p:cNvPicPr>
            <a:picLocks noChangeAspect="1"/>
          </p:cNvPicPr>
          <p:nvPr/>
        </p:nvPicPr>
        <p:blipFill rotWithShape="1">
          <a:blip r:embed="rId2"/>
          <a:srcRect r="36054"/>
          <a:stretch/>
        </p:blipFill>
        <p:spPr>
          <a:xfrm>
            <a:off x="324632" y="1099358"/>
            <a:ext cx="4535466" cy="2098426"/>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EDDD6E3F-6516-4837-82FB-0EB4854B4847}"/>
              </a:ext>
            </a:extLst>
          </p:cNvPr>
          <p:cNvPicPr>
            <a:picLocks noChangeAspect="1"/>
          </p:cNvPicPr>
          <p:nvPr/>
        </p:nvPicPr>
        <p:blipFill>
          <a:blip r:embed="rId3"/>
          <a:stretch>
            <a:fillRect/>
          </a:stretch>
        </p:blipFill>
        <p:spPr>
          <a:xfrm>
            <a:off x="230535" y="3573564"/>
            <a:ext cx="5943905" cy="2870348"/>
          </a:xfrm>
          <a:prstGeom prst="rect">
            <a:avLst/>
          </a:prstGeom>
        </p:spPr>
      </p:pic>
      <p:pic>
        <p:nvPicPr>
          <p:cNvPr id="9" name="Picture 8" descr="Chart&#10;&#10;Description automatically generated">
            <a:extLst>
              <a:ext uri="{FF2B5EF4-FFF2-40B4-BE49-F238E27FC236}">
                <a16:creationId xmlns:a16="http://schemas.microsoft.com/office/drawing/2014/main" id="{3FD7BAED-E5AA-4184-8006-A339CD936B1E}"/>
              </a:ext>
            </a:extLst>
          </p:cNvPr>
          <p:cNvPicPr>
            <a:picLocks noChangeAspect="1"/>
          </p:cNvPicPr>
          <p:nvPr/>
        </p:nvPicPr>
        <p:blipFill>
          <a:blip r:embed="rId4"/>
          <a:stretch>
            <a:fillRect/>
          </a:stretch>
        </p:blipFill>
        <p:spPr>
          <a:xfrm>
            <a:off x="6444640" y="3573564"/>
            <a:ext cx="2843409" cy="2892434"/>
          </a:xfrm>
          <a:prstGeom prst="rect">
            <a:avLst/>
          </a:prstGeom>
        </p:spPr>
      </p:pic>
      <p:sp>
        <p:nvSpPr>
          <p:cNvPr id="10" name="TextBox 9">
            <a:extLst>
              <a:ext uri="{FF2B5EF4-FFF2-40B4-BE49-F238E27FC236}">
                <a16:creationId xmlns:a16="http://schemas.microsoft.com/office/drawing/2014/main" id="{77785B52-E398-49DF-9BD8-52D077819B07}"/>
              </a:ext>
            </a:extLst>
          </p:cNvPr>
          <p:cNvSpPr txBox="1"/>
          <p:nvPr/>
        </p:nvSpPr>
        <p:spPr>
          <a:xfrm>
            <a:off x="6300440" y="1443458"/>
            <a:ext cx="5566928" cy="1754326"/>
          </a:xfrm>
          <a:prstGeom prst="rect">
            <a:avLst/>
          </a:prstGeom>
          <a:noFill/>
        </p:spPr>
        <p:txBody>
          <a:bodyPr wrap="square" rtlCol="0">
            <a:spAutoFit/>
          </a:bodyPr>
          <a:lstStyle/>
          <a:p>
            <a:r>
              <a:rPr lang="en-US" dirty="0"/>
              <a:t>Conducted process of KDE modeling and age range identification for all event and gender pairs.</a:t>
            </a:r>
          </a:p>
          <a:p>
            <a:endParaRPr lang="en-US" dirty="0"/>
          </a:p>
          <a:p>
            <a:r>
              <a:rPr lang="en-US" dirty="0"/>
              <a:t>All KDE distributions were clearly non-uniform, age has some relation to when athlete’s “peak”</a:t>
            </a:r>
          </a:p>
          <a:p>
            <a:endParaRPr lang="en-US" dirty="0"/>
          </a:p>
        </p:txBody>
      </p:sp>
      <p:sp>
        <p:nvSpPr>
          <p:cNvPr id="11" name="TextBox 10">
            <a:extLst>
              <a:ext uri="{FF2B5EF4-FFF2-40B4-BE49-F238E27FC236}">
                <a16:creationId xmlns:a16="http://schemas.microsoft.com/office/drawing/2014/main" id="{82E98019-151A-4763-812B-9828E0F8B746}"/>
              </a:ext>
            </a:extLst>
          </p:cNvPr>
          <p:cNvSpPr txBox="1"/>
          <p:nvPr/>
        </p:nvSpPr>
        <p:spPr>
          <a:xfrm>
            <a:off x="926421" y="3139452"/>
            <a:ext cx="4013513" cy="246221"/>
          </a:xfrm>
          <a:prstGeom prst="rect">
            <a:avLst/>
          </a:prstGeom>
          <a:noFill/>
        </p:spPr>
        <p:txBody>
          <a:bodyPr wrap="square" rtlCol="0">
            <a:spAutoFit/>
          </a:bodyPr>
          <a:lstStyle/>
          <a:p>
            <a:r>
              <a:rPr lang="en-US" sz="1000" i="1" dirty="0"/>
              <a:t>Example KDE of Individual peak world rank for men's’ downhill</a:t>
            </a:r>
          </a:p>
        </p:txBody>
      </p:sp>
    </p:spTree>
    <p:extLst>
      <p:ext uri="{BB962C8B-B14F-4D97-AF65-F5344CB8AC3E}">
        <p14:creationId xmlns:p14="http://schemas.microsoft.com/office/powerpoint/2010/main" val="1315346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380999" y="1215485"/>
            <a:ext cx="11429999" cy="4225650"/>
          </a:xfrm>
        </p:spPr>
        <p:txBody>
          <a:bodyPr>
            <a:normAutofit fontScale="62500" lnSpcReduction="20000"/>
          </a:bodyPr>
          <a:lstStyle/>
          <a:p>
            <a:pPr marL="0" indent="0">
              <a:buNone/>
            </a:pPr>
            <a:r>
              <a:rPr lang="en-US" sz="3800" dirty="0"/>
              <a:t>Modeling at the event level we were able to take advantage of the ability to aggregate and compare top finishing athletes vs. all athletes</a:t>
            </a:r>
          </a:p>
          <a:p>
            <a:pPr marL="0" indent="0">
              <a:buNone/>
            </a:pPr>
            <a:endParaRPr lang="en-US" dirty="0"/>
          </a:p>
          <a:p>
            <a:pPr marL="514350" indent="-514350">
              <a:buAutoNum type="arabicParenR"/>
            </a:pPr>
            <a:r>
              <a:rPr lang="en-US" dirty="0"/>
              <a:t>Fit a KDE model of age on all of a given event gender pairs top finishing athletes and their corresponding ages (ranks 1-3)</a:t>
            </a:r>
          </a:p>
          <a:p>
            <a:pPr marL="514350" indent="-514350">
              <a:buAutoNum type="arabicParenR"/>
            </a:pPr>
            <a:endParaRPr lang="en-US" dirty="0"/>
          </a:p>
          <a:p>
            <a:pPr marL="514350" indent="-514350">
              <a:buFont typeface="Arial" panose="020B0604020202020204" pitchFamily="34" charset="0"/>
              <a:buAutoNum type="arabicParenR"/>
            </a:pPr>
            <a:r>
              <a:rPr lang="en-US" dirty="0"/>
              <a:t>Fit a KDE model of age on all of a given event gender pairs non-top finishing athletes excluding DNF</a:t>
            </a:r>
          </a:p>
          <a:p>
            <a:pPr marL="514350" indent="-514350">
              <a:buFont typeface="Arial" panose="020B0604020202020204" pitchFamily="34" charset="0"/>
              <a:buAutoNum type="arabicParenR"/>
            </a:pPr>
            <a:endParaRPr lang="en-US" dirty="0"/>
          </a:p>
          <a:p>
            <a:pPr marL="514350" indent="-514350">
              <a:buFont typeface="Arial" panose="020B0604020202020204" pitchFamily="34" charset="0"/>
              <a:buAutoNum type="arabicParenR"/>
            </a:pPr>
            <a:r>
              <a:rPr lang="en-US" dirty="0"/>
              <a:t>Compare the distribution of age with those that are top finishers and those which are not using 2-sample Kolmogorov-Smirnov test.</a:t>
            </a:r>
          </a:p>
          <a:p>
            <a:pPr marL="514350" indent="-514350">
              <a:buFont typeface="Arial" panose="020B0604020202020204" pitchFamily="34" charset="0"/>
              <a:buAutoNum type="arabicParenR"/>
            </a:pPr>
            <a:endParaRPr lang="en-US" dirty="0"/>
          </a:p>
          <a:p>
            <a:pPr marL="514350" indent="-514350">
              <a:buFont typeface="Arial" panose="020B0604020202020204" pitchFamily="34" charset="0"/>
              <a:buAutoNum type="arabicParenR"/>
            </a:pPr>
            <a:r>
              <a:rPr lang="en-US" dirty="0"/>
              <a:t> If distributions are different age should impact medal achievement.</a:t>
            </a:r>
          </a:p>
          <a:p>
            <a:pPr marL="514350" indent="-514350">
              <a:buFont typeface="Arial" panose="020B0604020202020204" pitchFamily="34" charset="0"/>
              <a:buAutoNum type="arabicParenR"/>
            </a:pPr>
            <a:endParaRPr lang="en-US" dirty="0"/>
          </a:p>
          <a:p>
            <a:pPr marL="514350" indent="-514350">
              <a:buFont typeface="Arial" panose="020B0604020202020204" pitchFamily="34" charset="0"/>
              <a:buAutoNum type="arabicParenR"/>
            </a:pPr>
            <a:r>
              <a:rPr lang="en-US" dirty="0"/>
              <a:t> If age is significant find the potential peak age ranges by gender and sport</a:t>
            </a:r>
          </a:p>
          <a:p>
            <a:pPr marL="0" indent="0">
              <a:buNone/>
            </a:pPr>
            <a:endParaRPr lang="en-US" dirty="0"/>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Event Perspective Modeling</a:t>
            </a:r>
          </a:p>
        </p:txBody>
      </p:sp>
    </p:spTree>
    <p:extLst>
      <p:ext uri="{BB962C8B-B14F-4D97-AF65-F5344CB8AC3E}">
        <p14:creationId xmlns:p14="http://schemas.microsoft.com/office/powerpoint/2010/main" val="3132087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Event Level Modeling</a:t>
            </a:r>
          </a:p>
        </p:txBody>
      </p:sp>
      <p:pic>
        <p:nvPicPr>
          <p:cNvPr id="8" name="Picture 7" descr="Chart&#10;&#10;Description automatically generated">
            <a:extLst>
              <a:ext uri="{FF2B5EF4-FFF2-40B4-BE49-F238E27FC236}">
                <a16:creationId xmlns:a16="http://schemas.microsoft.com/office/drawing/2014/main" id="{F07F96AF-8C31-4DB6-AE21-BCCD53B42B24}"/>
              </a:ext>
            </a:extLst>
          </p:cNvPr>
          <p:cNvPicPr>
            <a:picLocks noChangeAspect="1"/>
          </p:cNvPicPr>
          <p:nvPr/>
        </p:nvPicPr>
        <p:blipFill>
          <a:blip r:embed="rId2"/>
          <a:stretch>
            <a:fillRect/>
          </a:stretch>
        </p:blipFill>
        <p:spPr>
          <a:xfrm>
            <a:off x="431322" y="1056293"/>
            <a:ext cx="5297873" cy="1567418"/>
          </a:xfrm>
          <a:prstGeom prst="rect">
            <a:avLst/>
          </a:prstGeom>
        </p:spPr>
      </p:pic>
      <p:sp>
        <p:nvSpPr>
          <p:cNvPr id="5" name="TextBox 4">
            <a:extLst>
              <a:ext uri="{FF2B5EF4-FFF2-40B4-BE49-F238E27FC236}">
                <a16:creationId xmlns:a16="http://schemas.microsoft.com/office/drawing/2014/main" id="{AA6F8DE7-5DFF-4A02-88FF-C3BE6AAF8F48}"/>
              </a:ext>
            </a:extLst>
          </p:cNvPr>
          <p:cNvSpPr txBox="1"/>
          <p:nvPr/>
        </p:nvSpPr>
        <p:spPr>
          <a:xfrm>
            <a:off x="6501510" y="1042434"/>
            <a:ext cx="5566928" cy="4524315"/>
          </a:xfrm>
          <a:prstGeom prst="rect">
            <a:avLst/>
          </a:prstGeom>
          <a:noFill/>
        </p:spPr>
        <p:txBody>
          <a:bodyPr wrap="square" rtlCol="0">
            <a:spAutoFit/>
          </a:bodyPr>
          <a:lstStyle/>
          <a:p>
            <a:r>
              <a:rPr lang="en-US" dirty="0"/>
              <a:t>Conducted process of KDE modeling and age range identification for all event and gender pairs.</a:t>
            </a:r>
          </a:p>
          <a:p>
            <a:endParaRPr lang="en-US" dirty="0"/>
          </a:p>
          <a:p>
            <a:r>
              <a:rPr lang="en-US" dirty="0"/>
              <a:t>“Top” medaling distributions when compared to “All” athlete distributions were significantly different in all event gender pairs</a:t>
            </a:r>
          </a:p>
          <a:p>
            <a:endParaRPr lang="en-US" dirty="0"/>
          </a:p>
          <a:p>
            <a:r>
              <a:rPr lang="en-US" dirty="0"/>
              <a:t>This difference is demonstrated in the very small 2-smple Kolmogorov-Smirnov test and corresponding test statistic and p-values</a:t>
            </a:r>
          </a:p>
          <a:p>
            <a:endParaRPr lang="en-US" dirty="0"/>
          </a:p>
          <a:p>
            <a:r>
              <a:rPr lang="en-US" dirty="0"/>
              <a:t>In all cases the test statistic and p-value were statistically significant at the alpha = 0.05 level</a:t>
            </a:r>
          </a:p>
          <a:p>
            <a:endParaRPr lang="en-US" dirty="0"/>
          </a:p>
          <a:p>
            <a:r>
              <a:rPr lang="en-US" dirty="0"/>
              <a:t>Thus, athlete age impacted medal achievement in the case of all event gender pairs.</a:t>
            </a:r>
          </a:p>
        </p:txBody>
      </p:sp>
      <p:pic>
        <p:nvPicPr>
          <p:cNvPr id="2" name="Picture 1">
            <a:extLst>
              <a:ext uri="{FF2B5EF4-FFF2-40B4-BE49-F238E27FC236}">
                <a16:creationId xmlns:a16="http://schemas.microsoft.com/office/drawing/2014/main" id="{08FE45BD-1295-4E84-8872-E28BACD4EB2F}"/>
              </a:ext>
            </a:extLst>
          </p:cNvPr>
          <p:cNvPicPr>
            <a:picLocks noChangeAspect="1"/>
          </p:cNvPicPr>
          <p:nvPr/>
        </p:nvPicPr>
        <p:blipFill>
          <a:blip r:embed="rId3"/>
          <a:stretch>
            <a:fillRect/>
          </a:stretch>
        </p:blipFill>
        <p:spPr>
          <a:xfrm>
            <a:off x="1226209" y="3072053"/>
            <a:ext cx="3136900" cy="3327400"/>
          </a:xfrm>
          <a:prstGeom prst="rect">
            <a:avLst/>
          </a:prstGeom>
        </p:spPr>
      </p:pic>
    </p:spTree>
    <p:extLst>
      <p:ext uri="{BB962C8B-B14F-4D97-AF65-F5344CB8AC3E}">
        <p14:creationId xmlns:p14="http://schemas.microsoft.com/office/powerpoint/2010/main" val="1418129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Event Level Modeling</a:t>
            </a:r>
          </a:p>
        </p:txBody>
      </p:sp>
      <p:pic>
        <p:nvPicPr>
          <p:cNvPr id="4" name="Picture 3" descr="Graphical user interface, application&#10;&#10;Description automatically generated">
            <a:extLst>
              <a:ext uri="{FF2B5EF4-FFF2-40B4-BE49-F238E27FC236}">
                <a16:creationId xmlns:a16="http://schemas.microsoft.com/office/drawing/2014/main" id="{0A217BB8-C15F-4BBB-AB96-9F2B62B13A83}"/>
              </a:ext>
            </a:extLst>
          </p:cNvPr>
          <p:cNvPicPr>
            <a:picLocks noChangeAspect="1"/>
          </p:cNvPicPr>
          <p:nvPr/>
        </p:nvPicPr>
        <p:blipFill>
          <a:blip r:embed="rId2"/>
          <a:stretch>
            <a:fillRect/>
          </a:stretch>
        </p:blipFill>
        <p:spPr>
          <a:xfrm>
            <a:off x="318217" y="3029783"/>
            <a:ext cx="5943905" cy="2851297"/>
          </a:xfrm>
          <a:prstGeom prst="rect">
            <a:avLst/>
          </a:prstGeom>
        </p:spPr>
      </p:pic>
      <p:pic>
        <p:nvPicPr>
          <p:cNvPr id="6" name="Picture 5" descr="Chart, funnel chart&#10;&#10;Description automatically generated">
            <a:extLst>
              <a:ext uri="{FF2B5EF4-FFF2-40B4-BE49-F238E27FC236}">
                <a16:creationId xmlns:a16="http://schemas.microsoft.com/office/drawing/2014/main" id="{07110693-862B-43DA-9D2B-2416ABB717F4}"/>
              </a:ext>
            </a:extLst>
          </p:cNvPr>
          <p:cNvPicPr>
            <a:picLocks noChangeAspect="1"/>
          </p:cNvPicPr>
          <p:nvPr/>
        </p:nvPicPr>
        <p:blipFill>
          <a:blip r:embed="rId3"/>
          <a:stretch>
            <a:fillRect/>
          </a:stretch>
        </p:blipFill>
        <p:spPr>
          <a:xfrm>
            <a:off x="6778481" y="3029783"/>
            <a:ext cx="2919915" cy="3033729"/>
          </a:xfrm>
          <a:prstGeom prst="rect">
            <a:avLst/>
          </a:prstGeom>
        </p:spPr>
      </p:pic>
      <p:sp>
        <p:nvSpPr>
          <p:cNvPr id="2" name="TextBox 1">
            <a:extLst>
              <a:ext uri="{FF2B5EF4-FFF2-40B4-BE49-F238E27FC236}">
                <a16:creationId xmlns:a16="http://schemas.microsoft.com/office/drawing/2014/main" id="{D9999D4B-8172-46D5-B8D5-6C4A4E20BA55}"/>
              </a:ext>
            </a:extLst>
          </p:cNvPr>
          <p:cNvSpPr txBox="1"/>
          <p:nvPr/>
        </p:nvSpPr>
        <p:spPr>
          <a:xfrm>
            <a:off x="261257" y="1729838"/>
            <a:ext cx="9148658" cy="646331"/>
          </a:xfrm>
          <a:prstGeom prst="rect">
            <a:avLst/>
          </a:prstGeom>
          <a:noFill/>
        </p:spPr>
        <p:txBody>
          <a:bodyPr wrap="none" rtlCol="0">
            <a:spAutoFit/>
          </a:bodyPr>
          <a:lstStyle/>
          <a:p>
            <a:r>
              <a:rPr lang="en-US" dirty="0"/>
              <a:t>Similar to the individual perspective analysis, we were able to derive potential peak age </a:t>
            </a:r>
          </a:p>
          <a:p>
            <a:r>
              <a:rPr lang="en-US" dirty="0"/>
              <a:t>ranges from the middle 33% of the distribution (1/6 left and 1/6 right of mode)</a:t>
            </a:r>
          </a:p>
        </p:txBody>
      </p:sp>
    </p:spTree>
    <p:extLst>
      <p:ext uri="{BB962C8B-B14F-4D97-AF65-F5344CB8AC3E}">
        <p14:creationId xmlns:p14="http://schemas.microsoft.com/office/powerpoint/2010/main" val="2352355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381000" y="1215484"/>
            <a:ext cx="11430000" cy="4805305"/>
          </a:xfrm>
        </p:spPr>
        <p:txBody>
          <a:bodyPr>
            <a:normAutofit/>
          </a:bodyPr>
          <a:lstStyle/>
          <a:p>
            <a:pPr marL="514350" indent="-514350">
              <a:buAutoNum type="arabicParenR"/>
            </a:pPr>
            <a:r>
              <a:rPr lang="en-US" dirty="0"/>
              <a:t>Aggregate medal count and type at the country and Olympic games level</a:t>
            </a:r>
          </a:p>
          <a:p>
            <a:pPr marL="514350" indent="-514350">
              <a:buAutoNum type="arabicParenR"/>
            </a:pPr>
            <a:r>
              <a:rPr lang="en-US" dirty="0"/>
              <a:t>Assign varying points to gold, silver, and bronze medals to adequately differentiate the value of each (6.4, 2.4, 1 respectively)</a:t>
            </a:r>
          </a:p>
          <a:p>
            <a:pPr marL="514350" indent="-514350">
              <a:buAutoNum type="arabicParenR"/>
            </a:pPr>
            <a:r>
              <a:rPr lang="en-US" dirty="0"/>
              <a:t>Use event/gender level identified peak age ranges from event level KDE modeling to identify each countries pre-Olympic pipeline composition for each games (pre/post/peak athlete frequencies)</a:t>
            </a:r>
          </a:p>
          <a:p>
            <a:pPr marL="514350" indent="-514350">
              <a:buAutoNum type="arabicParenR"/>
            </a:pPr>
            <a:r>
              <a:rPr lang="en-US" dirty="0"/>
              <a:t>Fit models with inputs as the known pre/post/peak age frequencies for a given country and Olympic games as our explanatory variables with medal score at our target</a:t>
            </a:r>
          </a:p>
          <a:p>
            <a:pPr marL="0" indent="0">
              <a:buNone/>
            </a:pPr>
            <a:endParaRPr lang="en-US" dirty="0"/>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Overview</a:t>
            </a:r>
          </a:p>
        </p:txBody>
      </p:sp>
    </p:spTree>
    <p:extLst>
      <p:ext uri="{BB962C8B-B14F-4D97-AF65-F5344CB8AC3E}">
        <p14:creationId xmlns:p14="http://schemas.microsoft.com/office/powerpoint/2010/main" val="2662052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326394" y="3609155"/>
            <a:ext cx="7031195" cy="1822744"/>
          </a:xfrm>
        </p:spPr>
        <p:txBody>
          <a:bodyPr>
            <a:normAutofit/>
          </a:bodyPr>
          <a:lstStyle/>
          <a:p>
            <a:r>
              <a:rPr lang="en-US" dirty="0"/>
              <a:t>Fit with varying hyper-parameters for normalization and intercept</a:t>
            </a:r>
          </a:p>
          <a:p>
            <a:r>
              <a:rPr lang="en-US" dirty="0"/>
              <a:t>Intercept with normalization was the best resulting model</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Linear Regression</a:t>
            </a:r>
          </a:p>
        </p:txBody>
      </p:sp>
      <p:pic>
        <p:nvPicPr>
          <p:cNvPr id="4" name="Picture 3">
            <a:extLst>
              <a:ext uri="{FF2B5EF4-FFF2-40B4-BE49-F238E27FC236}">
                <a16:creationId xmlns:a16="http://schemas.microsoft.com/office/drawing/2014/main" id="{3AE3D7BD-CD03-4FBF-8A4A-10B47CDF8BFB}"/>
              </a:ext>
            </a:extLst>
          </p:cNvPr>
          <p:cNvPicPr>
            <a:picLocks noChangeAspect="1"/>
          </p:cNvPicPr>
          <p:nvPr/>
        </p:nvPicPr>
        <p:blipFill>
          <a:blip r:embed="rId2"/>
          <a:stretch>
            <a:fillRect/>
          </a:stretch>
        </p:blipFill>
        <p:spPr>
          <a:xfrm>
            <a:off x="326394" y="1215483"/>
            <a:ext cx="7901943" cy="1906051"/>
          </a:xfrm>
          <a:prstGeom prst="rect">
            <a:avLst/>
          </a:prstGeom>
        </p:spPr>
      </p:pic>
    </p:spTree>
    <p:extLst>
      <p:ext uri="{BB962C8B-B14F-4D97-AF65-F5344CB8AC3E}">
        <p14:creationId xmlns:p14="http://schemas.microsoft.com/office/powerpoint/2010/main" val="597799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465779" y="4160218"/>
            <a:ext cx="7085592" cy="2106072"/>
          </a:xfrm>
        </p:spPr>
        <p:txBody>
          <a:bodyPr>
            <a:normAutofit lnSpcReduction="10000"/>
          </a:bodyPr>
          <a:lstStyle/>
          <a:p>
            <a:r>
              <a:rPr lang="en-US" dirty="0"/>
              <a:t>Fit with varying hyper parameters for intercept, normalization, and alpha (l2 regularization)</a:t>
            </a:r>
          </a:p>
          <a:p>
            <a:r>
              <a:rPr lang="en-US" dirty="0"/>
              <a:t>Intercept with normalization and an alpha of 0.1 was the best fitting model</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Ridge Regression</a:t>
            </a:r>
          </a:p>
        </p:txBody>
      </p:sp>
      <p:pic>
        <p:nvPicPr>
          <p:cNvPr id="5" name="Picture 4">
            <a:extLst>
              <a:ext uri="{FF2B5EF4-FFF2-40B4-BE49-F238E27FC236}">
                <a16:creationId xmlns:a16="http://schemas.microsoft.com/office/drawing/2014/main" id="{C1232F13-F936-48CC-8425-9AF1FB4F3BB0}"/>
              </a:ext>
            </a:extLst>
          </p:cNvPr>
          <p:cNvPicPr>
            <a:picLocks noChangeAspect="1"/>
          </p:cNvPicPr>
          <p:nvPr/>
        </p:nvPicPr>
        <p:blipFill>
          <a:blip r:embed="rId2"/>
          <a:stretch>
            <a:fillRect/>
          </a:stretch>
        </p:blipFill>
        <p:spPr>
          <a:xfrm>
            <a:off x="465779" y="1421517"/>
            <a:ext cx="6940550" cy="2222500"/>
          </a:xfrm>
          <a:prstGeom prst="rect">
            <a:avLst/>
          </a:prstGeom>
        </p:spPr>
      </p:pic>
    </p:spTree>
    <p:extLst>
      <p:ext uri="{BB962C8B-B14F-4D97-AF65-F5344CB8AC3E}">
        <p14:creationId xmlns:p14="http://schemas.microsoft.com/office/powerpoint/2010/main" val="1882029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381000" y="3986840"/>
            <a:ext cx="8121103" cy="2012135"/>
          </a:xfrm>
        </p:spPr>
        <p:txBody>
          <a:bodyPr/>
          <a:lstStyle/>
          <a:p>
            <a:r>
              <a:rPr lang="en-US" dirty="0"/>
              <a:t>Fit with varying hyper parameters for intercept, normalization, and alpha (l1 regularization)</a:t>
            </a:r>
          </a:p>
          <a:p>
            <a:r>
              <a:rPr lang="en-US" dirty="0"/>
              <a:t>Intercept without normalization and an alpha of 1.0 was the best fitting model</a:t>
            </a:r>
          </a:p>
          <a:p>
            <a:pPr marL="0" indent="0">
              <a:buNone/>
            </a:pPr>
            <a:endParaRPr lang="en-US" dirty="0"/>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Lasso Regression</a:t>
            </a:r>
          </a:p>
        </p:txBody>
      </p:sp>
      <p:pic>
        <p:nvPicPr>
          <p:cNvPr id="4" name="Picture 3">
            <a:extLst>
              <a:ext uri="{FF2B5EF4-FFF2-40B4-BE49-F238E27FC236}">
                <a16:creationId xmlns:a16="http://schemas.microsoft.com/office/drawing/2014/main" id="{4322A7E2-0514-49B9-A477-B2476DD44434}"/>
              </a:ext>
            </a:extLst>
          </p:cNvPr>
          <p:cNvPicPr>
            <a:picLocks noChangeAspect="1"/>
          </p:cNvPicPr>
          <p:nvPr/>
        </p:nvPicPr>
        <p:blipFill>
          <a:blip r:embed="rId2"/>
          <a:stretch>
            <a:fillRect/>
          </a:stretch>
        </p:blipFill>
        <p:spPr>
          <a:xfrm>
            <a:off x="381000" y="1215483"/>
            <a:ext cx="6940550" cy="2222500"/>
          </a:xfrm>
          <a:prstGeom prst="rect">
            <a:avLst/>
          </a:prstGeom>
        </p:spPr>
      </p:pic>
    </p:spTree>
    <p:extLst>
      <p:ext uri="{BB962C8B-B14F-4D97-AF65-F5344CB8AC3E}">
        <p14:creationId xmlns:p14="http://schemas.microsoft.com/office/powerpoint/2010/main" val="3374697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420585" y="4506672"/>
            <a:ext cx="11430000" cy="1858503"/>
          </a:xfrm>
        </p:spPr>
        <p:txBody>
          <a:bodyPr/>
          <a:lstStyle/>
          <a:p>
            <a:r>
              <a:rPr lang="en-US" dirty="0"/>
              <a:t>Regression Trees were test with varying values for the hyperparameters of maximum depth and maximum leaf nodes</a:t>
            </a:r>
          </a:p>
          <a:p>
            <a:r>
              <a:rPr lang="en-US" dirty="0"/>
              <a:t>Best performing model combination was identified to be maximum depth = 5 and maximum leaf nodes = 3. </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 Regression Trees</a:t>
            </a:r>
          </a:p>
        </p:txBody>
      </p:sp>
      <p:pic>
        <p:nvPicPr>
          <p:cNvPr id="5" name="Picture 4" descr="A picture containing text, screenshot&#10;&#10;Description automatically generated">
            <a:extLst>
              <a:ext uri="{FF2B5EF4-FFF2-40B4-BE49-F238E27FC236}">
                <a16:creationId xmlns:a16="http://schemas.microsoft.com/office/drawing/2014/main" id="{7B986F98-4745-4E94-8631-081AD2C8B91B}"/>
              </a:ext>
            </a:extLst>
          </p:cNvPr>
          <p:cNvPicPr>
            <a:picLocks noChangeAspect="1"/>
          </p:cNvPicPr>
          <p:nvPr/>
        </p:nvPicPr>
        <p:blipFill>
          <a:blip r:embed="rId2"/>
          <a:stretch>
            <a:fillRect/>
          </a:stretch>
        </p:blipFill>
        <p:spPr>
          <a:xfrm>
            <a:off x="1877245" y="1132905"/>
            <a:ext cx="8437510" cy="2953129"/>
          </a:xfrm>
          <a:prstGeom prst="rect">
            <a:avLst/>
          </a:prstGeom>
        </p:spPr>
      </p:pic>
    </p:spTree>
    <p:extLst>
      <p:ext uri="{BB962C8B-B14F-4D97-AF65-F5344CB8AC3E}">
        <p14:creationId xmlns:p14="http://schemas.microsoft.com/office/powerpoint/2010/main" val="3622037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381000" y="1015649"/>
            <a:ext cx="11430000" cy="1309712"/>
          </a:xfrm>
        </p:spPr>
        <p:txBody>
          <a:bodyPr>
            <a:normAutofit/>
          </a:bodyPr>
          <a:lstStyle/>
          <a:p>
            <a:pPr marL="0" indent="0">
              <a:buNone/>
            </a:pPr>
            <a:r>
              <a:rPr lang="en-US" sz="2400" dirty="0"/>
              <a:t>Since grid-searching for neural network hyper-parameters would be computationally infeasible, we trained and tested 5 models of varying architecture (increasing in size).</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 Neural Networks</a:t>
            </a:r>
          </a:p>
        </p:txBody>
      </p:sp>
      <p:pic>
        <p:nvPicPr>
          <p:cNvPr id="5" name="Picture 4" descr="Table&#10;&#10;Description automatically generated">
            <a:extLst>
              <a:ext uri="{FF2B5EF4-FFF2-40B4-BE49-F238E27FC236}">
                <a16:creationId xmlns:a16="http://schemas.microsoft.com/office/drawing/2014/main" id="{287E943A-3C59-4908-A76B-520E9679DAE6}"/>
              </a:ext>
            </a:extLst>
          </p:cNvPr>
          <p:cNvPicPr>
            <a:picLocks noChangeAspect="1"/>
          </p:cNvPicPr>
          <p:nvPr/>
        </p:nvPicPr>
        <p:blipFill>
          <a:blip r:embed="rId2"/>
          <a:stretch>
            <a:fillRect/>
          </a:stretch>
        </p:blipFill>
        <p:spPr>
          <a:xfrm>
            <a:off x="699509" y="4154161"/>
            <a:ext cx="2123464" cy="2278367"/>
          </a:xfrm>
          <a:prstGeom prst="rect">
            <a:avLst/>
          </a:prstGeom>
        </p:spPr>
      </p:pic>
      <p:pic>
        <p:nvPicPr>
          <p:cNvPr id="7" name="Picture 6" descr="Table&#10;&#10;Description automatically generated">
            <a:extLst>
              <a:ext uri="{FF2B5EF4-FFF2-40B4-BE49-F238E27FC236}">
                <a16:creationId xmlns:a16="http://schemas.microsoft.com/office/drawing/2014/main" id="{A91312A6-C9DF-4353-B124-AE6A08AFB4D9}"/>
              </a:ext>
            </a:extLst>
          </p:cNvPr>
          <p:cNvPicPr>
            <a:picLocks noChangeAspect="1"/>
          </p:cNvPicPr>
          <p:nvPr/>
        </p:nvPicPr>
        <p:blipFill>
          <a:blip r:embed="rId3"/>
          <a:stretch>
            <a:fillRect/>
          </a:stretch>
        </p:blipFill>
        <p:spPr>
          <a:xfrm>
            <a:off x="613166" y="2140479"/>
            <a:ext cx="2296149" cy="1807607"/>
          </a:xfrm>
          <a:prstGeom prst="rect">
            <a:avLst/>
          </a:prstGeom>
        </p:spPr>
      </p:pic>
      <p:pic>
        <p:nvPicPr>
          <p:cNvPr id="9" name="Picture 8" descr="Table, timeline&#10;&#10;Description automatically generated">
            <a:extLst>
              <a:ext uri="{FF2B5EF4-FFF2-40B4-BE49-F238E27FC236}">
                <a16:creationId xmlns:a16="http://schemas.microsoft.com/office/drawing/2014/main" id="{F59D8832-5D4F-4A83-8AA3-47C817EFA3A0}"/>
              </a:ext>
            </a:extLst>
          </p:cNvPr>
          <p:cNvPicPr>
            <a:picLocks noChangeAspect="1"/>
          </p:cNvPicPr>
          <p:nvPr/>
        </p:nvPicPr>
        <p:blipFill>
          <a:blip r:embed="rId4"/>
          <a:stretch>
            <a:fillRect/>
          </a:stretch>
        </p:blipFill>
        <p:spPr>
          <a:xfrm>
            <a:off x="3510555" y="2140479"/>
            <a:ext cx="2012960" cy="2667631"/>
          </a:xfrm>
          <a:prstGeom prst="rect">
            <a:avLst/>
          </a:prstGeom>
        </p:spPr>
      </p:pic>
      <p:pic>
        <p:nvPicPr>
          <p:cNvPr id="11" name="Picture 10" descr="Table&#10;&#10;Description automatically generated">
            <a:extLst>
              <a:ext uri="{FF2B5EF4-FFF2-40B4-BE49-F238E27FC236}">
                <a16:creationId xmlns:a16="http://schemas.microsoft.com/office/drawing/2014/main" id="{741F64F4-7002-4701-B914-C3A1E717A0CA}"/>
              </a:ext>
            </a:extLst>
          </p:cNvPr>
          <p:cNvPicPr>
            <a:picLocks noChangeAspect="1"/>
          </p:cNvPicPr>
          <p:nvPr/>
        </p:nvPicPr>
        <p:blipFill>
          <a:blip r:embed="rId5"/>
          <a:stretch>
            <a:fillRect/>
          </a:stretch>
        </p:blipFill>
        <p:spPr>
          <a:xfrm>
            <a:off x="6124755" y="2030410"/>
            <a:ext cx="2139844" cy="3330091"/>
          </a:xfrm>
          <a:prstGeom prst="rect">
            <a:avLst/>
          </a:prstGeom>
        </p:spPr>
      </p:pic>
      <p:pic>
        <p:nvPicPr>
          <p:cNvPr id="13" name="Picture 12" descr="Table&#10;&#10;Description automatically generated">
            <a:extLst>
              <a:ext uri="{FF2B5EF4-FFF2-40B4-BE49-F238E27FC236}">
                <a16:creationId xmlns:a16="http://schemas.microsoft.com/office/drawing/2014/main" id="{87018C3E-4D89-45E9-AA83-1F5837D4A1F1}"/>
              </a:ext>
            </a:extLst>
          </p:cNvPr>
          <p:cNvPicPr>
            <a:picLocks noChangeAspect="1"/>
          </p:cNvPicPr>
          <p:nvPr/>
        </p:nvPicPr>
        <p:blipFill>
          <a:blip r:embed="rId6"/>
          <a:stretch>
            <a:fillRect/>
          </a:stretch>
        </p:blipFill>
        <p:spPr>
          <a:xfrm>
            <a:off x="8909010" y="2030410"/>
            <a:ext cx="1763642" cy="3704184"/>
          </a:xfrm>
          <a:prstGeom prst="rect">
            <a:avLst/>
          </a:prstGeom>
        </p:spPr>
      </p:pic>
    </p:spTree>
    <p:extLst>
      <p:ext uri="{BB962C8B-B14F-4D97-AF65-F5344CB8AC3E}">
        <p14:creationId xmlns:p14="http://schemas.microsoft.com/office/powerpoint/2010/main" val="3065671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a:xfrm>
            <a:off x="211442" y="4945753"/>
            <a:ext cx="6770698" cy="1309712"/>
          </a:xfrm>
        </p:spPr>
        <p:txBody>
          <a:bodyPr/>
          <a:lstStyle/>
          <a:p>
            <a:r>
              <a:rPr lang="en-US" dirty="0"/>
              <a:t>Identified Model 2 as our optimal model using 3 intermediate dense layers with sizes [128, 64, 32] and </a:t>
            </a:r>
            <a:r>
              <a:rPr lang="en-US" dirty="0" err="1"/>
              <a:t>relu</a:t>
            </a:r>
            <a:r>
              <a:rPr lang="en-US" dirty="0"/>
              <a:t> activation</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 Neural Networks</a:t>
            </a:r>
          </a:p>
        </p:txBody>
      </p:sp>
      <p:pic>
        <p:nvPicPr>
          <p:cNvPr id="5" name="Picture 4" descr="A picture containing text&#10;&#10;Description automatically generated">
            <a:extLst>
              <a:ext uri="{FF2B5EF4-FFF2-40B4-BE49-F238E27FC236}">
                <a16:creationId xmlns:a16="http://schemas.microsoft.com/office/drawing/2014/main" id="{15E776A4-C88B-4530-A1EB-78A043C6EFAC}"/>
              </a:ext>
            </a:extLst>
          </p:cNvPr>
          <p:cNvPicPr>
            <a:picLocks noChangeAspect="1"/>
          </p:cNvPicPr>
          <p:nvPr/>
        </p:nvPicPr>
        <p:blipFill>
          <a:blip r:embed="rId2"/>
          <a:stretch>
            <a:fillRect/>
          </a:stretch>
        </p:blipFill>
        <p:spPr>
          <a:xfrm>
            <a:off x="-106299" y="1402028"/>
            <a:ext cx="7406179" cy="2592163"/>
          </a:xfrm>
          <a:prstGeom prst="rect">
            <a:avLst/>
          </a:prstGeom>
        </p:spPr>
      </p:pic>
      <p:pic>
        <p:nvPicPr>
          <p:cNvPr id="7" name="Picture 6" descr="Table, timeline&#10;&#10;Description automatically generated">
            <a:extLst>
              <a:ext uri="{FF2B5EF4-FFF2-40B4-BE49-F238E27FC236}">
                <a16:creationId xmlns:a16="http://schemas.microsoft.com/office/drawing/2014/main" id="{4A20254A-3F82-4F8B-B215-A52928BC0413}"/>
              </a:ext>
            </a:extLst>
          </p:cNvPr>
          <p:cNvPicPr>
            <a:picLocks noChangeAspect="1"/>
          </p:cNvPicPr>
          <p:nvPr/>
        </p:nvPicPr>
        <p:blipFill>
          <a:blip r:embed="rId3"/>
          <a:stretch>
            <a:fillRect/>
          </a:stretch>
        </p:blipFill>
        <p:spPr>
          <a:xfrm>
            <a:off x="8108014" y="1215483"/>
            <a:ext cx="3133725" cy="4152900"/>
          </a:xfrm>
          <a:prstGeom prst="rect">
            <a:avLst/>
          </a:prstGeom>
        </p:spPr>
      </p:pic>
    </p:spTree>
    <p:extLst>
      <p:ext uri="{BB962C8B-B14F-4D97-AF65-F5344CB8AC3E}">
        <p14:creationId xmlns:p14="http://schemas.microsoft.com/office/powerpoint/2010/main" val="3059892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Medal Score Prediction : Results</a:t>
            </a:r>
          </a:p>
        </p:txBody>
      </p:sp>
      <p:sp>
        <p:nvSpPr>
          <p:cNvPr id="4" name="TextBox 3">
            <a:extLst>
              <a:ext uri="{FF2B5EF4-FFF2-40B4-BE49-F238E27FC236}">
                <a16:creationId xmlns:a16="http://schemas.microsoft.com/office/drawing/2014/main" id="{4FD27A6D-A77C-4813-95F0-6AB2340982D5}"/>
              </a:ext>
            </a:extLst>
          </p:cNvPr>
          <p:cNvSpPr txBox="1"/>
          <p:nvPr/>
        </p:nvSpPr>
        <p:spPr>
          <a:xfrm>
            <a:off x="8100812" y="1506694"/>
            <a:ext cx="3631842" cy="4247317"/>
          </a:xfrm>
          <a:prstGeom prst="rect">
            <a:avLst/>
          </a:prstGeom>
          <a:noFill/>
        </p:spPr>
        <p:txBody>
          <a:bodyPr wrap="square" rtlCol="0">
            <a:spAutoFit/>
          </a:bodyPr>
          <a:lstStyle/>
          <a:p>
            <a:pPr marL="285750" indent="-285750">
              <a:buFont typeface="Arial" panose="020B0604020202020204" pitchFamily="34" charset="0"/>
              <a:buChar char="•"/>
            </a:pPr>
            <a:r>
              <a:rPr lang="en-US" dirty="0"/>
              <a:t>After identifying each models most suitable hyper-parameters, we re-trained each model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then compared each of their performances on the completely held out test set and scored their errors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all cases we see Neural Networks perform the best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However, all models are generally similar</a:t>
            </a:r>
          </a:p>
        </p:txBody>
      </p:sp>
      <p:pic>
        <p:nvPicPr>
          <p:cNvPr id="6" name="Picture 5">
            <a:extLst>
              <a:ext uri="{FF2B5EF4-FFF2-40B4-BE49-F238E27FC236}">
                <a16:creationId xmlns:a16="http://schemas.microsoft.com/office/drawing/2014/main" id="{2FC7364E-B9A0-47D8-AA75-AFAE8AB3B47D}"/>
              </a:ext>
            </a:extLst>
          </p:cNvPr>
          <p:cNvPicPr>
            <a:picLocks noChangeAspect="1"/>
          </p:cNvPicPr>
          <p:nvPr/>
        </p:nvPicPr>
        <p:blipFill>
          <a:blip r:embed="rId2"/>
          <a:stretch>
            <a:fillRect/>
          </a:stretch>
        </p:blipFill>
        <p:spPr>
          <a:xfrm>
            <a:off x="586526" y="1476644"/>
            <a:ext cx="7086600" cy="4248150"/>
          </a:xfrm>
          <a:prstGeom prst="rect">
            <a:avLst/>
          </a:prstGeom>
        </p:spPr>
      </p:pic>
    </p:spTree>
    <p:extLst>
      <p:ext uri="{BB962C8B-B14F-4D97-AF65-F5344CB8AC3E}">
        <p14:creationId xmlns:p14="http://schemas.microsoft.com/office/powerpoint/2010/main" val="2739612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chart&#10;&#10;Description automatically generated">
            <a:extLst>
              <a:ext uri="{FF2B5EF4-FFF2-40B4-BE49-F238E27FC236}">
                <a16:creationId xmlns:a16="http://schemas.microsoft.com/office/drawing/2014/main" id="{A1D3E9EF-6642-448D-AAB5-EF73A444ACAF}"/>
              </a:ext>
            </a:extLst>
          </p:cNvPr>
          <p:cNvPicPr>
            <a:picLocks noGrp="1" noChangeAspect="1"/>
          </p:cNvPicPr>
          <p:nvPr>
            <p:ph idx="1"/>
          </p:nvPr>
        </p:nvPicPr>
        <p:blipFill>
          <a:blip r:embed="rId2"/>
          <a:stretch>
            <a:fillRect/>
          </a:stretch>
        </p:blipFill>
        <p:spPr>
          <a:xfrm>
            <a:off x="170252" y="1215483"/>
            <a:ext cx="6037737" cy="3522012"/>
          </a:xfrm>
        </p:spPr>
      </p:pic>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Modeling Conclusions</a:t>
            </a:r>
          </a:p>
        </p:txBody>
      </p:sp>
      <p:sp>
        <p:nvSpPr>
          <p:cNvPr id="4" name="TextBox 3">
            <a:extLst>
              <a:ext uri="{FF2B5EF4-FFF2-40B4-BE49-F238E27FC236}">
                <a16:creationId xmlns:a16="http://schemas.microsoft.com/office/drawing/2014/main" id="{B2088288-9782-4548-B2F0-02CE848D141D}"/>
              </a:ext>
            </a:extLst>
          </p:cNvPr>
          <p:cNvSpPr txBox="1"/>
          <p:nvPr/>
        </p:nvSpPr>
        <p:spPr>
          <a:xfrm>
            <a:off x="6516710" y="1326390"/>
            <a:ext cx="5294289" cy="4247317"/>
          </a:xfrm>
          <a:prstGeom prst="rect">
            <a:avLst/>
          </a:prstGeom>
          <a:noFill/>
        </p:spPr>
        <p:txBody>
          <a:bodyPr wrap="square" rtlCol="0">
            <a:spAutoFit/>
          </a:bodyPr>
          <a:lstStyle/>
          <a:p>
            <a:pPr marL="285750" indent="-285750">
              <a:buFont typeface="Arial" panose="020B0604020202020204" pitchFamily="34" charset="0"/>
              <a:buChar char="•"/>
            </a:pPr>
            <a:r>
              <a:rPr lang="en-US" dirty="0"/>
              <a:t>Despite Neural Networks having the best overall test scores, we selected Ridge Regression as our best model due to higher interpretability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Similar to Ridge, both lasso and linear regression can be directly interpreted at the feature level though evaluation of their coefficients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added benefit of regression-based approaches allowed us to generalize the coefficient magnitudes into weights within our pipeline strength index</a:t>
            </a:r>
          </a:p>
          <a:p>
            <a:endParaRPr lang="en-US" dirty="0"/>
          </a:p>
        </p:txBody>
      </p:sp>
      <p:sp>
        <p:nvSpPr>
          <p:cNvPr id="2" name="TextBox 1">
            <a:extLst>
              <a:ext uri="{FF2B5EF4-FFF2-40B4-BE49-F238E27FC236}">
                <a16:creationId xmlns:a16="http://schemas.microsoft.com/office/drawing/2014/main" id="{EFE9B08B-AC0C-4B5C-83C3-4140258B664A}"/>
              </a:ext>
            </a:extLst>
          </p:cNvPr>
          <p:cNvSpPr txBox="1"/>
          <p:nvPr/>
        </p:nvSpPr>
        <p:spPr>
          <a:xfrm>
            <a:off x="381000" y="4835043"/>
            <a:ext cx="6121758" cy="1477328"/>
          </a:xfrm>
          <a:prstGeom prst="rect">
            <a:avLst/>
          </a:prstGeom>
          <a:noFill/>
        </p:spPr>
        <p:txBody>
          <a:bodyPr wrap="square" rtlCol="0">
            <a:spAutoFit/>
          </a:bodyPr>
          <a:lstStyle/>
          <a:p>
            <a:r>
              <a:rPr lang="en-US" dirty="0"/>
              <a:t>By plotting the regression coefficients, we can see that all models discounted pre-peak aged athletes while putting the most weight on the peak athlete feature. </a:t>
            </a:r>
          </a:p>
          <a:p>
            <a:endParaRPr lang="en-US" dirty="0"/>
          </a:p>
          <a:p>
            <a:r>
              <a:rPr lang="en-US" dirty="0"/>
              <a:t>This matches with our expectations</a:t>
            </a:r>
          </a:p>
        </p:txBody>
      </p:sp>
    </p:spTree>
    <p:extLst>
      <p:ext uri="{BB962C8B-B14F-4D97-AF65-F5344CB8AC3E}">
        <p14:creationId xmlns:p14="http://schemas.microsoft.com/office/powerpoint/2010/main" val="3611297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4057-4B70-4EAB-8AEC-01A8627F4B5E}"/>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E483E4C2-D160-4F11-BF27-2824276BA148}"/>
              </a:ext>
            </a:extLst>
          </p:cNvPr>
          <p:cNvSpPr>
            <a:spLocks noGrp="1"/>
          </p:cNvSpPr>
          <p:nvPr>
            <p:ph sz="half" idx="1"/>
          </p:nvPr>
        </p:nvSpPr>
        <p:spPr>
          <a:xfrm>
            <a:off x="379048" y="1215482"/>
            <a:ext cx="11286479" cy="4504465"/>
          </a:xfrm>
        </p:spPr>
        <p:txBody>
          <a:bodyPr>
            <a:normAutofit lnSpcReduction="10000"/>
          </a:bodyPr>
          <a:lstStyle/>
          <a:p>
            <a:r>
              <a:rPr lang="en-US" dirty="0"/>
              <a:t>At the individual level, each alpine sport and gender pair demonstrate reasonably strong relations between age and peak athletic achievement</a:t>
            </a:r>
          </a:p>
          <a:p>
            <a:r>
              <a:rPr lang="en-US" dirty="0"/>
              <a:t>At the event level, each alpine sport and gender pair demonstrate very strong relations between age and peak athletic achievement</a:t>
            </a:r>
          </a:p>
          <a:p>
            <a:r>
              <a:rPr lang="en-US" dirty="0"/>
              <a:t>Utilizing peak age as a feature we can model and predict Olympic medal scores to some degree</a:t>
            </a:r>
          </a:p>
          <a:p>
            <a:r>
              <a:rPr lang="en-US" dirty="0"/>
              <a:t>Peak age was able to explain ~1/3 of all variance in Olympic medals scores</a:t>
            </a:r>
          </a:p>
          <a:p>
            <a:r>
              <a:rPr lang="en-US" dirty="0"/>
              <a:t>Many alternative avenues still remain in explaining the other 2/3 variation</a:t>
            </a:r>
          </a:p>
        </p:txBody>
      </p:sp>
    </p:spTree>
    <p:extLst>
      <p:ext uri="{BB962C8B-B14F-4D97-AF65-F5344CB8AC3E}">
        <p14:creationId xmlns:p14="http://schemas.microsoft.com/office/powerpoint/2010/main" val="704122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555C0-18D9-4887-953D-5EA5DBA3FB4F}"/>
              </a:ext>
            </a:extLst>
          </p:cNvPr>
          <p:cNvSpPr>
            <a:spLocks noGrp="1"/>
          </p:cNvSpPr>
          <p:nvPr>
            <p:ph idx="1"/>
          </p:nvPr>
        </p:nvSpPr>
        <p:spPr/>
        <p:txBody>
          <a:bodyPr/>
          <a:lstStyle/>
          <a:p>
            <a:pPr marL="0" indent="0">
              <a:buNone/>
            </a:pPr>
            <a:r>
              <a:rPr lang="en-US" dirty="0"/>
              <a:t>In the preparation of our analysis and modeling results, we also created some additional tools that may be useful for the USOPC going forward.</a:t>
            </a:r>
          </a:p>
          <a:p>
            <a:pPr marL="0" indent="0">
              <a:buNone/>
            </a:pPr>
            <a:endParaRPr lang="en-US" dirty="0"/>
          </a:p>
          <a:p>
            <a:r>
              <a:rPr lang="en-US" dirty="0"/>
              <a:t>Athlete Data Scraper: a tool that allows users to augment and reconcile their data with the FIS’s database. Could be applied to other use cases.</a:t>
            </a:r>
          </a:p>
          <a:p>
            <a:r>
              <a:rPr lang="en-US" dirty="0"/>
              <a:t>Alps: a web application that provides interactive visualizations and increased analysis capabilities of alpine skiing data. </a:t>
            </a:r>
          </a:p>
        </p:txBody>
      </p:sp>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Beyond Modeling</a:t>
            </a:r>
          </a:p>
        </p:txBody>
      </p:sp>
    </p:spTree>
    <p:extLst>
      <p:ext uri="{BB962C8B-B14F-4D97-AF65-F5344CB8AC3E}">
        <p14:creationId xmlns:p14="http://schemas.microsoft.com/office/powerpoint/2010/main" val="2081839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Data Scraper</a:t>
            </a:r>
          </a:p>
        </p:txBody>
      </p:sp>
      <p:pic>
        <p:nvPicPr>
          <p:cNvPr id="10" name="Picture 9" descr="Graphical user interface, application, Teams&#10;&#10;Description automatically generated">
            <a:extLst>
              <a:ext uri="{FF2B5EF4-FFF2-40B4-BE49-F238E27FC236}">
                <a16:creationId xmlns:a16="http://schemas.microsoft.com/office/drawing/2014/main" id="{42C9799B-777C-4F96-953D-2F3A65C7A577}"/>
              </a:ext>
            </a:extLst>
          </p:cNvPr>
          <p:cNvPicPr>
            <a:picLocks noChangeAspect="1"/>
          </p:cNvPicPr>
          <p:nvPr/>
        </p:nvPicPr>
        <p:blipFill>
          <a:blip r:embed="rId2"/>
          <a:stretch>
            <a:fillRect/>
          </a:stretch>
        </p:blipFill>
        <p:spPr>
          <a:xfrm>
            <a:off x="1586574" y="1271868"/>
            <a:ext cx="8653413" cy="5295461"/>
          </a:xfrm>
          <a:prstGeom prst="rect">
            <a:avLst/>
          </a:prstGeom>
        </p:spPr>
      </p:pic>
    </p:spTree>
    <p:extLst>
      <p:ext uri="{BB962C8B-B14F-4D97-AF65-F5344CB8AC3E}">
        <p14:creationId xmlns:p14="http://schemas.microsoft.com/office/powerpoint/2010/main" val="1998254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87FB8-1714-4697-BB7C-36C593C339A1}"/>
              </a:ext>
            </a:extLst>
          </p:cNvPr>
          <p:cNvSpPr>
            <a:spLocks noGrp="1"/>
          </p:cNvSpPr>
          <p:nvPr>
            <p:ph type="title"/>
          </p:nvPr>
        </p:nvSpPr>
        <p:spPr/>
        <p:txBody>
          <a:bodyPr/>
          <a:lstStyle/>
          <a:p>
            <a:r>
              <a:rPr lang="en-US" dirty="0"/>
              <a:t>Alps: Web Application</a:t>
            </a:r>
          </a:p>
        </p:txBody>
      </p:sp>
      <p:sp>
        <p:nvSpPr>
          <p:cNvPr id="7" name="Oval 6">
            <a:extLst>
              <a:ext uri="{FF2B5EF4-FFF2-40B4-BE49-F238E27FC236}">
                <a16:creationId xmlns:a16="http://schemas.microsoft.com/office/drawing/2014/main" id="{691C2701-6CBB-4BA4-9340-57CBE7E1BBC4}"/>
              </a:ext>
            </a:extLst>
          </p:cNvPr>
          <p:cNvSpPr/>
          <p:nvPr/>
        </p:nvSpPr>
        <p:spPr>
          <a:xfrm>
            <a:off x="4862422" y="933687"/>
            <a:ext cx="2467155" cy="10147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Alps</a:t>
            </a:r>
          </a:p>
        </p:txBody>
      </p:sp>
      <p:sp>
        <p:nvSpPr>
          <p:cNvPr id="8" name="Oval 7">
            <a:extLst>
              <a:ext uri="{FF2B5EF4-FFF2-40B4-BE49-F238E27FC236}">
                <a16:creationId xmlns:a16="http://schemas.microsoft.com/office/drawing/2014/main" id="{EC31334F-99FC-4433-9EA3-2BBBFB9922F5}"/>
              </a:ext>
            </a:extLst>
          </p:cNvPr>
          <p:cNvSpPr/>
          <p:nvPr/>
        </p:nvSpPr>
        <p:spPr>
          <a:xfrm>
            <a:off x="2186796" y="2604859"/>
            <a:ext cx="2261559" cy="10147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Individual Dashboard</a:t>
            </a:r>
          </a:p>
        </p:txBody>
      </p:sp>
      <p:sp>
        <p:nvSpPr>
          <p:cNvPr id="12" name="Oval 11">
            <a:extLst>
              <a:ext uri="{FF2B5EF4-FFF2-40B4-BE49-F238E27FC236}">
                <a16:creationId xmlns:a16="http://schemas.microsoft.com/office/drawing/2014/main" id="{7AC83A56-5DE7-4E22-B4EF-BF54FFD82F2E}"/>
              </a:ext>
            </a:extLst>
          </p:cNvPr>
          <p:cNvSpPr/>
          <p:nvPr/>
        </p:nvSpPr>
        <p:spPr>
          <a:xfrm>
            <a:off x="2186795" y="3782963"/>
            <a:ext cx="2261559" cy="10147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Country Dashboard</a:t>
            </a:r>
          </a:p>
        </p:txBody>
      </p:sp>
      <p:sp>
        <p:nvSpPr>
          <p:cNvPr id="13" name="Oval 12">
            <a:extLst>
              <a:ext uri="{FF2B5EF4-FFF2-40B4-BE49-F238E27FC236}">
                <a16:creationId xmlns:a16="http://schemas.microsoft.com/office/drawing/2014/main" id="{4A32CC98-78EF-46E1-8E25-AE8FAB69ED7E}"/>
              </a:ext>
            </a:extLst>
          </p:cNvPr>
          <p:cNvSpPr/>
          <p:nvPr/>
        </p:nvSpPr>
        <p:spPr>
          <a:xfrm>
            <a:off x="2186794" y="4887144"/>
            <a:ext cx="2261559" cy="10147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Event Dashboard</a:t>
            </a:r>
          </a:p>
        </p:txBody>
      </p:sp>
      <p:sp>
        <p:nvSpPr>
          <p:cNvPr id="14" name="Oval 13">
            <a:extLst>
              <a:ext uri="{FF2B5EF4-FFF2-40B4-BE49-F238E27FC236}">
                <a16:creationId xmlns:a16="http://schemas.microsoft.com/office/drawing/2014/main" id="{F0592FB1-D964-4D84-973F-9F19A6E53512}"/>
              </a:ext>
            </a:extLst>
          </p:cNvPr>
          <p:cNvSpPr/>
          <p:nvPr/>
        </p:nvSpPr>
        <p:spPr>
          <a:xfrm>
            <a:off x="8177843" y="2473885"/>
            <a:ext cx="2261559" cy="10147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Methodology Overview</a:t>
            </a:r>
          </a:p>
        </p:txBody>
      </p:sp>
      <p:sp>
        <p:nvSpPr>
          <p:cNvPr id="15" name="Oval 14">
            <a:extLst>
              <a:ext uri="{FF2B5EF4-FFF2-40B4-BE49-F238E27FC236}">
                <a16:creationId xmlns:a16="http://schemas.microsoft.com/office/drawing/2014/main" id="{0C08AAF4-3969-4206-A47B-FB8A7CD74B4A}"/>
              </a:ext>
            </a:extLst>
          </p:cNvPr>
          <p:cNvSpPr/>
          <p:nvPr/>
        </p:nvSpPr>
        <p:spPr>
          <a:xfrm>
            <a:off x="8231040" y="3651990"/>
            <a:ext cx="2261559" cy="10147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Uploads</a:t>
            </a:r>
          </a:p>
        </p:txBody>
      </p:sp>
      <p:sp>
        <p:nvSpPr>
          <p:cNvPr id="16" name="Rectangle 15">
            <a:extLst>
              <a:ext uri="{FF2B5EF4-FFF2-40B4-BE49-F238E27FC236}">
                <a16:creationId xmlns:a16="http://schemas.microsoft.com/office/drawing/2014/main" id="{977B5A01-67A9-45DD-893E-116700A1E775}"/>
              </a:ext>
            </a:extLst>
          </p:cNvPr>
          <p:cNvSpPr/>
          <p:nvPr/>
        </p:nvSpPr>
        <p:spPr>
          <a:xfrm>
            <a:off x="1825924" y="2133600"/>
            <a:ext cx="3036498" cy="4106174"/>
          </a:xfrm>
          <a:prstGeom prst="rect">
            <a:avLst/>
          </a:prstGeom>
          <a:solidFill>
            <a:srgbClr val="768792">
              <a:alpha val="1411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E67AB51-5D89-4776-81E8-0C99D5073F6C}"/>
              </a:ext>
            </a:extLst>
          </p:cNvPr>
          <p:cNvSpPr/>
          <p:nvPr/>
        </p:nvSpPr>
        <p:spPr>
          <a:xfrm>
            <a:off x="7928395" y="2133600"/>
            <a:ext cx="2760453" cy="2829465"/>
          </a:xfrm>
          <a:prstGeom prst="rect">
            <a:avLst/>
          </a:prstGeom>
          <a:solidFill>
            <a:schemeClr val="accent4">
              <a:lumMod val="60000"/>
              <a:lumOff val="40000"/>
              <a:alpha val="14118"/>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487DC4E-B3F5-450D-BB3C-6279DA27E43B}"/>
              </a:ext>
            </a:extLst>
          </p:cNvPr>
          <p:cNvCxnSpPr>
            <a:cxnSpLocks/>
            <a:stCxn id="7" idx="2"/>
            <a:endCxn id="16" idx="0"/>
          </p:cNvCxnSpPr>
          <p:nvPr/>
        </p:nvCxnSpPr>
        <p:spPr>
          <a:xfrm flipH="1">
            <a:off x="3344173" y="1441068"/>
            <a:ext cx="1518249" cy="692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9231FC6-E11E-4E4E-8579-782A4F50EA72}"/>
              </a:ext>
            </a:extLst>
          </p:cNvPr>
          <p:cNvCxnSpPr>
            <a:stCxn id="7" idx="6"/>
            <a:endCxn id="17" idx="0"/>
          </p:cNvCxnSpPr>
          <p:nvPr/>
        </p:nvCxnSpPr>
        <p:spPr>
          <a:xfrm>
            <a:off x="7329577" y="1441068"/>
            <a:ext cx="1979045" cy="692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6AD7891-F464-4BD8-95BB-4F4DED0CF454}"/>
              </a:ext>
            </a:extLst>
          </p:cNvPr>
          <p:cNvSpPr txBox="1"/>
          <p:nvPr/>
        </p:nvSpPr>
        <p:spPr>
          <a:xfrm>
            <a:off x="1745410" y="1815231"/>
            <a:ext cx="2467155" cy="369332"/>
          </a:xfrm>
          <a:prstGeom prst="rect">
            <a:avLst/>
          </a:prstGeom>
          <a:noFill/>
        </p:spPr>
        <p:txBody>
          <a:bodyPr wrap="square" rtlCol="0">
            <a:spAutoFit/>
          </a:bodyPr>
          <a:lstStyle/>
          <a:p>
            <a:r>
              <a:rPr lang="en-US" dirty="0"/>
              <a:t>Dashboards</a:t>
            </a:r>
          </a:p>
        </p:txBody>
      </p:sp>
      <p:sp>
        <p:nvSpPr>
          <p:cNvPr id="29" name="TextBox 28">
            <a:extLst>
              <a:ext uri="{FF2B5EF4-FFF2-40B4-BE49-F238E27FC236}">
                <a16:creationId xmlns:a16="http://schemas.microsoft.com/office/drawing/2014/main" id="{62F1D2A9-1D65-4427-AF7F-945B8B1F9E1C}"/>
              </a:ext>
            </a:extLst>
          </p:cNvPr>
          <p:cNvSpPr txBox="1"/>
          <p:nvPr/>
        </p:nvSpPr>
        <p:spPr>
          <a:xfrm>
            <a:off x="9851365" y="1804931"/>
            <a:ext cx="1115684" cy="369332"/>
          </a:xfrm>
          <a:prstGeom prst="rect">
            <a:avLst/>
          </a:prstGeom>
          <a:noFill/>
        </p:spPr>
        <p:txBody>
          <a:bodyPr wrap="square" rtlCol="0">
            <a:spAutoFit/>
          </a:bodyPr>
          <a:lstStyle/>
          <a:p>
            <a:r>
              <a:rPr lang="en-US" dirty="0"/>
              <a:t>Utilities</a:t>
            </a:r>
          </a:p>
        </p:txBody>
      </p:sp>
    </p:spTree>
    <p:extLst>
      <p:ext uri="{BB962C8B-B14F-4D97-AF65-F5344CB8AC3E}">
        <p14:creationId xmlns:p14="http://schemas.microsoft.com/office/powerpoint/2010/main" val="25544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DAEA5-6545-964C-9D5B-E32F4428480C}"/>
              </a:ext>
            </a:extLst>
          </p:cNvPr>
          <p:cNvSpPr>
            <a:spLocks noGrp="1"/>
          </p:cNvSpPr>
          <p:nvPr>
            <p:ph type="title"/>
          </p:nvPr>
        </p:nvSpPr>
        <p:spPr/>
        <p:txBody>
          <a:bodyPr>
            <a:normAutofit/>
          </a:bodyPr>
          <a:lstStyle/>
          <a:p>
            <a:r>
              <a:rPr lang="en-US" dirty="0"/>
              <a:t>Acknowledgements &amp; References Cited</a:t>
            </a:r>
            <a:endParaRPr lang="en-US" b="1" dirty="0">
              <a:latin typeface="Roboto" panose="02000000000000000000" pitchFamily="2" charset="0"/>
              <a:ea typeface="Roboto" panose="02000000000000000000" pitchFamily="2" charset="0"/>
            </a:endParaRPr>
          </a:p>
        </p:txBody>
      </p:sp>
      <p:sp>
        <p:nvSpPr>
          <p:cNvPr id="6" name="Content Placeholder 5">
            <a:extLst>
              <a:ext uri="{FF2B5EF4-FFF2-40B4-BE49-F238E27FC236}">
                <a16:creationId xmlns:a16="http://schemas.microsoft.com/office/drawing/2014/main" id="{64921231-F76F-9C4D-85F8-96525AB6710F}"/>
              </a:ext>
            </a:extLst>
          </p:cNvPr>
          <p:cNvSpPr>
            <a:spLocks noGrp="1"/>
          </p:cNvSpPr>
          <p:nvPr>
            <p:ph sz="half" idx="1"/>
          </p:nvPr>
        </p:nvSpPr>
        <p:spPr>
          <a:xfrm>
            <a:off x="195017" y="1215483"/>
            <a:ext cx="5615353" cy="5438639"/>
          </a:xfrm>
        </p:spPr>
        <p:txBody>
          <a:bodyPr>
            <a:noAutofit/>
          </a:bodyPr>
          <a:lstStyle/>
          <a:p>
            <a:pPr marL="0" indent="0">
              <a:buNone/>
            </a:pPr>
            <a:r>
              <a:rPr lang="en-US" sz="1050" dirty="0">
                <a:effectLst/>
                <a:latin typeface="+mn-lt"/>
              </a:rPr>
              <a:t>[1] Rhiannon L. Cowan, Bradley </a:t>
            </a:r>
            <a:r>
              <a:rPr lang="en-US" sz="1050" dirty="0" err="1">
                <a:effectLst/>
                <a:latin typeface="+mn-lt"/>
              </a:rPr>
              <a:t>Fawver</a:t>
            </a:r>
            <a:r>
              <a:rPr lang="en-US" sz="1050" dirty="0">
                <a:effectLst/>
                <a:latin typeface="+mn-lt"/>
              </a:rPr>
              <a:t>, Keith R. Lohse, Troy Taylor, Paul R. Ford, and A. Mark Williams. Modeling talent development pathways in alpine ski racers. Psychology of Sport and Exercise, 55:101942, 2021.</a:t>
            </a:r>
          </a:p>
          <a:p>
            <a:pPr marL="0" indent="0">
              <a:buNone/>
            </a:pPr>
            <a:br>
              <a:rPr lang="en-US" sz="1050" dirty="0">
                <a:latin typeface="+mn-lt"/>
              </a:rPr>
            </a:br>
            <a:r>
              <a:rPr lang="en-US" sz="1050" dirty="0">
                <a:effectLst/>
                <a:latin typeface="+mn-lt"/>
              </a:rPr>
              <a:t>[2] Carl d. Boor. A Practical Guide to Splines. Springer Verlag, New York,</a:t>
            </a:r>
            <a:br>
              <a:rPr lang="en-US" sz="1050" dirty="0">
                <a:latin typeface="+mn-lt"/>
              </a:rPr>
            </a:br>
            <a:r>
              <a:rPr lang="en-US" sz="1050" dirty="0">
                <a:effectLst/>
                <a:latin typeface="+mn-lt"/>
              </a:rPr>
              <a:t>1978.</a:t>
            </a:r>
          </a:p>
          <a:p>
            <a:pPr marL="0" indent="0">
              <a:buNone/>
            </a:pPr>
            <a:br>
              <a:rPr lang="en-US" sz="1050" dirty="0">
                <a:latin typeface="+mn-lt"/>
              </a:rPr>
            </a:br>
            <a:r>
              <a:rPr lang="en-US" sz="1050" dirty="0">
                <a:effectLst/>
                <a:latin typeface="+mn-lt"/>
              </a:rPr>
              <a:t>[3] F ́ed ́</a:t>
            </a:r>
            <a:r>
              <a:rPr lang="en-US" sz="1050" dirty="0" err="1">
                <a:effectLst/>
                <a:latin typeface="+mn-lt"/>
              </a:rPr>
              <a:t>eration</a:t>
            </a:r>
            <a:r>
              <a:rPr lang="en-US" sz="1050" dirty="0">
                <a:effectLst/>
                <a:latin typeface="+mn-lt"/>
              </a:rPr>
              <a:t> </a:t>
            </a:r>
            <a:r>
              <a:rPr lang="en-US" sz="1050" dirty="0" err="1">
                <a:effectLst/>
                <a:latin typeface="+mn-lt"/>
              </a:rPr>
              <a:t>Internationale</a:t>
            </a:r>
            <a:r>
              <a:rPr lang="en-US" sz="1050" dirty="0">
                <a:effectLst/>
                <a:latin typeface="+mn-lt"/>
              </a:rPr>
              <a:t> de Ski. Athlete biographies database, February</a:t>
            </a:r>
            <a:br>
              <a:rPr lang="en-US" sz="1050" dirty="0">
                <a:latin typeface="+mn-lt"/>
              </a:rPr>
            </a:br>
            <a:r>
              <a:rPr lang="en-US" sz="1050" dirty="0">
                <a:effectLst/>
                <a:latin typeface="+mn-lt"/>
              </a:rPr>
              <a:t>2022.</a:t>
            </a:r>
          </a:p>
          <a:p>
            <a:pPr marL="0" indent="0">
              <a:buNone/>
            </a:pPr>
            <a:br>
              <a:rPr lang="en-US" sz="1050" dirty="0">
                <a:latin typeface="+mn-lt"/>
              </a:rPr>
            </a:br>
            <a:r>
              <a:rPr lang="en-US" sz="1050" dirty="0">
                <a:effectLst/>
                <a:latin typeface="+mn-lt"/>
              </a:rPr>
              <a:t>[4] Bora et. al Facebook, </a:t>
            </a:r>
            <a:r>
              <a:rPr lang="en-US" sz="1050" dirty="0" err="1">
                <a:effectLst/>
                <a:latin typeface="+mn-lt"/>
              </a:rPr>
              <a:t>Edizel</a:t>
            </a:r>
            <a:r>
              <a:rPr lang="en-US" sz="1050" dirty="0">
                <a:effectLst/>
                <a:latin typeface="+mn-lt"/>
              </a:rPr>
              <a:t>. Misspelling oblivious word embeddings,</a:t>
            </a:r>
            <a:br>
              <a:rPr lang="en-US" sz="1050" dirty="0">
                <a:latin typeface="+mn-lt"/>
              </a:rPr>
            </a:br>
            <a:r>
              <a:rPr lang="en-US" sz="1050" dirty="0">
                <a:effectLst/>
                <a:latin typeface="+mn-lt"/>
              </a:rPr>
              <a:t>2019.</a:t>
            </a:r>
          </a:p>
          <a:p>
            <a:pPr marL="0" indent="0">
              <a:buNone/>
            </a:pPr>
            <a:br>
              <a:rPr lang="en-US" sz="1050" dirty="0">
                <a:latin typeface="+mn-lt"/>
              </a:rPr>
            </a:br>
            <a:r>
              <a:rPr lang="en-US" sz="1050" dirty="0">
                <a:effectLst/>
                <a:latin typeface="+mn-lt"/>
              </a:rPr>
              <a:t>[5] Vivien </a:t>
            </a:r>
            <a:r>
              <a:rPr lang="en-US" sz="1050" dirty="0" err="1">
                <a:effectLst/>
                <a:latin typeface="+mn-lt"/>
              </a:rPr>
              <a:t>Goepp</a:t>
            </a:r>
            <a:r>
              <a:rPr lang="en-US" sz="1050" dirty="0">
                <a:effectLst/>
                <a:latin typeface="+mn-lt"/>
              </a:rPr>
              <a:t>, Olivier </a:t>
            </a:r>
            <a:r>
              <a:rPr lang="en-US" sz="1050" dirty="0" err="1">
                <a:effectLst/>
                <a:latin typeface="+mn-lt"/>
              </a:rPr>
              <a:t>Bouaziz</a:t>
            </a:r>
            <a:r>
              <a:rPr lang="en-US" sz="1050" dirty="0">
                <a:effectLst/>
                <a:latin typeface="+mn-lt"/>
              </a:rPr>
              <a:t>, and Gr ́</a:t>
            </a:r>
            <a:r>
              <a:rPr lang="en-US" sz="1050" dirty="0" err="1">
                <a:effectLst/>
                <a:latin typeface="+mn-lt"/>
              </a:rPr>
              <a:t>egory</a:t>
            </a:r>
            <a:r>
              <a:rPr lang="en-US" sz="1050" dirty="0">
                <a:effectLst/>
                <a:latin typeface="+mn-lt"/>
              </a:rPr>
              <a:t> </a:t>
            </a:r>
            <a:r>
              <a:rPr lang="en-US" sz="1050" dirty="0" err="1">
                <a:effectLst/>
                <a:latin typeface="+mn-lt"/>
              </a:rPr>
              <a:t>Nuel</a:t>
            </a:r>
            <a:r>
              <a:rPr lang="en-US" sz="1050" dirty="0">
                <a:effectLst/>
                <a:latin typeface="+mn-lt"/>
              </a:rPr>
              <a:t>. Spline regression with automatic knot selection, 2018.</a:t>
            </a:r>
          </a:p>
          <a:p>
            <a:pPr marL="0" indent="0">
              <a:buNone/>
            </a:pPr>
            <a:br>
              <a:rPr lang="en-US" sz="1050" dirty="0">
                <a:latin typeface="+mn-lt"/>
              </a:rPr>
            </a:br>
            <a:r>
              <a:rPr lang="en-US" sz="1050" dirty="0">
                <a:effectLst/>
                <a:latin typeface="+mn-lt"/>
              </a:rPr>
              <a:t>[6] </a:t>
            </a:r>
            <a:r>
              <a:rPr lang="en-US" sz="1050" dirty="0" err="1">
                <a:effectLst/>
                <a:latin typeface="+mn-lt"/>
              </a:rPr>
              <a:t>Bjørnar</a:t>
            </a:r>
            <a:r>
              <a:rPr lang="en-US" sz="1050" dirty="0">
                <a:effectLst/>
                <a:latin typeface="+mn-lt"/>
              </a:rPr>
              <a:t> </a:t>
            </a:r>
            <a:r>
              <a:rPr lang="en-US" sz="1050" dirty="0" err="1">
                <a:effectLst/>
                <a:latin typeface="+mn-lt"/>
              </a:rPr>
              <a:t>Haaland</a:t>
            </a:r>
            <a:r>
              <a:rPr lang="en-US" sz="1050" dirty="0">
                <a:effectLst/>
                <a:latin typeface="+mn-lt"/>
              </a:rPr>
              <a:t>, Sophie </a:t>
            </a:r>
            <a:r>
              <a:rPr lang="en-US" sz="1050" dirty="0" err="1">
                <a:effectLst/>
                <a:latin typeface="+mn-lt"/>
              </a:rPr>
              <a:t>Steenstrup</a:t>
            </a:r>
            <a:r>
              <a:rPr lang="en-US" sz="1050" dirty="0">
                <a:effectLst/>
                <a:latin typeface="+mn-lt"/>
              </a:rPr>
              <a:t>, Tone </a:t>
            </a:r>
            <a:r>
              <a:rPr lang="en-US" sz="1050" dirty="0" err="1">
                <a:effectLst/>
                <a:latin typeface="+mn-lt"/>
              </a:rPr>
              <a:t>Bere</a:t>
            </a:r>
            <a:r>
              <a:rPr lang="en-US" sz="1050" dirty="0">
                <a:effectLst/>
                <a:latin typeface="+mn-lt"/>
              </a:rPr>
              <a:t>, Roald Bahr, and Lars </a:t>
            </a:r>
            <a:r>
              <a:rPr lang="en-US" sz="1050" dirty="0" err="1">
                <a:effectLst/>
                <a:latin typeface="+mn-lt"/>
              </a:rPr>
              <a:t>Nordsletten</a:t>
            </a:r>
            <a:r>
              <a:rPr lang="en-US" sz="1050" dirty="0">
                <a:effectLst/>
                <a:latin typeface="+mn-lt"/>
              </a:rPr>
              <a:t>. Injury rate and injury patterns in </a:t>
            </a:r>
            <a:r>
              <a:rPr lang="en-US" sz="1050" dirty="0" err="1">
                <a:effectLst/>
                <a:latin typeface="+mn-lt"/>
              </a:rPr>
              <a:t>fis</a:t>
            </a:r>
            <a:r>
              <a:rPr lang="en-US" sz="1050" dirty="0">
                <a:effectLst/>
                <a:latin typeface="+mn-lt"/>
              </a:rPr>
              <a:t> world cup alpine skiing (2006-2015): Have the new ski regulations made an impact? British journal of sports medicine, 50, 11 2015.</a:t>
            </a:r>
          </a:p>
          <a:p>
            <a:pPr marL="0" indent="0">
              <a:buNone/>
            </a:pPr>
            <a:br>
              <a:rPr lang="en-US" sz="1050" dirty="0">
                <a:latin typeface="+mn-lt"/>
              </a:rPr>
            </a:br>
            <a:r>
              <a:rPr lang="en-US" sz="1050" dirty="0">
                <a:effectLst/>
                <a:latin typeface="+mn-lt"/>
              </a:rPr>
              <a:t>[7] V. I. Levenshtein. Binary Codes Capable of Correcting Deletions, Insertions and Reversals. Soviet Physics </a:t>
            </a:r>
            <a:r>
              <a:rPr lang="en-US" sz="1050" dirty="0" err="1">
                <a:effectLst/>
                <a:latin typeface="+mn-lt"/>
              </a:rPr>
              <a:t>Doklady</a:t>
            </a:r>
            <a:r>
              <a:rPr lang="en-US" sz="1050" dirty="0">
                <a:effectLst/>
                <a:latin typeface="+mn-lt"/>
              </a:rPr>
              <a:t>, 10:707, February 1966.</a:t>
            </a:r>
          </a:p>
          <a:p>
            <a:pPr marL="0" indent="0">
              <a:buNone/>
            </a:pPr>
            <a:r>
              <a:rPr lang="en-US" sz="1050" dirty="0">
                <a:effectLst/>
                <a:latin typeface="+mn-lt"/>
              </a:rPr>
              <a:t>[8] Domenico </a:t>
            </a:r>
            <a:r>
              <a:rPr lang="en-US" sz="1050" dirty="0" err="1">
                <a:effectLst/>
                <a:latin typeface="+mn-lt"/>
              </a:rPr>
              <a:t>Maisano</a:t>
            </a:r>
            <a:r>
              <a:rPr lang="en-US" sz="1050" dirty="0">
                <a:effectLst/>
                <a:latin typeface="+mn-lt"/>
              </a:rPr>
              <a:t>, Andrea </a:t>
            </a:r>
            <a:r>
              <a:rPr lang="en-US" sz="1050" dirty="0" err="1">
                <a:effectLst/>
                <a:latin typeface="+mn-lt"/>
              </a:rPr>
              <a:t>Botta</a:t>
            </a:r>
            <a:r>
              <a:rPr lang="en-US" sz="1050" dirty="0">
                <a:effectLst/>
                <a:latin typeface="+mn-lt"/>
              </a:rPr>
              <a:t>, and </a:t>
            </a:r>
            <a:r>
              <a:rPr lang="en-US" sz="1050" dirty="0" err="1">
                <a:effectLst/>
                <a:latin typeface="+mn-lt"/>
              </a:rPr>
              <a:t>Fiorenzo</a:t>
            </a:r>
            <a:r>
              <a:rPr lang="en-US" sz="1050" dirty="0">
                <a:effectLst/>
                <a:latin typeface="+mn-lt"/>
              </a:rPr>
              <a:t> </a:t>
            </a:r>
            <a:r>
              <a:rPr lang="en-US" sz="1050" dirty="0" err="1">
                <a:effectLst/>
                <a:latin typeface="+mn-lt"/>
              </a:rPr>
              <a:t>Franceschini</a:t>
            </a:r>
            <a:r>
              <a:rPr lang="en-US" sz="1050" dirty="0">
                <a:effectLst/>
                <a:latin typeface="+mn-lt"/>
              </a:rPr>
              <a:t>. On the rating system in alpine skiing racing: Criticism and new proposals. Proceedings of the Institution of Mechanical Engineers, Part P: Journal of Sports Engineering and Technology, 230(4):253–263, 2016.</a:t>
            </a:r>
          </a:p>
          <a:p>
            <a:pPr marL="0" indent="0">
              <a:buNone/>
            </a:pPr>
            <a:br>
              <a:rPr lang="en-US" sz="1200" dirty="0"/>
            </a:br>
            <a:endParaRPr lang="en-US" sz="1800" dirty="0">
              <a:solidFill>
                <a:srgbClr val="003057"/>
              </a:solidFill>
            </a:endParaRPr>
          </a:p>
        </p:txBody>
      </p:sp>
      <p:sp>
        <p:nvSpPr>
          <p:cNvPr id="2" name="Content Placeholder 1">
            <a:extLst>
              <a:ext uri="{FF2B5EF4-FFF2-40B4-BE49-F238E27FC236}">
                <a16:creationId xmlns:a16="http://schemas.microsoft.com/office/drawing/2014/main" id="{21566E27-A7EF-4D87-87C9-EDBCD8CDA892}"/>
              </a:ext>
            </a:extLst>
          </p:cNvPr>
          <p:cNvSpPr>
            <a:spLocks noGrp="1"/>
          </p:cNvSpPr>
          <p:nvPr>
            <p:ph sz="half" idx="2"/>
          </p:nvPr>
        </p:nvSpPr>
        <p:spPr>
          <a:xfrm>
            <a:off x="5996353" y="1008169"/>
            <a:ext cx="6111336" cy="4667732"/>
          </a:xfrm>
        </p:spPr>
        <p:txBody>
          <a:bodyPr>
            <a:noAutofit/>
          </a:bodyPr>
          <a:lstStyle/>
          <a:p>
            <a:pPr marL="0" indent="0">
              <a:buNone/>
            </a:pPr>
            <a:br>
              <a:rPr lang="en-US" sz="1050" dirty="0">
                <a:latin typeface="+mn-lt"/>
              </a:rPr>
            </a:br>
            <a:r>
              <a:rPr lang="en-US" sz="1050" dirty="0">
                <a:effectLst/>
                <a:latin typeface="+mn-lt"/>
              </a:rPr>
              <a:t>[9] </a:t>
            </a:r>
            <a:r>
              <a:rPr lang="en-US" sz="1050" dirty="0" err="1">
                <a:effectLst/>
                <a:latin typeface="+mn-lt"/>
              </a:rPr>
              <a:t>Fionn</a:t>
            </a:r>
            <a:r>
              <a:rPr lang="en-US" sz="1050" dirty="0">
                <a:effectLst/>
                <a:latin typeface="+mn-lt"/>
              </a:rPr>
              <a:t> Murtagh and Pedro Contreras. Algorithms for hierarchical clustering: an overview. WIREs Data Mining and Knowledge Discovery,2(1):86–97, 2012.</a:t>
            </a:r>
          </a:p>
          <a:p>
            <a:pPr marL="0" indent="0">
              <a:buNone/>
            </a:pPr>
            <a:br>
              <a:rPr lang="en-US" sz="1050" dirty="0">
                <a:latin typeface="+mn-lt"/>
              </a:rPr>
            </a:br>
            <a:r>
              <a:rPr lang="en-US" sz="1050" dirty="0">
                <a:effectLst/>
                <a:latin typeface="+mn-lt"/>
              </a:rPr>
              <a:t>[10] Vit </a:t>
            </a:r>
            <a:r>
              <a:rPr lang="en-US" sz="1050" dirty="0" err="1">
                <a:effectLst/>
                <a:latin typeface="+mn-lt"/>
              </a:rPr>
              <a:t>Niennattrakul</a:t>
            </a:r>
            <a:r>
              <a:rPr lang="en-US" sz="1050" dirty="0">
                <a:effectLst/>
                <a:latin typeface="+mn-lt"/>
              </a:rPr>
              <a:t> and </a:t>
            </a:r>
            <a:r>
              <a:rPr lang="en-US" sz="1050" dirty="0" err="1">
                <a:effectLst/>
                <a:latin typeface="+mn-lt"/>
              </a:rPr>
              <a:t>Chotirat</a:t>
            </a:r>
            <a:r>
              <a:rPr lang="en-US" sz="1050" dirty="0">
                <a:effectLst/>
                <a:latin typeface="+mn-lt"/>
              </a:rPr>
              <a:t> Ann </a:t>
            </a:r>
            <a:r>
              <a:rPr lang="en-US" sz="1050" dirty="0" err="1">
                <a:effectLst/>
                <a:latin typeface="+mn-lt"/>
              </a:rPr>
              <a:t>Ratanamahatana</a:t>
            </a:r>
            <a:r>
              <a:rPr lang="en-US" sz="1050" dirty="0">
                <a:effectLst/>
                <a:latin typeface="+mn-lt"/>
              </a:rPr>
              <a:t>. On clustering multimedia time series data using k-means and dynamic time warping. In 2007 International Conference on Multimedia and Ubiquitous Engineering (MUE’07), pages 733–738, 2007.</a:t>
            </a:r>
          </a:p>
          <a:p>
            <a:pPr marL="0" indent="0">
              <a:buNone/>
            </a:pPr>
            <a:r>
              <a:rPr lang="en-US" sz="1050" dirty="0">
                <a:effectLst/>
                <a:latin typeface="+mn-lt"/>
              </a:rPr>
              <a:t>[11] K.P. Pfeiffer. Stepwise variable selection and maximum likelihood estimation of smoothing factors of kernel functions for nonparametric discriminant functions evaluated by different criteria. Computers and Biomedical Research, 18(1):46–61, 1985.</a:t>
            </a:r>
          </a:p>
          <a:p>
            <a:pPr marL="0" indent="0">
              <a:buNone/>
            </a:pPr>
            <a:br>
              <a:rPr lang="en-US" sz="1050" dirty="0">
                <a:latin typeface="+mn-lt"/>
              </a:rPr>
            </a:br>
            <a:r>
              <a:rPr lang="en-US" sz="1050" dirty="0">
                <a:effectLst/>
                <a:latin typeface="+mn-lt"/>
              </a:rPr>
              <a:t>[12] H. </a:t>
            </a:r>
            <a:r>
              <a:rPr lang="en-US" sz="1050" dirty="0" err="1">
                <a:effectLst/>
                <a:latin typeface="+mn-lt"/>
              </a:rPr>
              <a:t>Platzer</a:t>
            </a:r>
            <a:r>
              <a:rPr lang="en-US" sz="1050" dirty="0">
                <a:effectLst/>
                <a:latin typeface="+mn-lt"/>
              </a:rPr>
              <a:t>, Michael Barth, Anton Giger, Peter </a:t>
            </a:r>
            <a:r>
              <a:rPr lang="en-US" sz="1050" dirty="0" err="1">
                <a:effectLst/>
                <a:latin typeface="+mn-lt"/>
              </a:rPr>
              <a:t>Schrocksnadel</a:t>
            </a:r>
            <a:r>
              <a:rPr lang="en-US" sz="1050" dirty="0">
                <a:effectLst/>
                <a:latin typeface="+mn-lt"/>
              </a:rPr>
              <a:t>, and Werner </a:t>
            </a:r>
            <a:r>
              <a:rPr lang="en-US" sz="1050" dirty="0" err="1">
                <a:effectLst/>
                <a:latin typeface="+mn-lt"/>
              </a:rPr>
              <a:t>Nachbauer</a:t>
            </a:r>
            <a:r>
              <a:rPr lang="en-US" sz="1050" dirty="0">
                <a:effectLst/>
                <a:latin typeface="+mn-lt"/>
              </a:rPr>
              <a:t>. Did injury incidence in alpine ski racing change after equipment regulations? an evaluation based on the injury surveillance system of the </a:t>
            </a:r>
            <a:r>
              <a:rPr lang="en-US" sz="1050" dirty="0" err="1">
                <a:effectLst/>
                <a:latin typeface="+mn-lt"/>
              </a:rPr>
              <a:t>austrian</a:t>
            </a:r>
            <a:r>
              <a:rPr lang="en-US" sz="1050" dirty="0">
                <a:effectLst/>
                <a:latin typeface="+mn-lt"/>
              </a:rPr>
              <a:t> ski federation. Journal of Science and Medicine in Sport, 24, 07 2020.</a:t>
            </a:r>
          </a:p>
          <a:p>
            <a:pPr marL="0" indent="0">
              <a:buNone/>
            </a:pPr>
            <a:br>
              <a:rPr lang="en-US" sz="1050" dirty="0">
                <a:latin typeface="+mn-lt"/>
              </a:rPr>
            </a:br>
            <a:r>
              <a:rPr lang="en-US" sz="1050" dirty="0">
                <a:effectLst/>
                <a:latin typeface="+mn-lt"/>
              </a:rPr>
              <a:t>[13] B. W. Silverman. Using kernel density estimates to investigate multi- modality. Journal of the Royal Statistical Society: Series B (Methodological), 43(1):97–99, 1981.</a:t>
            </a:r>
          </a:p>
          <a:p>
            <a:pPr marL="0" indent="0">
              <a:buNone/>
            </a:pPr>
            <a:br>
              <a:rPr lang="en-US" sz="1050" dirty="0">
                <a:latin typeface="+mn-lt"/>
              </a:rPr>
            </a:br>
            <a:r>
              <a:rPr lang="en-US" sz="1050" dirty="0">
                <a:effectLst/>
                <a:latin typeface="+mn-lt"/>
              </a:rPr>
              <a:t>[14] Richard Simard and Pierre </a:t>
            </a:r>
            <a:r>
              <a:rPr lang="en-US" sz="1050" dirty="0" err="1">
                <a:effectLst/>
                <a:latin typeface="+mn-lt"/>
              </a:rPr>
              <a:t>L’Ecuyer</a:t>
            </a:r>
            <a:r>
              <a:rPr lang="en-US" sz="1050" dirty="0">
                <a:effectLst/>
                <a:latin typeface="+mn-lt"/>
              </a:rPr>
              <a:t>. Computing the two-sided </a:t>
            </a:r>
            <a:r>
              <a:rPr lang="en-US" sz="1050" dirty="0" err="1">
                <a:effectLst/>
                <a:latin typeface="+mn-lt"/>
              </a:rPr>
              <a:t>kolmogorov-smirnov</a:t>
            </a:r>
            <a:r>
              <a:rPr lang="en-US" sz="1050" dirty="0">
                <a:effectLst/>
                <a:latin typeface="+mn-lt"/>
              </a:rPr>
              <a:t> distribution. Journal of Statistical Software, 39(11):1–18, 2011.</a:t>
            </a:r>
          </a:p>
          <a:p>
            <a:pPr marL="0" indent="0">
              <a:buNone/>
            </a:pPr>
            <a:br>
              <a:rPr lang="en-US" sz="1050" dirty="0">
                <a:latin typeface="+mn-lt"/>
              </a:rPr>
            </a:br>
            <a:r>
              <a:rPr lang="en-US" sz="1050" dirty="0">
                <a:effectLst/>
                <a:latin typeface="+mn-lt"/>
              </a:rPr>
              <a:t>[15] Sebastian </a:t>
            </a:r>
            <a:r>
              <a:rPr lang="en-US" sz="1050" dirty="0" err="1">
                <a:effectLst/>
                <a:latin typeface="+mn-lt"/>
              </a:rPr>
              <a:t>Sitarz</a:t>
            </a:r>
            <a:r>
              <a:rPr lang="en-US" sz="1050" dirty="0">
                <a:effectLst/>
                <a:latin typeface="+mn-lt"/>
              </a:rPr>
              <a:t>. The medal points’ incenter for rankings in sport. Applied Mathematics Letters, 26(4):408–412, 2013.</a:t>
            </a:r>
          </a:p>
          <a:p>
            <a:pPr marL="0" indent="0">
              <a:buNone/>
            </a:pPr>
            <a:br>
              <a:rPr lang="en-US" sz="1050" dirty="0">
                <a:latin typeface="+mn-lt"/>
              </a:rPr>
            </a:br>
            <a:r>
              <a:rPr lang="en-US" sz="1050" dirty="0">
                <a:effectLst/>
                <a:latin typeface="+mn-lt"/>
              </a:rPr>
              <a:t>[16] Mikael </a:t>
            </a:r>
            <a:r>
              <a:rPr lang="en-US" sz="1050" dirty="0" err="1">
                <a:effectLst/>
                <a:latin typeface="+mn-lt"/>
              </a:rPr>
              <a:t>Swar</a:t>
            </a:r>
            <a:r>
              <a:rPr lang="en-US" sz="1050" dirty="0">
                <a:effectLst/>
                <a:latin typeface="+mn-lt"/>
              </a:rPr>
              <a:t> ́</a:t>
            </a:r>
            <a:r>
              <a:rPr lang="en-US" sz="1050" dirty="0" err="1">
                <a:effectLst/>
                <a:latin typeface="+mn-lt"/>
              </a:rPr>
              <a:t>en</a:t>
            </a:r>
            <a:r>
              <a:rPr lang="en-US" sz="1050" dirty="0">
                <a:effectLst/>
                <a:latin typeface="+mn-lt"/>
              </a:rPr>
              <a:t>, Caitlin Gallagher, and Glenn </a:t>
            </a:r>
            <a:r>
              <a:rPr lang="en-US" sz="1050" dirty="0" err="1">
                <a:effectLst/>
                <a:latin typeface="+mn-lt"/>
              </a:rPr>
              <a:t>Bj</a:t>
            </a:r>
            <a:r>
              <a:rPr lang="en-US" sz="1050" dirty="0">
                <a:effectLst/>
                <a:latin typeface="+mn-lt"/>
              </a:rPr>
              <a:t> ̈</a:t>
            </a:r>
            <a:r>
              <a:rPr lang="en-US" sz="1050" dirty="0" err="1">
                <a:effectLst/>
                <a:latin typeface="+mn-lt"/>
              </a:rPr>
              <a:t>orklund</a:t>
            </a:r>
            <a:r>
              <a:rPr lang="en-US" sz="1050" dirty="0">
                <a:effectLst/>
                <a:latin typeface="+mn-lt"/>
              </a:rPr>
              <a:t>. Impact on ski regulation changes on race and gate-to-gate times in world cup giant slalom skiing 2005-2020. 7:668–673, 07 2021.</a:t>
            </a:r>
            <a:endParaRPr lang="en-US" sz="1050" dirty="0">
              <a:latin typeface="+mn-lt"/>
            </a:endParaRPr>
          </a:p>
        </p:txBody>
      </p:sp>
    </p:spTree>
    <p:extLst>
      <p:ext uri="{BB962C8B-B14F-4D97-AF65-F5344CB8AC3E}">
        <p14:creationId xmlns:p14="http://schemas.microsoft.com/office/powerpoint/2010/main" val="1515340085"/>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Evan_Jones_USOPC_Midterm_Report</Template>
  <TotalTime>2687</TotalTime>
  <Words>2364</Words>
  <Application>Microsoft Office PowerPoint</Application>
  <PresentationFormat>Widescreen</PresentationFormat>
  <Paragraphs>189</Paragraphs>
  <Slides>29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29</vt:i4>
      </vt:variant>
    </vt:vector>
  </HeadingPairs>
  <TitlesOfParts>
    <vt:vector size="35" baseType="lpstr">
      <vt:lpstr>Arial</vt:lpstr>
      <vt:lpstr>Calibri</vt:lpstr>
      <vt:lpstr>NimbusRomNo9L-Regu</vt:lpstr>
      <vt:lpstr>Roboto</vt:lpstr>
      <vt:lpstr>Custom Design</vt:lpstr>
      <vt:lpstr>1_Custom Design</vt:lpstr>
      <vt:lpstr>United States Olympic &amp; Paralympic Committee Practicum Final Presentation</vt:lpstr>
      <vt:lpstr>Project Motivation</vt:lpstr>
      <vt:lpstr>Project Purpose</vt:lpstr>
      <vt:lpstr>Project Focus</vt:lpstr>
      <vt:lpstr>Alpine Skiing Background</vt:lpstr>
      <vt:lpstr>Central Questions</vt:lpstr>
      <vt:lpstr>Project Overview</vt:lpstr>
      <vt:lpstr>Modeling Overview</vt:lpstr>
      <vt:lpstr>Individual Perspective Age Modeling</vt:lpstr>
      <vt:lpstr>Individual Perspective Age Modeling</vt:lpstr>
      <vt:lpstr>Individual Peak Rank Modeling</vt:lpstr>
      <vt:lpstr>Individual Peak World Rank Modeling</vt:lpstr>
      <vt:lpstr>Event Perspective Modeling</vt:lpstr>
      <vt:lpstr>Event Level Modeling</vt:lpstr>
      <vt:lpstr>Event Level Modeling</vt:lpstr>
      <vt:lpstr>Medal Score Prediction Overview</vt:lpstr>
      <vt:lpstr>Medal Score Prediction: Linear Regression</vt:lpstr>
      <vt:lpstr>Medal Score Prediction: Ridge Regression</vt:lpstr>
      <vt:lpstr>Medal Score Prediction: Lasso Regression</vt:lpstr>
      <vt:lpstr>Medal Score Prediction : Regression Trees</vt:lpstr>
      <vt:lpstr>Medal Score Prediction : Neural Networks</vt:lpstr>
      <vt:lpstr>Medal Score Prediction : Neural Networks</vt:lpstr>
      <vt:lpstr>Medal Score Prediction : Results</vt:lpstr>
      <vt:lpstr>Modeling Conclusions</vt:lpstr>
      <vt:lpstr>Key Takeaways</vt:lpstr>
      <vt:lpstr>Beyond Modeling</vt:lpstr>
      <vt:lpstr>Data Scraper</vt:lpstr>
      <vt:lpstr>Alps: Web Application</vt:lpstr>
      <vt:lpstr>Acknowledgements &amp; References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 Here</dc:title>
  <dc:creator>Jones, Evan A</dc:creator>
  <cp:lastModifiedBy>Jones, Evan A</cp:lastModifiedBy>
  <cp:revision>25</cp:revision>
  <dcterms:created xsi:type="dcterms:W3CDTF">2022-02-17T22:41:00Z</dcterms:created>
  <dcterms:modified xsi:type="dcterms:W3CDTF">2022-04-27T20:24:31Z</dcterms:modified>
</cp:coreProperties>
</file>